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Economica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bold.fntdata"/><Relationship Id="rId22" Type="http://schemas.openxmlformats.org/officeDocument/2006/relationships/font" Target="fonts/Economica-boldItalic.fntdata"/><Relationship Id="rId21" Type="http://schemas.openxmlformats.org/officeDocument/2006/relationships/font" Target="fonts/Economica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Open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Economica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dc6316f5a0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dc6316f5a0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d6524ec933_4_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g3d6524ec933_4_18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d6524ec933_4_18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dcc031ca31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dcc031ca31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dcc031ca31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dcc031ca31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d6524ec933_0_1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d6524ec933_0_1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d6524ec933_4_7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2" name="Google Shape;552;g3d6524ec933_4_78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3d6524ec933_4_78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d6524ec933_4_1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7" name="Google Shape;587;g3d6524ec933_4_11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g3d6524ec933_4_11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d6524ec933_4_1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9" name="Google Shape;619;g3d6524ec933_4_143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g3d6524ec933_4_143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d6524ec933_4_19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0" name="Google Shape;670;g3d6524ec933_4_193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g3d6524ec933_4_193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d6524ec933_4_2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4" name="Google Shape;704;g3d6524ec933_4_227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g3d6524ec933_4_227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d6574f0259_0_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7" name="Google Shape;747;g3d6574f0259_0_45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d6574f0259_0_45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d6524ec933_4_29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3" name="Google Shape;753;g3d6524ec933_4_297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g3d6524ec933_4_297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d6524ec933_4_34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4" name="Google Shape;784;g3d6524ec933_4_346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g3d6524ec933_4_346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sur deux colonnes 1">
  <p:cSld name="TITLE_AND_TWO_COLUMNS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5059982" y="2360375"/>
            <a:ext cx="25635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1518675" y="3010950"/>
            <a:ext cx="25635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2" type="subTitle"/>
          </p:nvPr>
        </p:nvSpPr>
        <p:spPr>
          <a:xfrm>
            <a:off x="5059976" y="3010950"/>
            <a:ext cx="25635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3" type="title"/>
          </p:nvPr>
        </p:nvSpPr>
        <p:spPr>
          <a:xfrm>
            <a:off x="1518675" y="2360375"/>
            <a:ext cx="25635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2" type="title"/>
          </p:nvPr>
        </p:nvSpPr>
        <p:spPr>
          <a:xfrm>
            <a:off x="778688" y="1932875"/>
            <a:ext cx="21642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778688" y="3449225"/>
            <a:ext cx="21642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title"/>
          </p:nvPr>
        </p:nvSpPr>
        <p:spPr>
          <a:xfrm>
            <a:off x="3468525" y="1932875"/>
            <a:ext cx="21642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9" name="Google Shape;69;p15"/>
          <p:cNvSpPr txBox="1"/>
          <p:nvPr>
            <p:ph idx="4" type="subTitle"/>
          </p:nvPr>
        </p:nvSpPr>
        <p:spPr>
          <a:xfrm>
            <a:off x="3468525" y="3449225"/>
            <a:ext cx="21642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5" type="title"/>
          </p:nvPr>
        </p:nvSpPr>
        <p:spPr>
          <a:xfrm>
            <a:off x="6160753" y="1932875"/>
            <a:ext cx="21642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1" name="Google Shape;71;p15"/>
          <p:cNvSpPr txBox="1"/>
          <p:nvPr>
            <p:ph idx="6" type="subTitle"/>
          </p:nvPr>
        </p:nvSpPr>
        <p:spPr>
          <a:xfrm>
            <a:off x="6160753" y="3449225"/>
            <a:ext cx="21642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2_3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title"/>
          </p:nvPr>
        </p:nvSpPr>
        <p:spPr>
          <a:xfrm>
            <a:off x="1378650" y="2136200"/>
            <a:ext cx="22767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1378650" y="1593500"/>
            <a:ext cx="2276700" cy="7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3" type="title"/>
          </p:nvPr>
        </p:nvSpPr>
        <p:spPr>
          <a:xfrm>
            <a:off x="1378650" y="3917375"/>
            <a:ext cx="22767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1378650" y="3374675"/>
            <a:ext cx="2276700" cy="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5" type="title"/>
          </p:nvPr>
        </p:nvSpPr>
        <p:spPr>
          <a:xfrm>
            <a:off x="5488650" y="2136200"/>
            <a:ext cx="22767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5488650" y="1593500"/>
            <a:ext cx="2276700" cy="7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7" type="title"/>
          </p:nvPr>
        </p:nvSpPr>
        <p:spPr>
          <a:xfrm>
            <a:off x="5488650" y="3917375"/>
            <a:ext cx="22767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1" name="Google Shape;81;p16"/>
          <p:cNvSpPr txBox="1"/>
          <p:nvPr>
            <p:ph idx="8" type="subTitle"/>
          </p:nvPr>
        </p:nvSpPr>
        <p:spPr>
          <a:xfrm>
            <a:off x="5488650" y="3374675"/>
            <a:ext cx="2276700" cy="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rps 1">
  <p:cSld name="TITLE_AND_BODY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7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84" name="Google Shape;84;p17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5" name="Google Shape;85;p17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86" name="Google Shape;86;p17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7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7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9" name="Google Shape;89;p17"/>
          <p:cNvSpPr txBox="1"/>
          <p:nvPr>
            <p:ph idx="1" type="subTitle"/>
          </p:nvPr>
        </p:nvSpPr>
        <p:spPr>
          <a:xfrm>
            <a:off x="714300" y="1206800"/>
            <a:ext cx="7715400" cy="3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AutoNum type="arabicPeriod"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/>
        </p:txBody>
      </p:sp>
      <p:sp>
        <p:nvSpPr>
          <p:cNvPr id="90" name="Google Shape;90;p17"/>
          <p:cNvSpPr txBox="1"/>
          <p:nvPr>
            <p:ph type="title"/>
          </p:nvPr>
        </p:nvSpPr>
        <p:spPr>
          <a:xfrm>
            <a:off x="714300" y="540850"/>
            <a:ext cx="77154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grpSp>
        <p:nvGrpSpPr>
          <p:cNvPr id="91" name="Google Shape;91;p17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92" name="Google Shape;92;p17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93" name="Google Shape;93;p17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4" name="Google Shape;94;p17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95" name="Google Shape;95;p17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" name="Google Shape;96;p17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" name="Google Shape;97;p17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98" name="Google Shape;98;p17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2" type="title"/>
          </p:nvPr>
        </p:nvSpPr>
        <p:spPr>
          <a:xfrm>
            <a:off x="1662000" y="1536850"/>
            <a:ext cx="26670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2" name="Google Shape;102;p18"/>
          <p:cNvSpPr txBox="1"/>
          <p:nvPr>
            <p:ph hasCustomPrompt="1" idx="3" type="title"/>
          </p:nvPr>
        </p:nvSpPr>
        <p:spPr>
          <a:xfrm>
            <a:off x="766875" y="1586925"/>
            <a:ext cx="9048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03" name="Google Shape;103;p18"/>
          <p:cNvSpPr txBox="1"/>
          <p:nvPr>
            <p:ph idx="1" type="subTitle"/>
          </p:nvPr>
        </p:nvSpPr>
        <p:spPr>
          <a:xfrm>
            <a:off x="1662000" y="1933575"/>
            <a:ext cx="2276700" cy="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8"/>
          <p:cNvSpPr txBox="1"/>
          <p:nvPr>
            <p:ph idx="4" type="title"/>
          </p:nvPr>
        </p:nvSpPr>
        <p:spPr>
          <a:xfrm>
            <a:off x="1662000" y="3098950"/>
            <a:ext cx="26670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5" name="Google Shape;105;p18"/>
          <p:cNvSpPr txBox="1"/>
          <p:nvPr>
            <p:ph hasCustomPrompt="1" idx="5" type="title"/>
          </p:nvPr>
        </p:nvSpPr>
        <p:spPr>
          <a:xfrm>
            <a:off x="766725" y="3149025"/>
            <a:ext cx="9048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06" name="Google Shape;106;p18"/>
          <p:cNvSpPr txBox="1"/>
          <p:nvPr>
            <p:ph idx="6" type="subTitle"/>
          </p:nvPr>
        </p:nvSpPr>
        <p:spPr>
          <a:xfrm>
            <a:off x="1662000" y="3495675"/>
            <a:ext cx="2276700" cy="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7" type="title"/>
          </p:nvPr>
        </p:nvSpPr>
        <p:spPr>
          <a:xfrm>
            <a:off x="5652975" y="1536850"/>
            <a:ext cx="27243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8" name="Google Shape;108;p18"/>
          <p:cNvSpPr txBox="1"/>
          <p:nvPr>
            <p:ph hasCustomPrompt="1" idx="8" type="title"/>
          </p:nvPr>
        </p:nvSpPr>
        <p:spPr>
          <a:xfrm>
            <a:off x="4757625" y="1586925"/>
            <a:ext cx="9048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09" name="Google Shape;109;p18"/>
          <p:cNvSpPr txBox="1"/>
          <p:nvPr>
            <p:ph idx="9" type="subTitle"/>
          </p:nvPr>
        </p:nvSpPr>
        <p:spPr>
          <a:xfrm>
            <a:off x="5652975" y="1933575"/>
            <a:ext cx="2276700" cy="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3" type="title"/>
          </p:nvPr>
        </p:nvSpPr>
        <p:spPr>
          <a:xfrm>
            <a:off x="5652975" y="3098950"/>
            <a:ext cx="27243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1" name="Google Shape;111;p18"/>
          <p:cNvSpPr txBox="1"/>
          <p:nvPr>
            <p:ph hasCustomPrompt="1" idx="14" type="title"/>
          </p:nvPr>
        </p:nvSpPr>
        <p:spPr>
          <a:xfrm>
            <a:off x="4757700" y="3149025"/>
            <a:ext cx="9048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12" name="Google Shape;112;p18"/>
          <p:cNvSpPr txBox="1"/>
          <p:nvPr>
            <p:ph idx="15" type="subTitle"/>
          </p:nvPr>
        </p:nvSpPr>
        <p:spPr>
          <a:xfrm>
            <a:off x="5652975" y="3495675"/>
            <a:ext cx="2276700" cy="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 et description 1">
  <p:cSld name="SECTION_TITLE_AND_DESCRIPTION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4189800" y="1398513"/>
            <a:ext cx="4239900" cy="8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5" name="Google Shape;115;p19"/>
          <p:cNvSpPr txBox="1"/>
          <p:nvPr>
            <p:ph idx="1" type="subTitle"/>
          </p:nvPr>
        </p:nvSpPr>
        <p:spPr>
          <a:xfrm>
            <a:off x="5016225" y="2368275"/>
            <a:ext cx="3422400" cy="14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6" name="Google Shape;116;p19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17" name="Google Shape;117;p19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" name="Google Shape;118;p19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19" name="Google Shape;119;p19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19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9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2" name="Google Shape;122;p19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123" name="Google Shape;123;p19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124" name="Google Shape;124;p19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5" name="Google Shape;125;p19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126" name="Google Shape;126;p19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" name="Google Shape;127;p19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" name="Google Shape;128;p19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129" name="Google Shape;129;p19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-tête de section 1">
  <p:cSld name="SECTION_HEADER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14300" y="2354175"/>
            <a:ext cx="3048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2" name="Google Shape;132;p20"/>
          <p:cNvSpPr txBox="1"/>
          <p:nvPr>
            <p:ph idx="1" type="subTitle"/>
          </p:nvPr>
        </p:nvSpPr>
        <p:spPr>
          <a:xfrm>
            <a:off x="714300" y="3453150"/>
            <a:ext cx="25218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hasCustomPrompt="1" idx="2" type="title"/>
          </p:nvPr>
        </p:nvSpPr>
        <p:spPr>
          <a:xfrm>
            <a:off x="714300" y="1010100"/>
            <a:ext cx="3048000" cy="139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0"/>
              <a:buNone/>
              <a:defRPr sz="7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égende 1">
  <p:cSld name="CAPTION_ONLY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4139225" y="3145613"/>
            <a:ext cx="4290900" cy="11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dans une colonne 1">
  <p:cSld name="ONE_COLUMN_TEXT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idx="1" type="subTitle"/>
          </p:nvPr>
        </p:nvSpPr>
        <p:spPr>
          <a:xfrm>
            <a:off x="714300" y="1806875"/>
            <a:ext cx="3789000" cy="26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38" name="Google Shape;138;p22"/>
          <p:cNvSpPr txBox="1"/>
          <p:nvPr>
            <p:ph type="title"/>
          </p:nvPr>
        </p:nvSpPr>
        <p:spPr>
          <a:xfrm>
            <a:off x="714300" y="1068850"/>
            <a:ext cx="30021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_3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41" name="Google Shape;141;p23"/>
          <p:cNvSpPr txBox="1"/>
          <p:nvPr>
            <p:ph idx="2" type="title"/>
          </p:nvPr>
        </p:nvSpPr>
        <p:spPr>
          <a:xfrm>
            <a:off x="714300" y="3060850"/>
            <a:ext cx="22767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2" name="Google Shape;142;p23"/>
          <p:cNvSpPr txBox="1"/>
          <p:nvPr>
            <p:ph idx="1" type="subTitle"/>
          </p:nvPr>
        </p:nvSpPr>
        <p:spPr>
          <a:xfrm>
            <a:off x="714300" y="3457575"/>
            <a:ext cx="22767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3" type="title"/>
          </p:nvPr>
        </p:nvSpPr>
        <p:spPr>
          <a:xfrm>
            <a:off x="3433650" y="3060850"/>
            <a:ext cx="22767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4" name="Google Shape;144;p23"/>
          <p:cNvSpPr txBox="1"/>
          <p:nvPr>
            <p:ph idx="4" type="subTitle"/>
          </p:nvPr>
        </p:nvSpPr>
        <p:spPr>
          <a:xfrm>
            <a:off x="3433650" y="3457575"/>
            <a:ext cx="22767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5" type="title"/>
          </p:nvPr>
        </p:nvSpPr>
        <p:spPr>
          <a:xfrm>
            <a:off x="6153000" y="3060850"/>
            <a:ext cx="22767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6" name="Google Shape;146;p23"/>
          <p:cNvSpPr txBox="1"/>
          <p:nvPr>
            <p:ph idx="6" type="subTitle"/>
          </p:nvPr>
        </p:nvSpPr>
        <p:spPr>
          <a:xfrm>
            <a:off x="6153000" y="3457575"/>
            <a:ext cx="22767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23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48" name="Google Shape;148;p23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9" name="Google Shape;149;p23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50" name="Google Shape;150;p23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23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23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2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hasCustomPrompt="1" idx="2" type="title"/>
          </p:nvPr>
        </p:nvSpPr>
        <p:spPr>
          <a:xfrm>
            <a:off x="4457700" y="1326125"/>
            <a:ext cx="32292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56" name="Google Shape;156;p24"/>
          <p:cNvSpPr txBox="1"/>
          <p:nvPr>
            <p:ph idx="1" type="subTitle"/>
          </p:nvPr>
        </p:nvSpPr>
        <p:spPr>
          <a:xfrm>
            <a:off x="4457700" y="1787075"/>
            <a:ext cx="3229200" cy="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4"/>
          <p:cNvSpPr txBox="1"/>
          <p:nvPr>
            <p:ph hasCustomPrompt="1" idx="3" type="title"/>
          </p:nvPr>
        </p:nvSpPr>
        <p:spPr>
          <a:xfrm>
            <a:off x="4457700" y="2463350"/>
            <a:ext cx="32292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58" name="Google Shape;158;p24"/>
          <p:cNvSpPr txBox="1"/>
          <p:nvPr>
            <p:ph idx="4" type="subTitle"/>
          </p:nvPr>
        </p:nvSpPr>
        <p:spPr>
          <a:xfrm>
            <a:off x="4457700" y="2924300"/>
            <a:ext cx="3229200" cy="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4"/>
          <p:cNvSpPr txBox="1"/>
          <p:nvPr>
            <p:ph hasCustomPrompt="1" idx="5" type="title"/>
          </p:nvPr>
        </p:nvSpPr>
        <p:spPr>
          <a:xfrm>
            <a:off x="4457700" y="3600575"/>
            <a:ext cx="32292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60" name="Google Shape;160;p24"/>
          <p:cNvSpPr txBox="1"/>
          <p:nvPr>
            <p:ph idx="6" type="subTitle"/>
          </p:nvPr>
        </p:nvSpPr>
        <p:spPr>
          <a:xfrm>
            <a:off x="4457700" y="4061525"/>
            <a:ext cx="3229200" cy="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_2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63" name="Google Shape;163;p25"/>
          <p:cNvSpPr txBox="1"/>
          <p:nvPr>
            <p:ph idx="2" type="title"/>
          </p:nvPr>
        </p:nvSpPr>
        <p:spPr>
          <a:xfrm>
            <a:off x="1764375" y="1536850"/>
            <a:ext cx="22767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25"/>
          <p:cNvSpPr txBox="1"/>
          <p:nvPr>
            <p:ph idx="1" type="subTitle"/>
          </p:nvPr>
        </p:nvSpPr>
        <p:spPr>
          <a:xfrm>
            <a:off x="1764375" y="1933575"/>
            <a:ext cx="2276700" cy="7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5"/>
          <p:cNvSpPr txBox="1"/>
          <p:nvPr>
            <p:ph idx="3" type="title"/>
          </p:nvPr>
        </p:nvSpPr>
        <p:spPr>
          <a:xfrm>
            <a:off x="1764375" y="3098950"/>
            <a:ext cx="22767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6" name="Google Shape;166;p25"/>
          <p:cNvSpPr txBox="1"/>
          <p:nvPr>
            <p:ph idx="4" type="subTitle"/>
          </p:nvPr>
        </p:nvSpPr>
        <p:spPr>
          <a:xfrm>
            <a:off x="1764375" y="3495675"/>
            <a:ext cx="2276700" cy="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5"/>
          <p:cNvSpPr txBox="1"/>
          <p:nvPr>
            <p:ph idx="5" type="title"/>
          </p:nvPr>
        </p:nvSpPr>
        <p:spPr>
          <a:xfrm>
            <a:off x="5874375" y="1536850"/>
            <a:ext cx="22767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8" name="Google Shape;168;p25"/>
          <p:cNvSpPr txBox="1"/>
          <p:nvPr>
            <p:ph idx="6" type="subTitle"/>
          </p:nvPr>
        </p:nvSpPr>
        <p:spPr>
          <a:xfrm>
            <a:off x="5874375" y="1933575"/>
            <a:ext cx="2276700" cy="7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5"/>
          <p:cNvSpPr txBox="1"/>
          <p:nvPr>
            <p:ph idx="7" type="title"/>
          </p:nvPr>
        </p:nvSpPr>
        <p:spPr>
          <a:xfrm>
            <a:off x="5874375" y="3098950"/>
            <a:ext cx="22767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0" name="Google Shape;170;p25"/>
          <p:cNvSpPr txBox="1"/>
          <p:nvPr>
            <p:ph idx="8" type="subTitle"/>
          </p:nvPr>
        </p:nvSpPr>
        <p:spPr>
          <a:xfrm>
            <a:off x="5874375" y="3495675"/>
            <a:ext cx="2276700" cy="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1" name="Google Shape;171;p25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72" name="Google Shape;172;p25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3" name="Google Shape;173;p25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74" name="Google Shape;174;p25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25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25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3047300" y="3284538"/>
            <a:ext cx="28077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6"/>
          <p:cNvSpPr txBox="1"/>
          <p:nvPr>
            <p:ph idx="1" type="subTitle"/>
          </p:nvPr>
        </p:nvSpPr>
        <p:spPr>
          <a:xfrm>
            <a:off x="2436350" y="1804848"/>
            <a:ext cx="4029600" cy="14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9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3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27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82" name="Google Shape;182;p27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3" name="Google Shape;183;p27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84" name="Google Shape;184;p27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27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27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7" name="Google Shape;187;p27"/>
          <p:cNvSpPr txBox="1"/>
          <p:nvPr>
            <p:ph type="title"/>
          </p:nvPr>
        </p:nvSpPr>
        <p:spPr>
          <a:xfrm>
            <a:off x="4896300" y="1504950"/>
            <a:ext cx="3533400" cy="74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8" name="Google Shape;188;p27"/>
          <p:cNvSpPr txBox="1"/>
          <p:nvPr>
            <p:ph idx="1" type="subTitle"/>
          </p:nvPr>
        </p:nvSpPr>
        <p:spPr>
          <a:xfrm>
            <a:off x="4905375" y="2368275"/>
            <a:ext cx="3533400" cy="11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_1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28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91" name="Google Shape;191;p28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2" name="Google Shape;192;p28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93" name="Google Shape;193;p28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28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28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6" name="Google Shape;196;p28"/>
          <p:cNvSpPr txBox="1"/>
          <p:nvPr>
            <p:ph type="title"/>
          </p:nvPr>
        </p:nvSpPr>
        <p:spPr>
          <a:xfrm>
            <a:off x="714300" y="1398525"/>
            <a:ext cx="3422400" cy="8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7" name="Google Shape;197;p28"/>
          <p:cNvSpPr txBox="1"/>
          <p:nvPr>
            <p:ph idx="1" type="subTitle"/>
          </p:nvPr>
        </p:nvSpPr>
        <p:spPr>
          <a:xfrm>
            <a:off x="723225" y="2368275"/>
            <a:ext cx="3077400" cy="11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_2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00" name="Google Shape;200;p29"/>
          <p:cNvSpPr txBox="1"/>
          <p:nvPr>
            <p:ph idx="2" type="title"/>
          </p:nvPr>
        </p:nvSpPr>
        <p:spPr>
          <a:xfrm>
            <a:off x="714300" y="1955950"/>
            <a:ext cx="22767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9"/>
          <p:cNvSpPr txBox="1"/>
          <p:nvPr>
            <p:ph idx="1" type="subTitle"/>
          </p:nvPr>
        </p:nvSpPr>
        <p:spPr>
          <a:xfrm>
            <a:off x="714300" y="2314575"/>
            <a:ext cx="2276700" cy="6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9"/>
          <p:cNvSpPr txBox="1"/>
          <p:nvPr>
            <p:ph idx="3" type="title"/>
          </p:nvPr>
        </p:nvSpPr>
        <p:spPr>
          <a:xfrm>
            <a:off x="3433638" y="1955950"/>
            <a:ext cx="22767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3" name="Google Shape;203;p29"/>
          <p:cNvSpPr txBox="1"/>
          <p:nvPr>
            <p:ph idx="4" type="subTitle"/>
          </p:nvPr>
        </p:nvSpPr>
        <p:spPr>
          <a:xfrm>
            <a:off x="3433642" y="2314575"/>
            <a:ext cx="2276700" cy="6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9"/>
          <p:cNvSpPr txBox="1"/>
          <p:nvPr>
            <p:ph idx="5" type="title"/>
          </p:nvPr>
        </p:nvSpPr>
        <p:spPr>
          <a:xfrm>
            <a:off x="6152988" y="1955950"/>
            <a:ext cx="22767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5" name="Google Shape;205;p29"/>
          <p:cNvSpPr txBox="1"/>
          <p:nvPr>
            <p:ph idx="6" type="subTitle"/>
          </p:nvPr>
        </p:nvSpPr>
        <p:spPr>
          <a:xfrm>
            <a:off x="6152996" y="2314575"/>
            <a:ext cx="2276700" cy="6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9"/>
          <p:cNvSpPr txBox="1"/>
          <p:nvPr>
            <p:ph idx="7" type="title"/>
          </p:nvPr>
        </p:nvSpPr>
        <p:spPr>
          <a:xfrm>
            <a:off x="714300" y="3759975"/>
            <a:ext cx="22767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7" name="Google Shape;207;p29"/>
          <p:cNvSpPr txBox="1"/>
          <p:nvPr>
            <p:ph idx="8" type="subTitle"/>
          </p:nvPr>
        </p:nvSpPr>
        <p:spPr>
          <a:xfrm>
            <a:off x="714300" y="4118600"/>
            <a:ext cx="2276700" cy="6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9"/>
          <p:cNvSpPr txBox="1"/>
          <p:nvPr>
            <p:ph idx="9" type="title"/>
          </p:nvPr>
        </p:nvSpPr>
        <p:spPr>
          <a:xfrm>
            <a:off x="3433638" y="3759975"/>
            <a:ext cx="22767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9" name="Google Shape;209;p29"/>
          <p:cNvSpPr txBox="1"/>
          <p:nvPr>
            <p:ph idx="13" type="subTitle"/>
          </p:nvPr>
        </p:nvSpPr>
        <p:spPr>
          <a:xfrm>
            <a:off x="3433642" y="4118600"/>
            <a:ext cx="2276700" cy="6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9"/>
          <p:cNvSpPr txBox="1"/>
          <p:nvPr>
            <p:ph idx="14" type="title"/>
          </p:nvPr>
        </p:nvSpPr>
        <p:spPr>
          <a:xfrm>
            <a:off x="6152988" y="3759975"/>
            <a:ext cx="22767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1" name="Google Shape;211;p29"/>
          <p:cNvSpPr txBox="1"/>
          <p:nvPr>
            <p:ph idx="15" type="subTitle"/>
          </p:nvPr>
        </p:nvSpPr>
        <p:spPr>
          <a:xfrm>
            <a:off x="6152996" y="4118600"/>
            <a:ext cx="2276700" cy="6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12" name="Google Shape;212;p29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213" name="Google Shape;213;p29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4" name="Google Shape;214;p29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215" name="Google Shape;215;p29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29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29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8" name="Google Shape;218;p29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219" name="Google Shape;219;p29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220" name="Google Shape;220;p29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21" name="Google Shape;221;p29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222" name="Google Shape;222;p29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3" name="Google Shape;223;p29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4" name="Google Shape;224;p29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225" name="Google Shape;225;p29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os chiffre 1">
  <p:cSld name="BIG_NUMBER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hasCustomPrompt="1" type="title"/>
          </p:nvPr>
        </p:nvSpPr>
        <p:spPr>
          <a:xfrm>
            <a:off x="1636500" y="2097350"/>
            <a:ext cx="6213900" cy="11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228" name="Google Shape;228;p30"/>
          <p:cNvSpPr txBox="1"/>
          <p:nvPr>
            <p:ph idx="1" type="subTitle"/>
          </p:nvPr>
        </p:nvSpPr>
        <p:spPr>
          <a:xfrm>
            <a:off x="2133600" y="3310675"/>
            <a:ext cx="5219700" cy="3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 1">
  <p:cSld name="CUSTOM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1" name="Google Shape;231;p31"/>
          <p:cNvSpPr txBox="1"/>
          <p:nvPr>
            <p:ph hasCustomPrompt="1" idx="2" type="title"/>
          </p:nvPr>
        </p:nvSpPr>
        <p:spPr>
          <a:xfrm>
            <a:off x="4462551" y="1945300"/>
            <a:ext cx="1653900" cy="5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32" name="Google Shape;232;p31"/>
          <p:cNvSpPr txBox="1"/>
          <p:nvPr>
            <p:ph hasCustomPrompt="1" idx="3" type="title"/>
          </p:nvPr>
        </p:nvSpPr>
        <p:spPr>
          <a:xfrm>
            <a:off x="3027550" y="1793256"/>
            <a:ext cx="1653900" cy="5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33" name="Google Shape;233;p31"/>
          <p:cNvSpPr txBox="1"/>
          <p:nvPr>
            <p:ph idx="1" type="subTitle"/>
          </p:nvPr>
        </p:nvSpPr>
        <p:spPr>
          <a:xfrm>
            <a:off x="6153000" y="3699450"/>
            <a:ext cx="2276700" cy="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31"/>
          <p:cNvSpPr txBox="1"/>
          <p:nvPr>
            <p:ph hasCustomPrompt="1" idx="4" type="title"/>
          </p:nvPr>
        </p:nvSpPr>
        <p:spPr>
          <a:xfrm>
            <a:off x="3361005" y="3383200"/>
            <a:ext cx="1653900" cy="5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35" name="Google Shape;235;p31"/>
          <p:cNvSpPr txBox="1"/>
          <p:nvPr>
            <p:ph idx="5" type="subTitle"/>
          </p:nvPr>
        </p:nvSpPr>
        <p:spPr>
          <a:xfrm>
            <a:off x="714300" y="2780363"/>
            <a:ext cx="2276700" cy="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31"/>
          <p:cNvSpPr txBox="1"/>
          <p:nvPr>
            <p:ph idx="6" type="title"/>
          </p:nvPr>
        </p:nvSpPr>
        <p:spPr>
          <a:xfrm>
            <a:off x="6153000" y="3292125"/>
            <a:ext cx="22767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7" name="Google Shape;237;p31"/>
          <p:cNvSpPr txBox="1"/>
          <p:nvPr>
            <p:ph idx="7" type="title"/>
          </p:nvPr>
        </p:nvSpPr>
        <p:spPr>
          <a:xfrm>
            <a:off x="714300" y="2373038"/>
            <a:ext cx="22767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8" name="Google Shape;238;p31"/>
          <p:cNvSpPr txBox="1"/>
          <p:nvPr>
            <p:ph idx="8" type="subTitle"/>
          </p:nvPr>
        </p:nvSpPr>
        <p:spPr>
          <a:xfrm>
            <a:off x="6153000" y="1988063"/>
            <a:ext cx="2276700" cy="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31"/>
          <p:cNvSpPr txBox="1"/>
          <p:nvPr>
            <p:ph idx="9" type="title"/>
          </p:nvPr>
        </p:nvSpPr>
        <p:spPr>
          <a:xfrm>
            <a:off x="6153000" y="1580738"/>
            <a:ext cx="22767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 1">
  <p:cSld name="CUSTOM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42" name="Google Shape;242;p32"/>
          <p:cNvSpPr txBox="1"/>
          <p:nvPr>
            <p:ph idx="2" type="title"/>
          </p:nvPr>
        </p:nvSpPr>
        <p:spPr>
          <a:xfrm>
            <a:off x="5716125" y="3559175"/>
            <a:ext cx="27264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3" name="Google Shape;243;p32"/>
          <p:cNvSpPr txBox="1"/>
          <p:nvPr>
            <p:ph idx="1" type="subTitle"/>
          </p:nvPr>
        </p:nvSpPr>
        <p:spPr>
          <a:xfrm>
            <a:off x="5716125" y="3955900"/>
            <a:ext cx="27264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2"/>
          <p:cNvSpPr txBox="1"/>
          <p:nvPr>
            <p:ph idx="3" type="title"/>
          </p:nvPr>
        </p:nvSpPr>
        <p:spPr>
          <a:xfrm>
            <a:off x="5716134" y="2238450"/>
            <a:ext cx="27264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5" name="Google Shape;245;p32"/>
          <p:cNvSpPr txBox="1"/>
          <p:nvPr>
            <p:ph idx="4" type="subTitle"/>
          </p:nvPr>
        </p:nvSpPr>
        <p:spPr>
          <a:xfrm>
            <a:off x="5716134" y="2635175"/>
            <a:ext cx="27264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32"/>
          <p:cNvSpPr txBox="1"/>
          <p:nvPr>
            <p:ph idx="5" type="title"/>
          </p:nvPr>
        </p:nvSpPr>
        <p:spPr>
          <a:xfrm>
            <a:off x="5716118" y="917725"/>
            <a:ext cx="27264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7" name="Google Shape;247;p32"/>
          <p:cNvSpPr txBox="1"/>
          <p:nvPr>
            <p:ph idx="6" type="subTitle"/>
          </p:nvPr>
        </p:nvSpPr>
        <p:spPr>
          <a:xfrm>
            <a:off x="5716118" y="1314450"/>
            <a:ext cx="27264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48" name="Google Shape;248;p32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249" name="Google Shape;249;p32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0" name="Google Shape;250;p32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251" name="Google Shape;251;p32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32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32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4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 txBox="1"/>
          <p:nvPr>
            <p:ph type="title"/>
          </p:nvPr>
        </p:nvSpPr>
        <p:spPr>
          <a:xfrm>
            <a:off x="5059982" y="1531700"/>
            <a:ext cx="25635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6" name="Google Shape;256;p33"/>
          <p:cNvSpPr txBox="1"/>
          <p:nvPr>
            <p:ph idx="1" type="subTitle"/>
          </p:nvPr>
        </p:nvSpPr>
        <p:spPr>
          <a:xfrm>
            <a:off x="1520525" y="3734850"/>
            <a:ext cx="25635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3"/>
          <p:cNvSpPr txBox="1"/>
          <p:nvPr>
            <p:ph idx="2" type="subTitle"/>
          </p:nvPr>
        </p:nvSpPr>
        <p:spPr>
          <a:xfrm>
            <a:off x="5059975" y="3734850"/>
            <a:ext cx="25635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3"/>
          <p:cNvSpPr txBox="1"/>
          <p:nvPr>
            <p:ph idx="3" type="title"/>
          </p:nvPr>
        </p:nvSpPr>
        <p:spPr>
          <a:xfrm>
            <a:off x="1520525" y="1531700"/>
            <a:ext cx="25635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9" name="Google Shape;259;p33"/>
          <p:cNvSpPr txBox="1"/>
          <p:nvPr>
            <p:ph idx="4"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grpSp>
        <p:nvGrpSpPr>
          <p:cNvPr id="260" name="Google Shape;260;p33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261" name="Google Shape;261;p33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2" name="Google Shape;262;p33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263" name="Google Shape;263;p33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33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33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66" name="Google Shape;266;p33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267" name="Google Shape;267;p33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268" name="Google Shape;268;p33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69" name="Google Shape;269;p33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270" name="Google Shape;270;p33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1" name="Google Shape;271;p33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2" name="Google Shape;272;p33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273" name="Google Shape;273;p33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3_1_1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/>
          <p:nvPr>
            <p:ph type="title"/>
          </p:nvPr>
        </p:nvSpPr>
        <p:spPr>
          <a:xfrm>
            <a:off x="714300" y="2054525"/>
            <a:ext cx="3422400" cy="8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6" name="Google Shape;276;p34"/>
          <p:cNvSpPr txBox="1"/>
          <p:nvPr>
            <p:ph idx="1" type="subTitle"/>
          </p:nvPr>
        </p:nvSpPr>
        <p:spPr>
          <a:xfrm>
            <a:off x="723225" y="3024275"/>
            <a:ext cx="2896200" cy="10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77" name="Google Shape;277;p34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278" name="Google Shape;278;p34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9" name="Google Shape;279;p34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280" name="Google Shape;280;p34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34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34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3" name="Google Shape;283;p34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284" name="Google Shape;284;p34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285" name="Google Shape;285;p34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86" name="Google Shape;286;p34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287" name="Google Shape;287;p34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" name="Google Shape;288;p34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" name="Google Shape;289;p34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290" name="Google Shape;290;p34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5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35"/>
          <p:cNvGrpSpPr/>
          <p:nvPr/>
        </p:nvGrpSpPr>
        <p:grpSpPr>
          <a:xfrm flipH="1">
            <a:off x="214694" y="123860"/>
            <a:ext cx="8552969" cy="4510486"/>
            <a:chOff x="45421" y="890559"/>
            <a:chExt cx="6688800" cy="3527400"/>
          </a:xfrm>
        </p:grpSpPr>
        <p:sp>
          <p:nvSpPr>
            <p:cNvPr id="293" name="Google Shape;293;p35"/>
            <p:cNvSpPr/>
            <p:nvPr/>
          </p:nvSpPr>
          <p:spPr>
            <a:xfrm>
              <a:off x="45421" y="890559"/>
              <a:ext cx="6688800" cy="3527400"/>
            </a:xfrm>
            <a:prstGeom prst="roundRect">
              <a:avLst>
                <a:gd fmla="val 4601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5"/>
            <p:cNvSpPr/>
            <p:nvPr/>
          </p:nvSpPr>
          <p:spPr>
            <a:xfrm>
              <a:off x="95031" y="1109631"/>
              <a:ext cx="6572400" cy="3246900"/>
            </a:xfrm>
            <a:prstGeom prst="roundRect">
              <a:avLst>
                <a:gd fmla="val 479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5"/>
            <p:cNvSpPr/>
            <p:nvPr/>
          </p:nvSpPr>
          <p:spPr>
            <a:xfrm>
              <a:off x="6588804" y="965036"/>
              <a:ext cx="78697" cy="78697"/>
            </a:xfrm>
            <a:custGeom>
              <a:rect b="b" l="l" r="r" t="t"/>
              <a:pathLst>
                <a:path extrusionOk="0" h="349" w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5"/>
            <p:cNvSpPr/>
            <p:nvPr/>
          </p:nvSpPr>
          <p:spPr>
            <a:xfrm>
              <a:off x="6461401" y="965036"/>
              <a:ext cx="78471" cy="78697"/>
            </a:xfrm>
            <a:custGeom>
              <a:rect b="b" l="l" r="r" t="t"/>
              <a:pathLst>
                <a:path extrusionOk="0" h="349" w="348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5"/>
            <p:cNvSpPr/>
            <p:nvPr/>
          </p:nvSpPr>
          <p:spPr>
            <a:xfrm>
              <a:off x="6314155" y="963911"/>
              <a:ext cx="95158" cy="80952"/>
            </a:xfrm>
            <a:custGeom>
              <a:rect b="b" l="l" r="r" t="t"/>
              <a:pathLst>
                <a:path extrusionOk="0" h="359" w="422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8" name="Google Shape;298;p35"/>
          <p:cNvGrpSpPr/>
          <p:nvPr/>
        </p:nvGrpSpPr>
        <p:grpSpPr>
          <a:xfrm flipH="1">
            <a:off x="394192" y="461737"/>
            <a:ext cx="8552969" cy="4510486"/>
            <a:chOff x="45421" y="890559"/>
            <a:chExt cx="6688800" cy="3527400"/>
          </a:xfrm>
        </p:grpSpPr>
        <p:sp>
          <p:nvSpPr>
            <p:cNvPr id="299" name="Google Shape;299;p35"/>
            <p:cNvSpPr/>
            <p:nvPr/>
          </p:nvSpPr>
          <p:spPr>
            <a:xfrm>
              <a:off x="45421" y="890559"/>
              <a:ext cx="6688800" cy="3527400"/>
            </a:xfrm>
            <a:prstGeom prst="roundRect">
              <a:avLst>
                <a:gd fmla="val 4601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5"/>
            <p:cNvSpPr/>
            <p:nvPr/>
          </p:nvSpPr>
          <p:spPr>
            <a:xfrm>
              <a:off x="95031" y="1109631"/>
              <a:ext cx="6572400" cy="3246900"/>
            </a:xfrm>
            <a:prstGeom prst="roundRect">
              <a:avLst>
                <a:gd fmla="val 479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5"/>
            <p:cNvSpPr/>
            <p:nvPr/>
          </p:nvSpPr>
          <p:spPr>
            <a:xfrm>
              <a:off x="6588804" y="965036"/>
              <a:ext cx="78697" cy="78697"/>
            </a:xfrm>
            <a:custGeom>
              <a:rect b="b" l="l" r="r" t="t"/>
              <a:pathLst>
                <a:path extrusionOk="0" h="349" w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5"/>
            <p:cNvSpPr/>
            <p:nvPr/>
          </p:nvSpPr>
          <p:spPr>
            <a:xfrm>
              <a:off x="6461401" y="965036"/>
              <a:ext cx="78471" cy="78697"/>
            </a:xfrm>
            <a:custGeom>
              <a:rect b="b" l="l" r="r" t="t"/>
              <a:pathLst>
                <a:path extrusionOk="0" h="349" w="348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5"/>
            <p:cNvSpPr/>
            <p:nvPr/>
          </p:nvSpPr>
          <p:spPr>
            <a:xfrm>
              <a:off x="6314155" y="963911"/>
              <a:ext cx="95158" cy="80952"/>
            </a:xfrm>
            <a:custGeom>
              <a:rect b="b" l="l" r="r" t="t"/>
              <a:pathLst>
                <a:path extrusionOk="0" h="359" w="422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4" name="Google Shape;304;p35"/>
          <p:cNvSpPr txBox="1"/>
          <p:nvPr>
            <p:ph type="title"/>
          </p:nvPr>
        </p:nvSpPr>
        <p:spPr>
          <a:xfrm>
            <a:off x="1019175" y="808600"/>
            <a:ext cx="3552900" cy="10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61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5" name="Google Shape;305;p35"/>
          <p:cNvSpPr txBox="1"/>
          <p:nvPr>
            <p:ph idx="1" type="subTitle"/>
          </p:nvPr>
        </p:nvSpPr>
        <p:spPr>
          <a:xfrm>
            <a:off x="1019175" y="1789000"/>
            <a:ext cx="3552900" cy="11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5"/>
          <p:cNvSpPr txBox="1"/>
          <p:nvPr/>
        </p:nvSpPr>
        <p:spPr>
          <a:xfrm>
            <a:off x="1019175" y="3812950"/>
            <a:ext cx="342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lang="en" sz="900">
                <a:solidFill>
                  <a:srgbClr val="434343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900">
                <a:solidFill>
                  <a:srgbClr val="434343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lang="en" sz="900">
                <a:solidFill>
                  <a:srgbClr val="434343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and illustrations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oogle Shape;311;p36"/>
          <p:cNvGrpSpPr/>
          <p:nvPr/>
        </p:nvGrpSpPr>
        <p:grpSpPr>
          <a:xfrm>
            <a:off x="4714028" y="873441"/>
            <a:ext cx="4509041" cy="3554532"/>
            <a:chOff x="4398025" y="622868"/>
            <a:chExt cx="4671130" cy="3682308"/>
          </a:xfrm>
        </p:grpSpPr>
        <p:sp>
          <p:nvSpPr>
            <p:cNvPr id="312" name="Google Shape;312;p36"/>
            <p:cNvSpPr/>
            <p:nvPr/>
          </p:nvSpPr>
          <p:spPr>
            <a:xfrm>
              <a:off x="7506382" y="781174"/>
              <a:ext cx="689050" cy="684983"/>
            </a:xfrm>
            <a:custGeom>
              <a:rect b="b" l="l" r="r" t="t"/>
              <a:pathLst>
                <a:path extrusionOk="0" h="9094" w="9148">
                  <a:moveTo>
                    <a:pt x="4561" y="2153"/>
                  </a:moveTo>
                  <a:cubicBezTo>
                    <a:pt x="4628" y="2153"/>
                    <a:pt x="4697" y="2157"/>
                    <a:pt x="4770" y="2164"/>
                  </a:cubicBezTo>
                  <a:cubicBezTo>
                    <a:pt x="4799" y="2164"/>
                    <a:pt x="4828" y="2164"/>
                    <a:pt x="4871" y="2179"/>
                  </a:cubicBezTo>
                  <a:lnTo>
                    <a:pt x="4972" y="2193"/>
                  </a:lnTo>
                  <a:cubicBezTo>
                    <a:pt x="5001" y="2193"/>
                    <a:pt x="5030" y="2193"/>
                    <a:pt x="5074" y="2208"/>
                  </a:cubicBezTo>
                  <a:cubicBezTo>
                    <a:pt x="5146" y="2222"/>
                    <a:pt x="5233" y="2251"/>
                    <a:pt x="5320" y="2280"/>
                  </a:cubicBezTo>
                  <a:lnTo>
                    <a:pt x="5393" y="2295"/>
                  </a:lnTo>
                  <a:cubicBezTo>
                    <a:pt x="5494" y="2338"/>
                    <a:pt x="5610" y="2382"/>
                    <a:pt x="5712" y="2440"/>
                  </a:cubicBezTo>
                  <a:cubicBezTo>
                    <a:pt x="5755" y="2469"/>
                    <a:pt x="5784" y="2483"/>
                    <a:pt x="5813" y="2498"/>
                  </a:cubicBezTo>
                  <a:cubicBezTo>
                    <a:pt x="5842" y="2527"/>
                    <a:pt x="5886" y="2541"/>
                    <a:pt x="5915" y="2570"/>
                  </a:cubicBezTo>
                  <a:lnTo>
                    <a:pt x="6002" y="2628"/>
                  </a:lnTo>
                  <a:lnTo>
                    <a:pt x="6016" y="2643"/>
                  </a:lnTo>
                  <a:cubicBezTo>
                    <a:pt x="6045" y="2657"/>
                    <a:pt x="6074" y="2686"/>
                    <a:pt x="6103" y="2715"/>
                  </a:cubicBezTo>
                  <a:cubicBezTo>
                    <a:pt x="6132" y="2730"/>
                    <a:pt x="6161" y="2759"/>
                    <a:pt x="6190" y="2788"/>
                  </a:cubicBezTo>
                  <a:cubicBezTo>
                    <a:pt x="6248" y="2845"/>
                    <a:pt x="6306" y="2903"/>
                    <a:pt x="6364" y="2961"/>
                  </a:cubicBezTo>
                  <a:cubicBezTo>
                    <a:pt x="6379" y="2990"/>
                    <a:pt x="6408" y="3005"/>
                    <a:pt x="6422" y="3034"/>
                  </a:cubicBezTo>
                  <a:cubicBezTo>
                    <a:pt x="6466" y="3077"/>
                    <a:pt x="6495" y="3121"/>
                    <a:pt x="6524" y="3164"/>
                  </a:cubicBezTo>
                  <a:lnTo>
                    <a:pt x="6567" y="3222"/>
                  </a:lnTo>
                  <a:cubicBezTo>
                    <a:pt x="6625" y="3309"/>
                    <a:pt x="6668" y="3382"/>
                    <a:pt x="6712" y="3469"/>
                  </a:cubicBezTo>
                  <a:cubicBezTo>
                    <a:pt x="6726" y="3498"/>
                    <a:pt x="6741" y="3527"/>
                    <a:pt x="6755" y="3556"/>
                  </a:cubicBezTo>
                  <a:lnTo>
                    <a:pt x="6770" y="3570"/>
                  </a:lnTo>
                  <a:cubicBezTo>
                    <a:pt x="6784" y="3614"/>
                    <a:pt x="6799" y="3643"/>
                    <a:pt x="6813" y="3686"/>
                  </a:cubicBezTo>
                  <a:lnTo>
                    <a:pt x="6813" y="3701"/>
                  </a:lnTo>
                  <a:cubicBezTo>
                    <a:pt x="6828" y="3730"/>
                    <a:pt x="6828" y="3759"/>
                    <a:pt x="6842" y="3788"/>
                  </a:cubicBezTo>
                  <a:cubicBezTo>
                    <a:pt x="6857" y="3802"/>
                    <a:pt x="6857" y="3817"/>
                    <a:pt x="6857" y="3846"/>
                  </a:cubicBezTo>
                  <a:cubicBezTo>
                    <a:pt x="6886" y="3918"/>
                    <a:pt x="6900" y="3991"/>
                    <a:pt x="6929" y="4078"/>
                  </a:cubicBezTo>
                  <a:cubicBezTo>
                    <a:pt x="6929" y="4107"/>
                    <a:pt x="6929" y="4121"/>
                    <a:pt x="6944" y="4150"/>
                  </a:cubicBezTo>
                  <a:cubicBezTo>
                    <a:pt x="6944" y="4208"/>
                    <a:pt x="6958" y="4266"/>
                    <a:pt x="6973" y="4324"/>
                  </a:cubicBezTo>
                  <a:cubicBezTo>
                    <a:pt x="6973" y="4382"/>
                    <a:pt x="6973" y="4498"/>
                    <a:pt x="6973" y="4585"/>
                  </a:cubicBezTo>
                  <a:cubicBezTo>
                    <a:pt x="6973" y="4657"/>
                    <a:pt x="6987" y="4701"/>
                    <a:pt x="6987" y="4788"/>
                  </a:cubicBezTo>
                  <a:cubicBezTo>
                    <a:pt x="6987" y="4788"/>
                    <a:pt x="6987" y="4802"/>
                    <a:pt x="6987" y="4802"/>
                  </a:cubicBezTo>
                  <a:lnTo>
                    <a:pt x="6973" y="4933"/>
                  </a:lnTo>
                  <a:cubicBezTo>
                    <a:pt x="6973" y="4976"/>
                    <a:pt x="6958" y="5005"/>
                    <a:pt x="6944" y="5049"/>
                  </a:cubicBezTo>
                  <a:cubicBezTo>
                    <a:pt x="6929" y="5136"/>
                    <a:pt x="6900" y="5208"/>
                    <a:pt x="6871" y="5295"/>
                  </a:cubicBezTo>
                  <a:cubicBezTo>
                    <a:pt x="6857" y="5339"/>
                    <a:pt x="6842" y="5382"/>
                    <a:pt x="6828" y="5426"/>
                  </a:cubicBezTo>
                  <a:cubicBezTo>
                    <a:pt x="6813" y="5484"/>
                    <a:pt x="6799" y="5513"/>
                    <a:pt x="6770" y="5556"/>
                  </a:cubicBezTo>
                  <a:lnTo>
                    <a:pt x="6726" y="5643"/>
                  </a:lnTo>
                  <a:cubicBezTo>
                    <a:pt x="6697" y="5716"/>
                    <a:pt x="6639" y="5788"/>
                    <a:pt x="6596" y="5861"/>
                  </a:cubicBezTo>
                  <a:lnTo>
                    <a:pt x="6553" y="5919"/>
                  </a:lnTo>
                  <a:cubicBezTo>
                    <a:pt x="6553" y="5933"/>
                    <a:pt x="6553" y="5948"/>
                    <a:pt x="6538" y="5948"/>
                  </a:cubicBezTo>
                  <a:lnTo>
                    <a:pt x="6495" y="6020"/>
                  </a:lnTo>
                  <a:lnTo>
                    <a:pt x="6422" y="6093"/>
                  </a:lnTo>
                  <a:cubicBezTo>
                    <a:pt x="6379" y="6151"/>
                    <a:pt x="6335" y="6194"/>
                    <a:pt x="6292" y="6237"/>
                  </a:cubicBezTo>
                  <a:cubicBezTo>
                    <a:pt x="6263" y="6266"/>
                    <a:pt x="6248" y="6281"/>
                    <a:pt x="6219" y="6310"/>
                  </a:cubicBezTo>
                  <a:lnTo>
                    <a:pt x="6161" y="6368"/>
                  </a:lnTo>
                  <a:lnTo>
                    <a:pt x="6060" y="6440"/>
                  </a:lnTo>
                  <a:cubicBezTo>
                    <a:pt x="5973" y="6513"/>
                    <a:pt x="5900" y="6571"/>
                    <a:pt x="5813" y="6614"/>
                  </a:cubicBezTo>
                  <a:lnTo>
                    <a:pt x="5726" y="6672"/>
                  </a:lnTo>
                  <a:lnTo>
                    <a:pt x="5625" y="6716"/>
                  </a:lnTo>
                  <a:lnTo>
                    <a:pt x="5538" y="6759"/>
                  </a:lnTo>
                  <a:lnTo>
                    <a:pt x="5378" y="6817"/>
                  </a:lnTo>
                  <a:cubicBezTo>
                    <a:pt x="5349" y="6832"/>
                    <a:pt x="5306" y="6846"/>
                    <a:pt x="5277" y="6846"/>
                  </a:cubicBezTo>
                  <a:cubicBezTo>
                    <a:pt x="5219" y="6875"/>
                    <a:pt x="5146" y="6890"/>
                    <a:pt x="5088" y="6904"/>
                  </a:cubicBezTo>
                  <a:cubicBezTo>
                    <a:pt x="5045" y="6904"/>
                    <a:pt x="5016" y="6919"/>
                    <a:pt x="4987" y="6919"/>
                  </a:cubicBezTo>
                  <a:cubicBezTo>
                    <a:pt x="4944" y="6933"/>
                    <a:pt x="4915" y="6933"/>
                    <a:pt x="4886" y="6933"/>
                  </a:cubicBezTo>
                  <a:cubicBezTo>
                    <a:pt x="4763" y="6944"/>
                    <a:pt x="4640" y="6954"/>
                    <a:pt x="4517" y="6954"/>
                  </a:cubicBezTo>
                  <a:cubicBezTo>
                    <a:pt x="4466" y="6954"/>
                    <a:pt x="4415" y="6952"/>
                    <a:pt x="4364" y="6948"/>
                  </a:cubicBezTo>
                  <a:cubicBezTo>
                    <a:pt x="4335" y="6948"/>
                    <a:pt x="4306" y="6933"/>
                    <a:pt x="4277" y="6933"/>
                  </a:cubicBezTo>
                  <a:cubicBezTo>
                    <a:pt x="4233" y="6933"/>
                    <a:pt x="4204" y="6933"/>
                    <a:pt x="4175" y="6919"/>
                  </a:cubicBezTo>
                  <a:cubicBezTo>
                    <a:pt x="4132" y="6919"/>
                    <a:pt x="4103" y="6904"/>
                    <a:pt x="4074" y="6904"/>
                  </a:cubicBezTo>
                  <a:cubicBezTo>
                    <a:pt x="3958" y="6875"/>
                    <a:pt x="3842" y="6846"/>
                    <a:pt x="3726" y="6803"/>
                  </a:cubicBezTo>
                  <a:cubicBezTo>
                    <a:pt x="3697" y="6788"/>
                    <a:pt x="3668" y="6788"/>
                    <a:pt x="3624" y="6774"/>
                  </a:cubicBezTo>
                  <a:lnTo>
                    <a:pt x="3523" y="6730"/>
                  </a:lnTo>
                  <a:lnTo>
                    <a:pt x="3508" y="6730"/>
                  </a:lnTo>
                  <a:cubicBezTo>
                    <a:pt x="3479" y="6716"/>
                    <a:pt x="3450" y="6701"/>
                    <a:pt x="3407" y="6687"/>
                  </a:cubicBezTo>
                  <a:cubicBezTo>
                    <a:pt x="3349" y="6643"/>
                    <a:pt x="3277" y="6600"/>
                    <a:pt x="3219" y="6556"/>
                  </a:cubicBezTo>
                  <a:cubicBezTo>
                    <a:pt x="3175" y="6542"/>
                    <a:pt x="3146" y="6527"/>
                    <a:pt x="3117" y="6498"/>
                  </a:cubicBezTo>
                  <a:lnTo>
                    <a:pt x="3045" y="6440"/>
                  </a:lnTo>
                  <a:cubicBezTo>
                    <a:pt x="3001" y="6411"/>
                    <a:pt x="2972" y="6368"/>
                    <a:pt x="2929" y="6339"/>
                  </a:cubicBezTo>
                  <a:cubicBezTo>
                    <a:pt x="2900" y="6310"/>
                    <a:pt x="2871" y="6281"/>
                    <a:pt x="2827" y="6237"/>
                  </a:cubicBezTo>
                  <a:lnTo>
                    <a:pt x="2755" y="6151"/>
                  </a:lnTo>
                  <a:cubicBezTo>
                    <a:pt x="2653" y="6049"/>
                    <a:pt x="2581" y="5933"/>
                    <a:pt x="2494" y="5817"/>
                  </a:cubicBezTo>
                  <a:cubicBezTo>
                    <a:pt x="2479" y="5774"/>
                    <a:pt x="2465" y="5745"/>
                    <a:pt x="2436" y="5716"/>
                  </a:cubicBezTo>
                  <a:cubicBezTo>
                    <a:pt x="2421" y="5672"/>
                    <a:pt x="2392" y="5629"/>
                    <a:pt x="2378" y="5600"/>
                  </a:cubicBezTo>
                  <a:cubicBezTo>
                    <a:pt x="2363" y="5556"/>
                    <a:pt x="2363" y="5556"/>
                    <a:pt x="2349" y="5527"/>
                  </a:cubicBezTo>
                  <a:cubicBezTo>
                    <a:pt x="2349" y="5513"/>
                    <a:pt x="2334" y="5498"/>
                    <a:pt x="2334" y="5484"/>
                  </a:cubicBezTo>
                  <a:cubicBezTo>
                    <a:pt x="2334" y="5469"/>
                    <a:pt x="2320" y="5440"/>
                    <a:pt x="2305" y="5426"/>
                  </a:cubicBezTo>
                  <a:cubicBezTo>
                    <a:pt x="2305" y="5397"/>
                    <a:pt x="2291" y="5368"/>
                    <a:pt x="2276" y="5339"/>
                  </a:cubicBezTo>
                  <a:cubicBezTo>
                    <a:pt x="2276" y="5339"/>
                    <a:pt x="2276" y="5324"/>
                    <a:pt x="2276" y="5310"/>
                  </a:cubicBezTo>
                  <a:cubicBezTo>
                    <a:pt x="2262" y="5281"/>
                    <a:pt x="2247" y="5252"/>
                    <a:pt x="2247" y="5223"/>
                  </a:cubicBezTo>
                  <a:cubicBezTo>
                    <a:pt x="2233" y="5165"/>
                    <a:pt x="2218" y="5121"/>
                    <a:pt x="2204" y="5063"/>
                  </a:cubicBezTo>
                  <a:cubicBezTo>
                    <a:pt x="2204" y="5034"/>
                    <a:pt x="2189" y="5005"/>
                    <a:pt x="2189" y="4976"/>
                  </a:cubicBezTo>
                  <a:cubicBezTo>
                    <a:pt x="2175" y="4918"/>
                    <a:pt x="2160" y="4860"/>
                    <a:pt x="2160" y="4802"/>
                  </a:cubicBezTo>
                  <a:cubicBezTo>
                    <a:pt x="2160" y="4730"/>
                    <a:pt x="2146" y="4643"/>
                    <a:pt x="2146" y="4556"/>
                  </a:cubicBezTo>
                  <a:cubicBezTo>
                    <a:pt x="2146" y="4484"/>
                    <a:pt x="2160" y="4397"/>
                    <a:pt x="2160" y="4310"/>
                  </a:cubicBezTo>
                  <a:cubicBezTo>
                    <a:pt x="2160" y="4310"/>
                    <a:pt x="2160" y="4295"/>
                    <a:pt x="2160" y="4295"/>
                  </a:cubicBezTo>
                  <a:cubicBezTo>
                    <a:pt x="2160" y="4252"/>
                    <a:pt x="2175" y="4208"/>
                    <a:pt x="2175" y="4179"/>
                  </a:cubicBezTo>
                  <a:cubicBezTo>
                    <a:pt x="2189" y="4136"/>
                    <a:pt x="2189" y="4092"/>
                    <a:pt x="2204" y="4049"/>
                  </a:cubicBezTo>
                  <a:cubicBezTo>
                    <a:pt x="2218" y="3962"/>
                    <a:pt x="2247" y="3889"/>
                    <a:pt x="2262" y="3802"/>
                  </a:cubicBezTo>
                  <a:lnTo>
                    <a:pt x="2305" y="3715"/>
                  </a:lnTo>
                  <a:cubicBezTo>
                    <a:pt x="2305" y="3686"/>
                    <a:pt x="2320" y="3657"/>
                    <a:pt x="2334" y="3643"/>
                  </a:cubicBezTo>
                  <a:cubicBezTo>
                    <a:pt x="2334" y="3614"/>
                    <a:pt x="2349" y="3599"/>
                    <a:pt x="2349" y="3585"/>
                  </a:cubicBezTo>
                  <a:cubicBezTo>
                    <a:pt x="2363" y="3570"/>
                    <a:pt x="2378" y="3541"/>
                    <a:pt x="2378" y="3527"/>
                  </a:cubicBezTo>
                  <a:cubicBezTo>
                    <a:pt x="2407" y="3454"/>
                    <a:pt x="2450" y="3396"/>
                    <a:pt x="2479" y="3338"/>
                  </a:cubicBezTo>
                  <a:lnTo>
                    <a:pt x="2537" y="3251"/>
                  </a:lnTo>
                  <a:lnTo>
                    <a:pt x="2581" y="3179"/>
                  </a:lnTo>
                  <a:cubicBezTo>
                    <a:pt x="2610" y="3135"/>
                    <a:pt x="2639" y="3106"/>
                    <a:pt x="2668" y="3077"/>
                  </a:cubicBezTo>
                  <a:cubicBezTo>
                    <a:pt x="2697" y="3034"/>
                    <a:pt x="2711" y="3005"/>
                    <a:pt x="2740" y="2976"/>
                  </a:cubicBezTo>
                  <a:cubicBezTo>
                    <a:pt x="2769" y="2947"/>
                    <a:pt x="2798" y="2918"/>
                    <a:pt x="2827" y="2874"/>
                  </a:cubicBezTo>
                  <a:cubicBezTo>
                    <a:pt x="2987" y="2730"/>
                    <a:pt x="3146" y="2599"/>
                    <a:pt x="3334" y="2483"/>
                  </a:cubicBezTo>
                  <a:lnTo>
                    <a:pt x="3421" y="2440"/>
                  </a:lnTo>
                  <a:lnTo>
                    <a:pt x="3508" y="2396"/>
                  </a:lnTo>
                  <a:lnTo>
                    <a:pt x="3610" y="2353"/>
                  </a:lnTo>
                  <a:cubicBezTo>
                    <a:pt x="3653" y="2324"/>
                    <a:pt x="3711" y="2309"/>
                    <a:pt x="3769" y="2280"/>
                  </a:cubicBezTo>
                  <a:cubicBezTo>
                    <a:pt x="3798" y="2266"/>
                    <a:pt x="3827" y="2266"/>
                    <a:pt x="3856" y="2251"/>
                  </a:cubicBezTo>
                  <a:lnTo>
                    <a:pt x="3958" y="2222"/>
                  </a:lnTo>
                  <a:cubicBezTo>
                    <a:pt x="4016" y="2208"/>
                    <a:pt x="4088" y="2193"/>
                    <a:pt x="4161" y="2193"/>
                  </a:cubicBezTo>
                  <a:lnTo>
                    <a:pt x="4262" y="2179"/>
                  </a:lnTo>
                  <a:lnTo>
                    <a:pt x="4364" y="2164"/>
                  </a:lnTo>
                  <a:cubicBezTo>
                    <a:pt x="4429" y="2157"/>
                    <a:pt x="4494" y="2153"/>
                    <a:pt x="4561" y="2153"/>
                  </a:cubicBezTo>
                  <a:close/>
                  <a:moveTo>
                    <a:pt x="4588" y="1"/>
                  </a:moveTo>
                  <a:cubicBezTo>
                    <a:pt x="4422" y="1"/>
                    <a:pt x="4255" y="12"/>
                    <a:pt x="4088" y="33"/>
                  </a:cubicBezTo>
                  <a:cubicBezTo>
                    <a:pt x="3827" y="62"/>
                    <a:pt x="3624" y="309"/>
                    <a:pt x="3653" y="570"/>
                  </a:cubicBezTo>
                  <a:lnTo>
                    <a:pt x="3653" y="613"/>
                  </a:lnTo>
                  <a:cubicBezTo>
                    <a:pt x="3653" y="642"/>
                    <a:pt x="3653" y="657"/>
                    <a:pt x="3653" y="686"/>
                  </a:cubicBezTo>
                  <a:cubicBezTo>
                    <a:pt x="3653" y="874"/>
                    <a:pt x="3552" y="1048"/>
                    <a:pt x="3378" y="1135"/>
                  </a:cubicBezTo>
                  <a:lnTo>
                    <a:pt x="3334" y="1149"/>
                  </a:lnTo>
                  <a:lnTo>
                    <a:pt x="3190" y="1207"/>
                  </a:lnTo>
                  <a:lnTo>
                    <a:pt x="3059" y="1265"/>
                  </a:lnTo>
                  <a:lnTo>
                    <a:pt x="3030" y="1280"/>
                  </a:lnTo>
                  <a:cubicBezTo>
                    <a:pt x="2964" y="1306"/>
                    <a:pt x="2895" y="1319"/>
                    <a:pt x="2827" y="1319"/>
                  </a:cubicBezTo>
                  <a:cubicBezTo>
                    <a:pt x="2673" y="1319"/>
                    <a:pt x="2526" y="1252"/>
                    <a:pt x="2436" y="1121"/>
                  </a:cubicBezTo>
                  <a:cubicBezTo>
                    <a:pt x="2336" y="985"/>
                    <a:pt x="2185" y="917"/>
                    <a:pt x="2030" y="917"/>
                  </a:cubicBezTo>
                  <a:cubicBezTo>
                    <a:pt x="1937" y="917"/>
                    <a:pt x="1841" y="941"/>
                    <a:pt x="1754" y="990"/>
                  </a:cubicBezTo>
                  <a:lnTo>
                    <a:pt x="1711" y="1019"/>
                  </a:lnTo>
                  <a:cubicBezTo>
                    <a:pt x="1465" y="1222"/>
                    <a:pt x="1233" y="1454"/>
                    <a:pt x="1030" y="1715"/>
                  </a:cubicBezTo>
                  <a:cubicBezTo>
                    <a:pt x="928" y="1845"/>
                    <a:pt x="885" y="2005"/>
                    <a:pt x="943" y="2164"/>
                  </a:cubicBezTo>
                  <a:cubicBezTo>
                    <a:pt x="957" y="2208"/>
                    <a:pt x="972" y="2251"/>
                    <a:pt x="1001" y="2295"/>
                  </a:cubicBezTo>
                  <a:cubicBezTo>
                    <a:pt x="1015" y="2324"/>
                    <a:pt x="1044" y="2367"/>
                    <a:pt x="1073" y="2382"/>
                  </a:cubicBezTo>
                  <a:lnTo>
                    <a:pt x="1117" y="2425"/>
                  </a:lnTo>
                  <a:cubicBezTo>
                    <a:pt x="1305" y="2570"/>
                    <a:pt x="1378" y="2817"/>
                    <a:pt x="1276" y="3034"/>
                  </a:cubicBezTo>
                  <a:cubicBezTo>
                    <a:pt x="1233" y="3135"/>
                    <a:pt x="1189" y="3237"/>
                    <a:pt x="1146" y="3338"/>
                  </a:cubicBezTo>
                  <a:cubicBezTo>
                    <a:pt x="1131" y="3396"/>
                    <a:pt x="1102" y="3454"/>
                    <a:pt x="1059" y="3498"/>
                  </a:cubicBezTo>
                  <a:cubicBezTo>
                    <a:pt x="1030" y="3527"/>
                    <a:pt x="1001" y="3541"/>
                    <a:pt x="972" y="3570"/>
                  </a:cubicBezTo>
                  <a:cubicBezTo>
                    <a:pt x="943" y="3585"/>
                    <a:pt x="899" y="3599"/>
                    <a:pt x="870" y="3614"/>
                  </a:cubicBezTo>
                  <a:cubicBezTo>
                    <a:pt x="841" y="3628"/>
                    <a:pt x="827" y="3643"/>
                    <a:pt x="798" y="3643"/>
                  </a:cubicBezTo>
                  <a:cubicBezTo>
                    <a:pt x="769" y="3650"/>
                    <a:pt x="740" y="3654"/>
                    <a:pt x="711" y="3654"/>
                  </a:cubicBezTo>
                  <a:cubicBezTo>
                    <a:pt x="682" y="3654"/>
                    <a:pt x="653" y="3650"/>
                    <a:pt x="624" y="3643"/>
                  </a:cubicBezTo>
                  <a:lnTo>
                    <a:pt x="450" y="3643"/>
                  </a:lnTo>
                  <a:cubicBezTo>
                    <a:pt x="232" y="3686"/>
                    <a:pt x="73" y="3860"/>
                    <a:pt x="44" y="4078"/>
                  </a:cubicBezTo>
                  <a:cubicBezTo>
                    <a:pt x="0" y="4397"/>
                    <a:pt x="0" y="4730"/>
                    <a:pt x="44" y="5049"/>
                  </a:cubicBezTo>
                  <a:cubicBezTo>
                    <a:pt x="70" y="5305"/>
                    <a:pt x="277" y="5494"/>
                    <a:pt x="525" y="5494"/>
                  </a:cubicBezTo>
                  <a:cubicBezTo>
                    <a:pt x="557" y="5494"/>
                    <a:pt x="590" y="5490"/>
                    <a:pt x="624" y="5484"/>
                  </a:cubicBezTo>
                  <a:lnTo>
                    <a:pt x="696" y="5484"/>
                  </a:lnTo>
                  <a:cubicBezTo>
                    <a:pt x="798" y="5484"/>
                    <a:pt x="885" y="5527"/>
                    <a:pt x="972" y="5571"/>
                  </a:cubicBezTo>
                  <a:cubicBezTo>
                    <a:pt x="1001" y="5585"/>
                    <a:pt x="1015" y="5614"/>
                    <a:pt x="1030" y="5629"/>
                  </a:cubicBezTo>
                  <a:cubicBezTo>
                    <a:pt x="1088" y="5672"/>
                    <a:pt x="1131" y="5730"/>
                    <a:pt x="1160" y="5803"/>
                  </a:cubicBezTo>
                  <a:cubicBezTo>
                    <a:pt x="1189" y="5904"/>
                    <a:pt x="1233" y="6006"/>
                    <a:pt x="1276" y="6107"/>
                  </a:cubicBezTo>
                  <a:cubicBezTo>
                    <a:pt x="1378" y="6310"/>
                    <a:pt x="1320" y="6527"/>
                    <a:pt x="1175" y="6672"/>
                  </a:cubicBezTo>
                  <a:lnTo>
                    <a:pt x="1117" y="6716"/>
                  </a:lnTo>
                  <a:cubicBezTo>
                    <a:pt x="1073" y="6745"/>
                    <a:pt x="1030" y="6788"/>
                    <a:pt x="1001" y="6846"/>
                  </a:cubicBezTo>
                  <a:cubicBezTo>
                    <a:pt x="972" y="6875"/>
                    <a:pt x="957" y="6919"/>
                    <a:pt x="943" y="6977"/>
                  </a:cubicBezTo>
                  <a:cubicBezTo>
                    <a:pt x="943" y="6991"/>
                    <a:pt x="943" y="7006"/>
                    <a:pt x="928" y="7020"/>
                  </a:cubicBezTo>
                  <a:lnTo>
                    <a:pt x="928" y="7064"/>
                  </a:lnTo>
                  <a:cubicBezTo>
                    <a:pt x="928" y="7078"/>
                    <a:pt x="928" y="7093"/>
                    <a:pt x="928" y="7107"/>
                  </a:cubicBezTo>
                  <a:lnTo>
                    <a:pt x="928" y="7122"/>
                  </a:lnTo>
                  <a:lnTo>
                    <a:pt x="928" y="7194"/>
                  </a:lnTo>
                  <a:cubicBezTo>
                    <a:pt x="943" y="7223"/>
                    <a:pt x="943" y="7238"/>
                    <a:pt x="957" y="7267"/>
                  </a:cubicBezTo>
                  <a:cubicBezTo>
                    <a:pt x="957" y="7267"/>
                    <a:pt x="957" y="7281"/>
                    <a:pt x="957" y="7281"/>
                  </a:cubicBezTo>
                  <a:cubicBezTo>
                    <a:pt x="972" y="7296"/>
                    <a:pt x="972" y="7325"/>
                    <a:pt x="986" y="7339"/>
                  </a:cubicBezTo>
                  <a:lnTo>
                    <a:pt x="986" y="7354"/>
                  </a:lnTo>
                  <a:cubicBezTo>
                    <a:pt x="1001" y="7368"/>
                    <a:pt x="1001" y="7383"/>
                    <a:pt x="1015" y="7397"/>
                  </a:cubicBezTo>
                  <a:cubicBezTo>
                    <a:pt x="1218" y="7658"/>
                    <a:pt x="1450" y="7890"/>
                    <a:pt x="1711" y="8093"/>
                  </a:cubicBezTo>
                  <a:cubicBezTo>
                    <a:pt x="1796" y="8166"/>
                    <a:pt x="1901" y="8198"/>
                    <a:pt x="2001" y="8198"/>
                  </a:cubicBezTo>
                  <a:cubicBezTo>
                    <a:pt x="2021" y="8198"/>
                    <a:pt x="2040" y="8197"/>
                    <a:pt x="2059" y="8194"/>
                  </a:cubicBezTo>
                  <a:cubicBezTo>
                    <a:pt x="2102" y="8194"/>
                    <a:pt x="2146" y="8180"/>
                    <a:pt x="2189" y="8165"/>
                  </a:cubicBezTo>
                  <a:cubicBezTo>
                    <a:pt x="2291" y="8136"/>
                    <a:pt x="2363" y="8078"/>
                    <a:pt x="2421" y="8006"/>
                  </a:cubicBezTo>
                  <a:lnTo>
                    <a:pt x="2465" y="7948"/>
                  </a:lnTo>
                  <a:cubicBezTo>
                    <a:pt x="2523" y="7905"/>
                    <a:pt x="2581" y="7861"/>
                    <a:pt x="2653" y="7832"/>
                  </a:cubicBezTo>
                  <a:lnTo>
                    <a:pt x="2827" y="7789"/>
                  </a:lnTo>
                  <a:cubicBezTo>
                    <a:pt x="2900" y="7803"/>
                    <a:pt x="2972" y="7818"/>
                    <a:pt x="3030" y="7847"/>
                  </a:cubicBezTo>
                  <a:cubicBezTo>
                    <a:pt x="3132" y="7890"/>
                    <a:pt x="3233" y="7933"/>
                    <a:pt x="3334" y="7962"/>
                  </a:cubicBezTo>
                  <a:cubicBezTo>
                    <a:pt x="3421" y="8006"/>
                    <a:pt x="3508" y="8064"/>
                    <a:pt x="3566" y="8151"/>
                  </a:cubicBezTo>
                  <a:cubicBezTo>
                    <a:pt x="3581" y="8180"/>
                    <a:pt x="3610" y="8209"/>
                    <a:pt x="3610" y="8252"/>
                  </a:cubicBezTo>
                  <a:cubicBezTo>
                    <a:pt x="3653" y="8325"/>
                    <a:pt x="3653" y="8412"/>
                    <a:pt x="3639" y="8499"/>
                  </a:cubicBezTo>
                  <a:cubicBezTo>
                    <a:pt x="3610" y="8760"/>
                    <a:pt x="3769" y="9006"/>
                    <a:pt x="4030" y="9064"/>
                  </a:cubicBezTo>
                  <a:lnTo>
                    <a:pt x="4074" y="9064"/>
                  </a:lnTo>
                  <a:cubicBezTo>
                    <a:pt x="4248" y="9079"/>
                    <a:pt x="4407" y="9093"/>
                    <a:pt x="4567" y="9093"/>
                  </a:cubicBezTo>
                  <a:cubicBezTo>
                    <a:pt x="4726" y="9093"/>
                    <a:pt x="4900" y="9079"/>
                    <a:pt x="5059" y="9064"/>
                  </a:cubicBezTo>
                  <a:cubicBezTo>
                    <a:pt x="5175" y="9050"/>
                    <a:pt x="5277" y="9006"/>
                    <a:pt x="5364" y="8919"/>
                  </a:cubicBezTo>
                  <a:cubicBezTo>
                    <a:pt x="5393" y="8876"/>
                    <a:pt x="5422" y="8847"/>
                    <a:pt x="5436" y="8803"/>
                  </a:cubicBezTo>
                  <a:cubicBezTo>
                    <a:pt x="5451" y="8789"/>
                    <a:pt x="5465" y="8774"/>
                    <a:pt x="5465" y="8745"/>
                  </a:cubicBezTo>
                  <a:cubicBezTo>
                    <a:pt x="5494" y="8673"/>
                    <a:pt x="5509" y="8586"/>
                    <a:pt x="5494" y="8499"/>
                  </a:cubicBezTo>
                  <a:cubicBezTo>
                    <a:pt x="5494" y="8470"/>
                    <a:pt x="5494" y="8441"/>
                    <a:pt x="5494" y="8426"/>
                  </a:cubicBezTo>
                  <a:cubicBezTo>
                    <a:pt x="5494" y="8209"/>
                    <a:pt x="5625" y="8020"/>
                    <a:pt x="5813" y="7948"/>
                  </a:cubicBezTo>
                  <a:cubicBezTo>
                    <a:pt x="5915" y="7919"/>
                    <a:pt x="6016" y="7876"/>
                    <a:pt x="6118" y="7832"/>
                  </a:cubicBezTo>
                  <a:cubicBezTo>
                    <a:pt x="6183" y="7796"/>
                    <a:pt x="6255" y="7778"/>
                    <a:pt x="6328" y="7778"/>
                  </a:cubicBezTo>
                  <a:cubicBezTo>
                    <a:pt x="6400" y="7778"/>
                    <a:pt x="6473" y="7796"/>
                    <a:pt x="6538" y="7832"/>
                  </a:cubicBezTo>
                  <a:cubicBezTo>
                    <a:pt x="6582" y="7847"/>
                    <a:pt x="6611" y="7876"/>
                    <a:pt x="6639" y="7890"/>
                  </a:cubicBezTo>
                  <a:cubicBezTo>
                    <a:pt x="6654" y="7905"/>
                    <a:pt x="6668" y="7919"/>
                    <a:pt x="6683" y="7933"/>
                  </a:cubicBezTo>
                  <a:cubicBezTo>
                    <a:pt x="6697" y="7948"/>
                    <a:pt x="6712" y="7962"/>
                    <a:pt x="6726" y="7977"/>
                  </a:cubicBezTo>
                  <a:cubicBezTo>
                    <a:pt x="6817" y="8113"/>
                    <a:pt x="6964" y="8181"/>
                    <a:pt x="7119" y="8181"/>
                  </a:cubicBezTo>
                  <a:cubicBezTo>
                    <a:pt x="7211" y="8181"/>
                    <a:pt x="7306" y="8156"/>
                    <a:pt x="7393" y="8107"/>
                  </a:cubicBezTo>
                  <a:lnTo>
                    <a:pt x="7437" y="8078"/>
                  </a:lnTo>
                  <a:cubicBezTo>
                    <a:pt x="7553" y="7977"/>
                    <a:pt x="7683" y="7861"/>
                    <a:pt x="7799" y="7745"/>
                  </a:cubicBezTo>
                  <a:cubicBezTo>
                    <a:pt x="7915" y="7629"/>
                    <a:pt x="8017" y="7513"/>
                    <a:pt x="8118" y="7383"/>
                  </a:cubicBezTo>
                  <a:cubicBezTo>
                    <a:pt x="8220" y="7252"/>
                    <a:pt x="8249" y="7093"/>
                    <a:pt x="8205" y="6933"/>
                  </a:cubicBezTo>
                  <a:cubicBezTo>
                    <a:pt x="8205" y="6904"/>
                    <a:pt x="8191" y="6890"/>
                    <a:pt x="8176" y="6861"/>
                  </a:cubicBezTo>
                  <a:cubicBezTo>
                    <a:pt x="8176" y="6846"/>
                    <a:pt x="8162" y="6817"/>
                    <a:pt x="8147" y="6803"/>
                  </a:cubicBezTo>
                  <a:cubicBezTo>
                    <a:pt x="8133" y="6774"/>
                    <a:pt x="8104" y="6745"/>
                    <a:pt x="8075" y="6716"/>
                  </a:cubicBezTo>
                  <a:lnTo>
                    <a:pt x="8031" y="6672"/>
                  </a:lnTo>
                  <a:cubicBezTo>
                    <a:pt x="8017" y="6658"/>
                    <a:pt x="8002" y="6658"/>
                    <a:pt x="7988" y="6643"/>
                  </a:cubicBezTo>
                  <a:cubicBezTo>
                    <a:pt x="7828" y="6498"/>
                    <a:pt x="7785" y="6266"/>
                    <a:pt x="7872" y="6078"/>
                  </a:cubicBezTo>
                  <a:cubicBezTo>
                    <a:pt x="7915" y="5977"/>
                    <a:pt x="7959" y="5875"/>
                    <a:pt x="8002" y="5774"/>
                  </a:cubicBezTo>
                  <a:cubicBezTo>
                    <a:pt x="8065" y="5571"/>
                    <a:pt x="8250" y="5446"/>
                    <a:pt x="8449" y="5446"/>
                  </a:cubicBezTo>
                  <a:cubicBezTo>
                    <a:pt x="8479" y="5446"/>
                    <a:pt x="8509" y="5449"/>
                    <a:pt x="8538" y="5455"/>
                  </a:cubicBezTo>
                  <a:cubicBezTo>
                    <a:pt x="8558" y="5457"/>
                    <a:pt x="8578" y="5458"/>
                    <a:pt x="8598" y="5458"/>
                  </a:cubicBezTo>
                  <a:cubicBezTo>
                    <a:pt x="8694" y="5458"/>
                    <a:pt x="8788" y="5430"/>
                    <a:pt x="8872" y="5382"/>
                  </a:cubicBezTo>
                  <a:cubicBezTo>
                    <a:pt x="8901" y="5368"/>
                    <a:pt x="8915" y="5353"/>
                    <a:pt x="8944" y="5339"/>
                  </a:cubicBezTo>
                  <a:lnTo>
                    <a:pt x="8973" y="5295"/>
                  </a:lnTo>
                  <a:cubicBezTo>
                    <a:pt x="8988" y="5295"/>
                    <a:pt x="8988" y="5281"/>
                    <a:pt x="9002" y="5266"/>
                  </a:cubicBezTo>
                  <a:cubicBezTo>
                    <a:pt x="9060" y="5194"/>
                    <a:pt x="9104" y="5107"/>
                    <a:pt x="9104" y="5020"/>
                  </a:cubicBezTo>
                  <a:cubicBezTo>
                    <a:pt x="9147" y="4686"/>
                    <a:pt x="9147" y="4368"/>
                    <a:pt x="9104" y="4034"/>
                  </a:cubicBezTo>
                  <a:lnTo>
                    <a:pt x="9104" y="4063"/>
                  </a:lnTo>
                  <a:cubicBezTo>
                    <a:pt x="9104" y="4020"/>
                    <a:pt x="9089" y="3962"/>
                    <a:pt x="9075" y="3918"/>
                  </a:cubicBezTo>
                  <a:cubicBezTo>
                    <a:pt x="9060" y="3889"/>
                    <a:pt x="9046" y="3875"/>
                    <a:pt x="9031" y="3846"/>
                  </a:cubicBezTo>
                  <a:cubicBezTo>
                    <a:pt x="9017" y="3817"/>
                    <a:pt x="9002" y="3802"/>
                    <a:pt x="8973" y="3773"/>
                  </a:cubicBezTo>
                  <a:lnTo>
                    <a:pt x="8944" y="3744"/>
                  </a:lnTo>
                  <a:cubicBezTo>
                    <a:pt x="8930" y="3730"/>
                    <a:pt x="8915" y="3730"/>
                    <a:pt x="8915" y="3715"/>
                  </a:cubicBezTo>
                  <a:lnTo>
                    <a:pt x="8857" y="3686"/>
                  </a:lnTo>
                  <a:cubicBezTo>
                    <a:pt x="8828" y="3657"/>
                    <a:pt x="8785" y="3643"/>
                    <a:pt x="8741" y="3643"/>
                  </a:cubicBezTo>
                  <a:lnTo>
                    <a:pt x="8712" y="3628"/>
                  </a:lnTo>
                  <a:cubicBezTo>
                    <a:pt x="8683" y="3621"/>
                    <a:pt x="8654" y="3617"/>
                    <a:pt x="8625" y="3617"/>
                  </a:cubicBezTo>
                  <a:cubicBezTo>
                    <a:pt x="8596" y="3617"/>
                    <a:pt x="8567" y="3621"/>
                    <a:pt x="8538" y="3628"/>
                  </a:cubicBezTo>
                  <a:lnTo>
                    <a:pt x="8422" y="3628"/>
                  </a:lnTo>
                  <a:cubicBezTo>
                    <a:pt x="8335" y="3614"/>
                    <a:pt x="8249" y="3585"/>
                    <a:pt x="8176" y="3541"/>
                  </a:cubicBezTo>
                  <a:lnTo>
                    <a:pt x="8133" y="3512"/>
                  </a:lnTo>
                  <a:cubicBezTo>
                    <a:pt x="8118" y="3498"/>
                    <a:pt x="8104" y="3483"/>
                    <a:pt x="8104" y="3469"/>
                  </a:cubicBezTo>
                  <a:cubicBezTo>
                    <a:pt x="8075" y="3454"/>
                    <a:pt x="8060" y="3425"/>
                    <a:pt x="8046" y="3411"/>
                  </a:cubicBezTo>
                  <a:lnTo>
                    <a:pt x="8017" y="3353"/>
                  </a:lnTo>
                  <a:cubicBezTo>
                    <a:pt x="8002" y="3338"/>
                    <a:pt x="8002" y="3324"/>
                    <a:pt x="8002" y="3309"/>
                  </a:cubicBezTo>
                  <a:cubicBezTo>
                    <a:pt x="8002" y="3295"/>
                    <a:pt x="7988" y="3295"/>
                    <a:pt x="7988" y="3280"/>
                  </a:cubicBezTo>
                  <a:cubicBezTo>
                    <a:pt x="7959" y="3179"/>
                    <a:pt x="7915" y="3092"/>
                    <a:pt x="7872" y="3005"/>
                  </a:cubicBezTo>
                  <a:cubicBezTo>
                    <a:pt x="7872" y="2990"/>
                    <a:pt x="7857" y="2976"/>
                    <a:pt x="7857" y="2961"/>
                  </a:cubicBezTo>
                  <a:cubicBezTo>
                    <a:pt x="7828" y="2889"/>
                    <a:pt x="7828" y="2817"/>
                    <a:pt x="7828" y="2744"/>
                  </a:cubicBezTo>
                  <a:cubicBezTo>
                    <a:pt x="7843" y="2701"/>
                    <a:pt x="7857" y="2643"/>
                    <a:pt x="7886" y="2585"/>
                  </a:cubicBezTo>
                  <a:cubicBezTo>
                    <a:pt x="7901" y="2527"/>
                    <a:pt x="7930" y="2469"/>
                    <a:pt x="7973" y="2425"/>
                  </a:cubicBezTo>
                  <a:cubicBezTo>
                    <a:pt x="7988" y="2411"/>
                    <a:pt x="8002" y="2396"/>
                    <a:pt x="8017" y="2396"/>
                  </a:cubicBezTo>
                  <a:lnTo>
                    <a:pt x="8031" y="2396"/>
                  </a:lnTo>
                  <a:lnTo>
                    <a:pt x="8075" y="2353"/>
                  </a:lnTo>
                  <a:cubicBezTo>
                    <a:pt x="8118" y="2324"/>
                    <a:pt x="8147" y="2280"/>
                    <a:pt x="8176" y="2237"/>
                  </a:cubicBezTo>
                  <a:cubicBezTo>
                    <a:pt x="8176" y="2208"/>
                    <a:pt x="8191" y="2193"/>
                    <a:pt x="8205" y="2164"/>
                  </a:cubicBezTo>
                  <a:cubicBezTo>
                    <a:pt x="8205" y="2150"/>
                    <a:pt x="8220" y="2121"/>
                    <a:pt x="8220" y="2092"/>
                  </a:cubicBezTo>
                  <a:cubicBezTo>
                    <a:pt x="8249" y="1947"/>
                    <a:pt x="8220" y="1802"/>
                    <a:pt x="8133" y="1686"/>
                  </a:cubicBezTo>
                  <a:cubicBezTo>
                    <a:pt x="8017" y="1555"/>
                    <a:pt x="7915" y="1439"/>
                    <a:pt x="7799" y="1323"/>
                  </a:cubicBezTo>
                  <a:cubicBezTo>
                    <a:pt x="7683" y="1207"/>
                    <a:pt x="7567" y="1092"/>
                    <a:pt x="7437" y="990"/>
                  </a:cubicBezTo>
                  <a:cubicBezTo>
                    <a:pt x="7352" y="926"/>
                    <a:pt x="7244" y="886"/>
                    <a:pt x="7135" y="886"/>
                  </a:cubicBezTo>
                  <a:cubicBezTo>
                    <a:pt x="7095" y="886"/>
                    <a:pt x="7055" y="891"/>
                    <a:pt x="7016" y="903"/>
                  </a:cubicBezTo>
                  <a:lnTo>
                    <a:pt x="6958" y="918"/>
                  </a:lnTo>
                  <a:cubicBezTo>
                    <a:pt x="6886" y="947"/>
                    <a:pt x="6828" y="990"/>
                    <a:pt x="6770" y="1048"/>
                  </a:cubicBezTo>
                  <a:cubicBezTo>
                    <a:pt x="6755" y="1063"/>
                    <a:pt x="6741" y="1077"/>
                    <a:pt x="6726" y="1092"/>
                  </a:cubicBezTo>
                  <a:cubicBezTo>
                    <a:pt x="6668" y="1178"/>
                    <a:pt x="6596" y="1236"/>
                    <a:pt x="6509" y="1265"/>
                  </a:cubicBezTo>
                  <a:cubicBezTo>
                    <a:pt x="6466" y="1280"/>
                    <a:pt x="6437" y="1294"/>
                    <a:pt x="6408" y="1294"/>
                  </a:cubicBezTo>
                  <a:lnTo>
                    <a:pt x="6263" y="1294"/>
                  </a:lnTo>
                  <a:cubicBezTo>
                    <a:pt x="6234" y="1294"/>
                    <a:pt x="6205" y="1280"/>
                    <a:pt x="6190" y="1280"/>
                  </a:cubicBezTo>
                  <a:lnTo>
                    <a:pt x="6132" y="1251"/>
                  </a:lnTo>
                  <a:lnTo>
                    <a:pt x="6074" y="1222"/>
                  </a:lnTo>
                  <a:cubicBezTo>
                    <a:pt x="6045" y="1207"/>
                    <a:pt x="6016" y="1193"/>
                    <a:pt x="5987" y="1193"/>
                  </a:cubicBezTo>
                  <a:cubicBezTo>
                    <a:pt x="5944" y="1178"/>
                    <a:pt x="5871" y="1149"/>
                    <a:pt x="5828" y="1121"/>
                  </a:cubicBezTo>
                  <a:cubicBezTo>
                    <a:pt x="5625" y="1048"/>
                    <a:pt x="5494" y="845"/>
                    <a:pt x="5509" y="628"/>
                  </a:cubicBezTo>
                  <a:lnTo>
                    <a:pt x="5509" y="599"/>
                  </a:lnTo>
                  <a:cubicBezTo>
                    <a:pt x="5552" y="338"/>
                    <a:pt x="5378" y="106"/>
                    <a:pt x="5132" y="48"/>
                  </a:cubicBezTo>
                  <a:cubicBezTo>
                    <a:pt x="5117" y="33"/>
                    <a:pt x="5103" y="33"/>
                    <a:pt x="5088" y="33"/>
                  </a:cubicBezTo>
                  <a:cubicBezTo>
                    <a:pt x="4922" y="12"/>
                    <a:pt x="4755" y="1"/>
                    <a:pt x="45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6"/>
            <p:cNvSpPr/>
            <p:nvPr/>
          </p:nvSpPr>
          <p:spPr>
            <a:xfrm>
              <a:off x="4613946" y="697900"/>
              <a:ext cx="4028811" cy="3329952"/>
            </a:xfrm>
            <a:custGeom>
              <a:rect b="b" l="l" r="r" t="t"/>
              <a:pathLst>
                <a:path extrusionOk="0" h="35317" w="42729">
                  <a:moveTo>
                    <a:pt x="19690" y="1"/>
                  </a:moveTo>
                  <a:cubicBezTo>
                    <a:pt x="18145" y="1"/>
                    <a:pt x="16885" y="1260"/>
                    <a:pt x="16885" y="2834"/>
                  </a:cubicBezTo>
                  <a:lnTo>
                    <a:pt x="16885" y="6898"/>
                  </a:lnTo>
                  <a:cubicBezTo>
                    <a:pt x="16885" y="7356"/>
                    <a:pt x="16513" y="7728"/>
                    <a:pt x="16084" y="7728"/>
                  </a:cubicBezTo>
                  <a:cubicBezTo>
                    <a:pt x="15626" y="7728"/>
                    <a:pt x="15283" y="7356"/>
                    <a:pt x="15283" y="6898"/>
                  </a:cubicBezTo>
                  <a:lnTo>
                    <a:pt x="15283" y="6383"/>
                  </a:lnTo>
                  <a:cubicBezTo>
                    <a:pt x="15283" y="4837"/>
                    <a:pt x="14024" y="3607"/>
                    <a:pt x="12507" y="3607"/>
                  </a:cubicBezTo>
                  <a:cubicBezTo>
                    <a:pt x="10961" y="3607"/>
                    <a:pt x="9702" y="4837"/>
                    <a:pt x="9702" y="6383"/>
                  </a:cubicBezTo>
                  <a:lnTo>
                    <a:pt x="9702" y="16800"/>
                  </a:lnTo>
                  <a:cubicBezTo>
                    <a:pt x="9702" y="17201"/>
                    <a:pt x="9387" y="17515"/>
                    <a:pt x="8987" y="17515"/>
                  </a:cubicBezTo>
                  <a:cubicBezTo>
                    <a:pt x="8615" y="17515"/>
                    <a:pt x="8271" y="17201"/>
                    <a:pt x="8271" y="16800"/>
                  </a:cubicBezTo>
                  <a:lnTo>
                    <a:pt x="8271" y="16113"/>
                  </a:lnTo>
                  <a:cubicBezTo>
                    <a:pt x="8271" y="15026"/>
                    <a:pt x="7413" y="14138"/>
                    <a:pt x="6325" y="14138"/>
                  </a:cubicBezTo>
                  <a:cubicBezTo>
                    <a:pt x="5237" y="14138"/>
                    <a:pt x="4350" y="15026"/>
                    <a:pt x="4379" y="16113"/>
                  </a:cubicBezTo>
                  <a:lnTo>
                    <a:pt x="4379" y="22467"/>
                  </a:lnTo>
                  <a:cubicBezTo>
                    <a:pt x="4379" y="22839"/>
                    <a:pt x="4035" y="23182"/>
                    <a:pt x="3663" y="23182"/>
                  </a:cubicBezTo>
                  <a:cubicBezTo>
                    <a:pt x="3263" y="23182"/>
                    <a:pt x="2948" y="22839"/>
                    <a:pt x="2948" y="22467"/>
                  </a:cubicBezTo>
                  <a:cubicBezTo>
                    <a:pt x="2948" y="21637"/>
                    <a:pt x="2261" y="20978"/>
                    <a:pt x="1460" y="20978"/>
                  </a:cubicBezTo>
                  <a:cubicBezTo>
                    <a:pt x="658" y="20978"/>
                    <a:pt x="0" y="21637"/>
                    <a:pt x="0" y="22467"/>
                  </a:cubicBezTo>
                  <a:lnTo>
                    <a:pt x="0" y="35317"/>
                  </a:lnTo>
                  <a:lnTo>
                    <a:pt x="42729" y="35317"/>
                  </a:lnTo>
                  <a:lnTo>
                    <a:pt x="42729" y="22839"/>
                  </a:lnTo>
                  <a:cubicBezTo>
                    <a:pt x="42729" y="21808"/>
                    <a:pt x="41899" y="20978"/>
                    <a:pt x="40897" y="20978"/>
                  </a:cubicBezTo>
                  <a:cubicBezTo>
                    <a:pt x="39867" y="20978"/>
                    <a:pt x="39037" y="21808"/>
                    <a:pt x="39037" y="22839"/>
                  </a:cubicBezTo>
                  <a:lnTo>
                    <a:pt x="39037" y="23497"/>
                  </a:lnTo>
                  <a:cubicBezTo>
                    <a:pt x="39037" y="23955"/>
                    <a:pt x="38665" y="24298"/>
                    <a:pt x="38235" y="24298"/>
                  </a:cubicBezTo>
                  <a:cubicBezTo>
                    <a:pt x="37806" y="24298"/>
                    <a:pt x="37434" y="23955"/>
                    <a:pt x="37434" y="23497"/>
                  </a:cubicBezTo>
                  <a:lnTo>
                    <a:pt x="37434" y="10990"/>
                  </a:lnTo>
                  <a:cubicBezTo>
                    <a:pt x="37434" y="9702"/>
                    <a:pt x="36375" y="8644"/>
                    <a:pt x="35087" y="8644"/>
                  </a:cubicBezTo>
                  <a:cubicBezTo>
                    <a:pt x="33799" y="8644"/>
                    <a:pt x="32741" y="9702"/>
                    <a:pt x="32741" y="10990"/>
                  </a:cubicBezTo>
                  <a:lnTo>
                    <a:pt x="32741" y="11763"/>
                  </a:lnTo>
                  <a:cubicBezTo>
                    <a:pt x="32741" y="12479"/>
                    <a:pt x="32168" y="13022"/>
                    <a:pt x="31481" y="13022"/>
                  </a:cubicBezTo>
                  <a:cubicBezTo>
                    <a:pt x="30766" y="13022"/>
                    <a:pt x="30222" y="12479"/>
                    <a:pt x="30222" y="11763"/>
                  </a:cubicBezTo>
                  <a:lnTo>
                    <a:pt x="30222" y="5324"/>
                  </a:lnTo>
                  <a:cubicBezTo>
                    <a:pt x="30222" y="3807"/>
                    <a:pt x="28963" y="2548"/>
                    <a:pt x="27446" y="2548"/>
                  </a:cubicBezTo>
                  <a:cubicBezTo>
                    <a:pt x="25901" y="2548"/>
                    <a:pt x="24641" y="3807"/>
                    <a:pt x="24641" y="5324"/>
                  </a:cubicBezTo>
                  <a:lnTo>
                    <a:pt x="24641" y="5696"/>
                  </a:lnTo>
                  <a:cubicBezTo>
                    <a:pt x="24641" y="6268"/>
                    <a:pt x="24155" y="6755"/>
                    <a:pt x="23582" y="6755"/>
                  </a:cubicBezTo>
                  <a:cubicBezTo>
                    <a:pt x="22981" y="6755"/>
                    <a:pt x="22495" y="6268"/>
                    <a:pt x="22495" y="5696"/>
                  </a:cubicBezTo>
                  <a:lnTo>
                    <a:pt x="22495" y="2834"/>
                  </a:lnTo>
                  <a:cubicBezTo>
                    <a:pt x="22495" y="1260"/>
                    <a:pt x="21236" y="1"/>
                    <a:pt x="196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6"/>
            <p:cNvSpPr/>
            <p:nvPr/>
          </p:nvSpPr>
          <p:spPr>
            <a:xfrm>
              <a:off x="4476284" y="4168083"/>
              <a:ext cx="4228512" cy="91836"/>
            </a:xfrm>
            <a:custGeom>
              <a:rect b="b" l="l" r="r" t="t"/>
              <a:pathLst>
                <a:path extrusionOk="0" h="974" w="44847">
                  <a:moveTo>
                    <a:pt x="659" y="1"/>
                  </a:moveTo>
                  <a:cubicBezTo>
                    <a:pt x="1" y="1"/>
                    <a:pt x="1" y="974"/>
                    <a:pt x="659" y="974"/>
                  </a:cubicBezTo>
                  <a:lnTo>
                    <a:pt x="44360" y="974"/>
                  </a:lnTo>
                  <a:cubicBezTo>
                    <a:pt x="44618" y="974"/>
                    <a:pt x="44847" y="745"/>
                    <a:pt x="44847" y="487"/>
                  </a:cubicBezTo>
                  <a:cubicBezTo>
                    <a:pt x="44847" y="201"/>
                    <a:pt x="44618" y="1"/>
                    <a:pt x="443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6"/>
            <p:cNvSpPr/>
            <p:nvPr/>
          </p:nvSpPr>
          <p:spPr>
            <a:xfrm>
              <a:off x="4476284" y="4168083"/>
              <a:ext cx="1848506" cy="94570"/>
            </a:xfrm>
            <a:custGeom>
              <a:rect b="b" l="l" r="r" t="t"/>
              <a:pathLst>
                <a:path extrusionOk="0" h="1003" w="19605">
                  <a:moveTo>
                    <a:pt x="659" y="1"/>
                  </a:moveTo>
                  <a:cubicBezTo>
                    <a:pt x="1" y="1"/>
                    <a:pt x="1" y="1003"/>
                    <a:pt x="659" y="1003"/>
                  </a:cubicBezTo>
                  <a:lnTo>
                    <a:pt x="19605" y="1003"/>
                  </a:lnTo>
                  <a:lnTo>
                    <a:pt x="196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6"/>
            <p:cNvSpPr/>
            <p:nvPr/>
          </p:nvSpPr>
          <p:spPr>
            <a:xfrm>
              <a:off x="6222224" y="4120939"/>
              <a:ext cx="202435" cy="184238"/>
            </a:xfrm>
            <a:custGeom>
              <a:rect b="b" l="l" r="r" t="t"/>
              <a:pathLst>
                <a:path extrusionOk="0" h="1954" w="2147">
                  <a:moveTo>
                    <a:pt x="1073" y="0"/>
                  </a:moveTo>
                  <a:cubicBezTo>
                    <a:pt x="823" y="0"/>
                    <a:pt x="573" y="100"/>
                    <a:pt x="372" y="301"/>
                  </a:cubicBezTo>
                  <a:cubicBezTo>
                    <a:pt x="0" y="673"/>
                    <a:pt x="0" y="1302"/>
                    <a:pt x="372" y="1674"/>
                  </a:cubicBezTo>
                  <a:cubicBezTo>
                    <a:pt x="573" y="1860"/>
                    <a:pt x="823" y="1953"/>
                    <a:pt x="1073" y="1953"/>
                  </a:cubicBezTo>
                  <a:cubicBezTo>
                    <a:pt x="1324" y="1953"/>
                    <a:pt x="1574" y="1860"/>
                    <a:pt x="1775" y="1674"/>
                  </a:cubicBezTo>
                  <a:cubicBezTo>
                    <a:pt x="2147" y="1302"/>
                    <a:pt x="2147" y="673"/>
                    <a:pt x="1775" y="301"/>
                  </a:cubicBezTo>
                  <a:cubicBezTo>
                    <a:pt x="1574" y="100"/>
                    <a:pt x="1324" y="0"/>
                    <a:pt x="10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6"/>
            <p:cNvSpPr/>
            <p:nvPr/>
          </p:nvSpPr>
          <p:spPr>
            <a:xfrm>
              <a:off x="7638907" y="2002377"/>
              <a:ext cx="1430247" cy="2025484"/>
            </a:xfrm>
            <a:custGeom>
              <a:rect b="b" l="l" r="r" t="t"/>
              <a:pathLst>
                <a:path extrusionOk="0" h="21482" w="15169">
                  <a:moveTo>
                    <a:pt x="5892" y="0"/>
                  </a:moveTo>
                  <a:cubicBezTo>
                    <a:pt x="1137" y="0"/>
                    <a:pt x="0" y="21482"/>
                    <a:pt x="0" y="21482"/>
                  </a:cubicBezTo>
                  <a:lnTo>
                    <a:pt x="8701" y="21482"/>
                  </a:lnTo>
                  <a:cubicBezTo>
                    <a:pt x="8701" y="21482"/>
                    <a:pt x="15168" y="2364"/>
                    <a:pt x="12020" y="1706"/>
                  </a:cubicBezTo>
                  <a:cubicBezTo>
                    <a:pt x="11914" y="1683"/>
                    <a:pt x="11808" y="1672"/>
                    <a:pt x="11704" y="1672"/>
                  </a:cubicBezTo>
                  <a:cubicBezTo>
                    <a:pt x="8733" y="1672"/>
                    <a:pt x="6560" y="10641"/>
                    <a:pt x="6443" y="10641"/>
                  </a:cubicBezTo>
                  <a:cubicBezTo>
                    <a:pt x="6442" y="10641"/>
                    <a:pt x="6440" y="10639"/>
                    <a:pt x="6440" y="10635"/>
                  </a:cubicBezTo>
                  <a:cubicBezTo>
                    <a:pt x="6382" y="10320"/>
                    <a:pt x="9216" y="447"/>
                    <a:pt x="6125" y="17"/>
                  </a:cubicBezTo>
                  <a:cubicBezTo>
                    <a:pt x="6046" y="6"/>
                    <a:pt x="5969" y="0"/>
                    <a:pt x="58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6"/>
            <p:cNvSpPr/>
            <p:nvPr/>
          </p:nvSpPr>
          <p:spPr>
            <a:xfrm>
              <a:off x="5266893" y="1680100"/>
              <a:ext cx="2860494" cy="1856615"/>
            </a:xfrm>
            <a:custGeom>
              <a:rect b="b" l="l" r="r" t="t"/>
              <a:pathLst>
                <a:path extrusionOk="0" h="19691" w="30338">
                  <a:moveTo>
                    <a:pt x="3292" y="1"/>
                  </a:moveTo>
                  <a:cubicBezTo>
                    <a:pt x="1461" y="1"/>
                    <a:pt x="1" y="1461"/>
                    <a:pt x="1" y="3264"/>
                  </a:cubicBezTo>
                  <a:lnTo>
                    <a:pt x="1" y="16400"/>
                  </a:lnTo>
                  <a:cubicBezTo>
                    <a:pt x="1" y="18203"/>
                    <a:pt x="1461" y="19691"/>
                    <a:pt x="3292" y="19691"/>
                  </a:cubicBezTo>
                  <a:lnTo>
                    <a:pt x="27075" y="19691"/>
                  </a:lnTo>
                  <a:cubicBezTo>
                    <a:pt x="28878" y="19691"/>
                    <a:pt x="30337" y="18203"/>
                    <a:pt x="30337" y="16400"/>
                  </a:cubicBezTo>
                  <a:lnTo>
                    <a:pt x="30337" y="3264"/>
                  </a:lnTo>
                  <a:cubicBezTo>
                    <a:pt x="30337" y="1461"/>
                    <a:pt x="28878" y="1"/>
                    <a:pt x="270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6"/>
            <p:cNvSpPr/>
            <p:nvPr/>
          </p:nvSpPr>
          <p:spPr>
            <a:xfrm>
              <a:off x="5391071" y="1788060"/>
              <a:ext cx="2614875" cy="1495023"/>
            </a:xfrm>
            <a:custGeom>
              <a:rect b="b" l="l" r="r" t="t"/>
              <a:pathLst>
                <a:path extrusionOk="0" h="15856" w="27733">
                  <a:moveTo>
                    <a:pt x="0" y="1"/>
                  </a:moveTo>
                  <a:lnTo>
                    <a:pt x="0" y="15856"/>
                  </a:lnTo>
                  <a:lnTo>
                    <a:pt x="27732" y="15856"/>
                  </a:lnTo>
                  <a:lnTo>
                    <a:pt x="277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6"/>
            <p:cNvSpPr/>
            <p:nvPr/>
          </p:nvSpPr>
          <p:spPr>
            <a:xfrm>
              <a:off x="6176305" y="3536635"/>
              <a:ext cx="1041688" cy="302380"/>
            </a:xfrm>
            <a:custGeom>
              <a:rect b="b" l="l" r="r" t="t"/>
              <a:pathLst>
                <a:path extrusionOk="0" h="3207" w="11048">
                  <a:moveTo>
                    <a:pt x="1" y="1"/>
                  </a:moveTo>
                  <a:lnTo>
                    <a:pt x="1" y="3206"/>
                  </a:lnTo>
                  <a:lnTo>
                    <a:pt x="11048" y="3206"/>
                  </a:lnTo>
                  <a:lnTo>
                    <a:pt x="11048" y="1"/>
                  </a:lnTo>
                  <a:close/>
                </a:path>
              </a:pathLst>
            </a:custGeom>
            <a:solidFill>
              <a:srgbClr val="E3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6"/>
            <p:cNvSpPr/>
            <p:nvPr/>
          </p:nvSpPr>
          <p:spPr>
            <a:xfrm>
              <a:off x="5879485" y="3817331"/>
              <a:ext cx="1635322" cy="210544"/>
            </a:xfrm>
            <a:custGeom>
              <a:rect b="b" l="l" r="r" t="t"/>
              <a:pathLst>
                <a:path extrusionOk="0" h="2233" w="17344">
                  <a:moveTo>
                    <a:pt x="2261" y="0"/>
                  </a:moveTo>
                  <a:cubicBezTo>
                    <a:pt x="1031" y="0"/>
                    <a:pt x="1" y="1002"/>
                    <a:pt x="29" y="2233"/>
                  </a:cubicBezTo>
                  <a:lnTo>
                    <a:pt x="17344" y="2233"/>
                  </a:lnTo>
                  <a:cubicBezTo>
                    <a:pt x="17344" y="1002"/>
                    <a:pt x="16342" y="0"/>
                    <a:pt x="151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6"/>
            <p:cNvSpPr/>
            <p:nvPr/>
          </p:nvSpPr>
          <p:spPr>
            <a:xfrm>
              <a:off x="5987445" y="3479967"/>
              <a:ext cx="1432981" cy="110788"/>
            </a:xfrm>
            <a:custGeom>
              <a:rect b="b" l="l" r="r" t="t"/>
              <a:pathLst>
                <a:path extrusionOk="0" h="1175" w="15198">
                  <a:moveTo>
                    <a:pt x="716" y="1"/>
                  </a:moveTo>
                  <a:cubicBezTo>
                    <a:pt x="0" y="58"/>
                    <a:pt x="0" y="1117"/>
                    <a:pt x="716" y="1174"/>
                  </a:cubicBezTo>
                  <a:lnTo>
                    <a:pt x="14482" y="1174"/>
                  </a:lnTo>
                  <a:cubicBezTo>
                    <a:pt x="15197" y="1117"/>
                    <a:pt x="15197" y="58"/>
                    <a:pt x="14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6"/>
            <p:cNvSpPr/>
            <p:nvPr/>
          </p:nvSpPr>
          <p:spPr>
            <a:xfrm>
              <a:off x="5007883" y="3652703"/>
              <a:ext cx="688204" cy="375170"/>
            </a:xfrm>
            <a:custGeom>
              <a:rect b="b" l="l" r="r" t="t"/>
              <a:pathLst>
                <a:path extrusionOk="0" h="3979" w="7299">
                  <a:moveTo>
                    <a:pt x="1031" y="1"/>
                  </a:moveTo>
                  <a:cubicBezTo>
                    <a:pt x="487" y="1"/>
                    <a:pt x="1" y="458"/>
                    <a:pt x="1" y="1031"/>
                  </a:cubicBezTo>
                  <a:cubicBezTo>
                    <a:pt x="1" y="2662"/>
                    <a:pt x="1346" y="3979"/>
                    <a:pt x="2977" y="3979"/>
                  </a:cubicBezTo>
                  <a:lnTo>
                    <a:pt x="4322" y="3979"/>
                  </a:lnTo>
                  <a:cubicBezTo>
                    <a:pt x="5982" y="3979"/>
                    <a:pt x="7298" y="2662"/>
                    <a:pt x="7298" y="1031"/>
                  </a:cubicBezTo>
                  <a:cubicBezTo>
                    <a:pt x="7298" y="458"/>
                    <a:pt x="6841" y="1"/>
                    <a:pt x="62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6"/>
            <p:cNvSpPr/>
            <p:nvPr/>
          </p:nvSpPr>
          <p:spPr>
            <a:xfrm>
              <a:off x="4940466" y="3091217"/>
              <a:ext cx="831144" cy="561576"/>
            </a:xfrm>
            <a:custGeom>
              <a:rect b="b" l="l" r="r" t="t"/>
              <a:pathLst>
                <a:path extrusionOk="0" h="5956" w="8815">
                  <a:moveTo>
                    <a:pt x="4624" y="1"/>
                  </a:moveTo>
                  <a:cubicBezTo>
                    <a:pt x="4609" y="1"/>
                    <a:pt x="4594" y="2"/>
                    <a:pt x="4579" y="3"/>
                  </a:cubicBezTo>
                  <a:cubicBezTo>
                    <a:pt x="3492" y="60"/>
                    <a:pt x="3492" y="2951"/>
                    <a:pt x="3492" y="2951"/>
                  </a:cubicBezTo>
                  <a:cubicBezTo>
                    <a:pt x="3492" y="2951"/>
                    <a:pt x="2695" y="1756"/>
                    <a:pt x="2081" y="1756"/>
                  </a:cubicBezTo>
                  <a:cubicBezTo>
                    <a:pt x="1923" y="1756"/>
                    <a:pt x="1777" y="1835"/>
                    <a:pt x="1660" y="2035"/>
                  </a:cubicBezTo>
                  <a:cubicBezTo>
                    <a:pt x="1240" y="2714"/>
                    <a:pt x="1630" y="3394"/>
                    <a:pt x="1904" y="3742"/>
                  </a:cubicBezTo>
                  <a:lnTo>
                    <a:pt x="1904" y="3742"/>
                  </a:lnTo>
                  <a:cubicBezTo>
                    <a:pt x="1716" y="3560"/>
                    <a:pt x="1428" y="3341"/>
                    <a:pt x="1125" y="3341"/>
                  </a:cubicBezTo>
                  <a:cubicBezTo>
                    <a:pt x="959" y="3341"/>
                    <a:pt x="789" y="3407"/>
                    <a:pt x="630" y="3580"/>
                  </a:cubicBezTo>
                  <a:cubicBezTo>
                    <a:pt x="0" y="4296"/>
                    <a:pt x="2375" y="5927"/>
                    <a:pt x="2375" y="5927"/>
                  </a:cubicBezTo>
                  <a:lnTo>
                    <a:pt x="5924" y="5956"/>
                  </a:lnTo>
                  <a:cubicBezTo>
                    <a:pt x="5924" y="5956"/>
                    <a:pt x="8815" y="3552"/>
                    <a:pt x="8099" y="3094"/>
                  </a:cubicBezTo>
                  <a:cubicBezTo>
                    <a:pt x="7981" y="3013"/>
                    <a:pt x="7858" y="2980"/>
                    <a:pt x="7734" y="2980"/>
                  </a:cubicBezTo>
                  <a:cubicBezTo>
                    <a:pt x="7106" y="2980"/>
                    <a:pt x="6468" y="3838"/>
                    <a:pt x="6468" y="3838"/>
                  </a:cubicBezTo>
                  <a:cubicBezTo>
                    <a:pt x="6468" y="3838"/>
                    <a:pt x="8357" y="1262"/>
                    <a:pt x="7241" y="1062"/>
                  </a:cubicBezTo>
                  <a:cubicBezTo>
                    <a:pt x="7183" y="1050"/>
                    <a:pt x="7125" y="1044"/>
                    <a:pt x="7069" y="1044"/>
                  </a:cubicBezTo>
                  <a:cubicBezTo>
                    <a:pt x="6038" y="1044"/>
                    <a:pt x="5266" y="2922"/>
                    <a:pt x="5266" y="2922"/>
                  </a:cubicBezTo>
                  <a:cubicBezTo>
                    <a:pt x="5266" y="2922"/>
                    <a:pt x="5655" y="1"/>
                    <a:pt x="46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6"/>
            <p:cNvSpPr/>
            <p:nvPr/>
          </p:nvSpPr>
          <p:spPr>
            <a:xfrm>
              <a:off x="4398025" y="3999590"/>
              <a:ext cx="4368906" cy="57704"/>
            </a:xfrm>
            <a:custGeom>
              <a:rect b="b" l="l" r="r" t="t"/>
              <a:pathLst>
                <a:path extrusionOk="0" h="612" w="46336">
                  <a:moveTo>
                    <a:pt x="1060" y="1"/>
                  </a:moveTo>
                  <a:cubicBezTo>
                    <a:pt x="859" y="1"/>
                    <a:pt x="659" y="4"/>
                    <a:pt x="459" y="13"/>
                  </a:cubicBezTo>
                  <a:lnTo>
                    <a:pt x="401" y="13"/>
                  </a:lnTo>
                  <a:cubicBezTo>
                    <a:pt x="1" y="13"/>
                    <a:pt x="1" y="586"/>
                    <a:pt x="401" y="586"/>
                  </a:cubicBezTo>
                  <a:lnTo>
                    <a:pt x="44103" y="586"/>
                  </a:lnTo>
                  <a:cubicBezTo>
                    <a:pt x="44484" y="586"/>
                    <a:pt x="44879" y="611"/>
                    <a:pt x="45277" y="611"/>
                  </a:cubicBezTo>
                  <a:cubicBezTo>
                    <a:pt x="45477" y="611"/>
                    <a:pt x="45677" y="605"/>
                    <a:pt x="45877" y="586"/>
                  </a:cubicBezTo>
                  <a:lnTo>
                    <a:pt x="45963" y="586"/>
                  </a:lnTo>
                  <a:cubicBezTo>
                    <a:pt x="46335" y="586"/>
                    <a:pt x="46335" y="13"/>
                    <a:pt x="45963" y="13"/>
                  </a:cubicBezTo>
                  <a:lnTo>
                    <a:pt x="2262" y="13"/>
                  </a:lnTo>
                  <a:cubicBezTo>
                    <a:pt x="1861" y="13"/>
                    <a:pt x="1460" y="1"/>
                    <a:pt x="10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6" name="Google Shape;326;p36"/>
            <p:cNvGrpSpPr/>
            <p:nvPr/>
          </p:nvGrpSpPr>
          <p:grpSpPr>
            <a:xfrm>
              <a:off x="5887555" y="1894040"/>
              <a:ext cx="1635387" cy="1330888"/>
              <a:chOff x="2357113" y="709250"/>
              <a:chExt cx="2171252" cy="1766978"/>
            </a:xfrm>
          </p:grpSpPr>
          <p:sp>
            <p:nvSpPr>
              <p:cNvPr id="327" name="Google Shape;327;p36"/>
              <p:cNvSpPr/>
              <p:nvPr/>
            </p:nvSpPr>
            <p:spPr>
              <a:xfrm>
                <a:off x="3734270" y="747515"/>
                <a:ext cx="491253" cy="292716"/>
              </a:xfrm>
              <a:custGeom>
                <a:rect b="b" l="l" r="r" t="t"/>
                <a:pathLst>
                  <a:path extrusionOk="0" h="6701" w="11246">
                    <a:moveTo>
                      <a:pt x="7977" y="2830"/>
                    </a:moveTo>
                    <a:cubicBezTo>
                      <a:pt x="9146" y="3597"/>
                      <a:pt x="10917" y="4272"/>
                      <a:pt x="11190" y="5787"/>
                    </a:cubicBezTo>
                    <a:cubicBezTo>
                      <a:pt x="11245" y="6079"/>
                      <a:pt x="11209" y="6390"/>
                      <a:pt x="11117" y="6700"/>
                    </a:cubicBezTo>
                    <a:cubicBezTo>
                      <a:pt x="7485" y="4875"/>
                      <a:pt x="3706" y="3159"/>
                      <a:pt x="0" y="1406"/>
                    </a:cubicBezTo>
                    <a:cubicBezTo>
                      <a:pt x="164" y="968"/>
                      <a:pt x="511" y="639"/>
                      <a:pt x="931" y="493"/>
                    </a:cubicBezTo>
                    <a:cubicBezTo>
                      <a:pt x="2209" y="0"/>
                      <a:pt x="3907" y="968"/>
                      <a:pt x="4911" y="1333"/>
                    </a:cubicBezTo>
                    <a:cubicBezTo>
                      <a:pt x="5257" y="767"/>
                      <a:pt x="5714" y="329"/>
                      <a:pt x="6499" y="329"/>
                    </a:cubicBezTo>
                    <a:cubicBezTo>
                      <a:pt x="7722" y="366"/>
                      <a:pt x="8525" y="1570"/>
                      <a:pt x="7977" y="28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36"/>
              <p:cNvSpPr/>
              <p:nvPr/>
            </p:nvSpPr>
            <p:spPr>
              <a:xfrm>
                <a:off x="3960717" y="796963"/>
                <a:ext cx="124451" cy="106891"/>
              </a:xfrm>
              <a:custGeom>
                <a:rect b="b" l="l" r="r" t="t"/>
                <a:pathLst>
                  <a:path extrusionOk="0" h="2447" w="2849">
                    <a:moveTo>
                      <a:pt x="1516" y="19"/>
                    </a:moveTo>
                    <a:cubicBezTo>
                      <a:pt x="2848" y="55"/>
                      <a:pt x="2319" y="2446"/>
                      <a:pt x="1004" y="1935"/>
                    </a:cubicBezTo>
                    <a:cubicBezTo>
                      <a:pt x="0" y="1552"/>
                      <a:pt x="585" y="0"/>
                      <a:pt x="151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36"/>
              <p:cNvSpPr/>
              <p:nvPr/>
            </p:nvSpPr>
            <p:spPr>
              <a:xfrm>
                <a:off x="3015791" y="723578"/>
                <a:ext cx="1337296" cy="1547059"/>
              </a:xfrm>
              <a:custGeom>
                <a:rect b="b" l="l" r="r" t="t"/>
                <a:pathLst>
                  <a:path extrusionOk="0" h="35416" w="30614">
                    <a:moveTo>
                      <a:pt x="9274" y="4948"/>
                    </a:moveTo>
                    <a:cubicBezTo>
                      <a:pt x="9456" y="4473"/>
                      <a:pt x="9767" y="3761"/>
                      <a:pt x="10095" y="3068"/>
                    </a:cubicBezTo>
                    <a:cubicBezTo>
                      <a:pt x="10771" y="1644"/>
                      <a:pt x="11337" y="1"/>
                      <a:pt x="12614" y="56"/>
                    </a:cubicBezTo>
                    <a:cubicBezTo>
                      <a:pt x="13235" y="92"/>
                      <a:pt x="14075" y="402"/>
                      <a:pt x="14896" y="731"/>
                    </a:cubicBezTo>
                    <a:cubicBezTo>
                      <a:pt x="15718" y="1041"/>
                      <a:pt x="16466" y="1461"/>
                      <a:pt x="17215" y="1808"/>
                    </a:cubicBezTo>
                    <a:cubicBezTo>
                      <a:pt x="20482" y="3378"/>
                      <a:pt x="22837" y="4820"/>
                      <a:pt x="26233" y="6317"/>
                    </a:cubicBezTo>
                    <a:cubicBezTo>
                      <a:pt x="26981" y="6646"/>
                      <a:pt x="27748" y="7047"/>
                      <a:pt x="28478" y="7431"/>
                    </a:cubicBezTo>
                    <a:cubicBezTo>
                      <a:pt x="29482" y="7978"/>
                      <a:pt x="30559" y="8471"/>
                      <a:pt x="30596" y="9347"/>
                    </a:cubicBezTo>
                    <a:cubicBezTo>
                      <a:pt x="30614" y="9767"/>
                      <a:pt x="30267" y="10333"/>
                      <a:pt x="30048" y="10917"/>
                    </a:cubicBezTo>
                    <a:cubicBezTo>
                      <a:pt x="29811" y="11501"/>
                      <a:pt x="29500" y="12031"/>
                      <a:pt x="29281" y="12506"/>
                    </a:cubicBezTo>
                    <a:cubicBezTo>
                      <a:pt x="28734" y="13637"/>
                      <a:pt x="28223" y="14678"/>
                      <a:pt x="27766" y="15645"/>
                    </a:cubicBezTo>
                    <a:cubicBezTo>
                      <a:pt x="26653" y="17964"/>
                      <a:pt x="25813" y="19990"/>
                      <a:pt x="24845" y="22199"/>
                    </a:cubicBezTo>
                    <a:cubicBezTo>
                      <a:pt x="23933" y="24298"/>
                      <a:pt x="23056" y="26562"/>
                      <a:pt x="22016" y="28771"/>
                    </a:cubicBezTo>
                    <a:cubicBezTo>
                      <a:pt x="21121" y="30651"/>
                      <a:pt x="20263" y="33353"/>
                      <a:pt x="18876" y="34503"/>
                    </a:cubicBezTo>
                    <a:cubicBezTo>
                      <a:pt x="17762" y="35416"/>
                      <a:pt x="16247" y="34850"/>
                      <a:pt x="14458" y="34138"/>
                    </a:cubicBezTo>
                    <a:cubicBezTo>
                      <a:pt x="10935" y="32732"/>
                      <a:pt x="7886" y="31016"/>
                      <a:pt x="4637" y="29483"/>
                    </a:cubicBezTo>
                    <a:cubicBezTo>
                      <a:pt x="3870" y="29118"/>
                      <a:pt x="2958" y="28734"/>
                      <a:pt x="2154" y="28333"/>
                    </a:cubicBezTo>
                    <a:cubicBezTo>
                      <a:pt x="1223" y="27876"/>
                      <a:pt x="329" y="27347"/>
                      <a:pt x="164" y="26781"/>
                    </a:cubicBezTo>
                    <a:cubicBezTo>
                      <a:pt x="0" y="26233"/>
                      <a:pt x="457" y="25138"/>
                      <a:pt x="876" y="24207"/>
                    </a:cubicBezTo>
                    <a:cubicBezTo>
                      <a:pt x="1296" y="23221"/>
                      <a:pt x="1753" y="22308"/>
                      <a:pt x="2136" y="21487"/>
                    </a:cubicBezTo>
                    <a:cubicBezTo>
                      <a:pt x="4637" y="16138"/>
                      <a:pt x="6882" y="10406"/>
                      <a:pt x="9256" y="5003"/>
                    </a:cubicBezTo>
                    <a:cubicBezTo>
                      <a:pt x="9256" y="4984"/>
                      <a:pt x="9274" y="4966"/>
                      <a:pt x="9274" y="494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36"/>
              <p:cNvSpPr/>
              <p:nvPr/>
            </p:nvSpPr>
            <p:spPr>
              <a:xfrm>
                <a:off x="3142556" y="1637446"/>
                <a:ext cx="52681" cy="77362"/>
              </a:xfrm>
              <a:custGeom>
                <a:rect b="b" l="l" r="r" t="t"/>
                <a:pathLst>
                  <a:path extrusionOk="0" h="1771" w="1206">
                    <a:moveTo>
                      <a:pt x="1206" y="128"/>
                    </a:moveTo>
                    <a:cubicBezTo>
                      <a:pt x="1206" y="420"/>
                      <a:pt x="950" y="876"/>
                      <a:pt x="658" y="1296"/>
                    </a:cubicBezTo>
                    <a:cubicBezTo>
                      <a:pt x="548" y="1479"/>
                      <a:pt x="348" y="1771"/>
                      <a:pt x="165" y="1680"/>
                    </a:cubicBezTo>
                    <a:cubicBezTo>
                      <a:pt x="1" y="1588"/>
                      <a:pt x="129" y="1205"/>
                      <a:pt x="202" y="1077"/>
                    </a:cubicBezTo>
                    <a:cubicBezTo>
                      <a:pt x="384" y="676"/>
                      <a:pt x="640" y="310"/>
                      <a:pt x="968" y="18"/>
                    </a:cubicBezTo>
                    <a:cubicBezTo>
                      <a:pt x="1060" y="0"/>
                      <a:pt x="1151" y="55"/>
                      <a:pt x="1206" y="12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36"/>
              <p:cNvSpPr/>
              <p:nvPr/>
            </p:nvSpPr>
            <p:spPr>
              <a:xfrm>
                <a:off x="3168896" y="1703624"/>
                <a:ext cx="42285" cy="50279"/>
              </a:xfrm>
              <a:custGeom>
                <a:rect b="b" l="l" r="r" t="t"/>
                <a:pathLst>
                  <a:path extrusionOk="0" h="1151" w="968">
                    <a:moveTo>
                      <a:pt x="493" y="37"/>
                    </a:moveTo>
                    <a:cubicBezTo>
                      <a:pt x="968" y="165"/>
                      <a:pt x="493" y="1150"/>
                      <a:pt x="146" y="931"/>
                    </a:cubicBezTo>
                    <a:cubicBezTo>
                      <a:pt x="0" y="822"/>
                      <a:pt x="55" y="274"/>
                      <a:pt x="237" y="92"/>
                    </a:cubicBezTo>
                    <a:cubicBezTo>
                      <a:pt x="311" y="19"/>
                      <a:pt x="402" y="0"/>
                      <a:pt x="493" y="3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36"/>
              <p:cNvSpPr/>
              <p:nvPr/>
            </p:nvSpPr>
            <p:spPr>
              <a:xfrm>
                <a:off x="3103504" y="1804092"/>
                <a:ext cx="27127" cy="50279"/>
              </a:xfrm>
              <a:custGeom>
                <a:rect b="b" l="l" r="r" t="t"/>
                <a:pathLst>
                  <a:path extrusionOk="0" h="1151" w="621">
                    <a:moveTo>
                      <a:pt x="384" y="37"/>
                    </a:moveTo>
                    <a:cubicBezTo>
                      <a:pt x="566" y="73"/>
                      <a:pt x="621" y="329"/>
                      <a:pt x="566" y="566"/>
                    </a:cubicBezTo>
                    <a:cubicBezTo>
                      <a:pt x="548" y="767"/>
                      <a:pt x="384" y="1150"/>
                      <a:pt x="183" y="1041"/>
                    </a:cubicBezTo>
                    <a:cubicBezTo>
                      <a:pt x="55" y="931"/>
                      <a:pt x="0" y="749"/>
                      <a:pt x="37" y="585"/>
                    </a:cubicBezTo>
                    <a:cubicBezTo>
                      <a:pt x="73" y="329"/>
                      <a:pt x="165" y="0"/>
                      <a:pt x="384" y="3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36"/>
              <p:cNvSpPr/>
              <p:nvPr/>
            </p:nvSpPr>
            <p:spPr>
              <a:xfrm>
                <a:off x="3179249" y="887865"/>
                <a:ext cx="1011163" cy="1217693"/>
              </a:xfrm>
              <a:custGeom>
                <a:rect b="b" l="l" r="r" t="t"/>
                <a:pathLst>
                  <a:path extrusionOk="0" h="27876" w="23148">
                    <a:moveTo>
                      <a:pt x="7485" y="3962"/>
                    </a:moveTo>
                    <a:cubicBezTo>
                      <a:pt x="7631" y="3597"/>
                      <a:pt x="7887" y="3012"/>
                      <a:pt x="8161" y="2465"/>
                    </a:cubicBezTo>
                    <a:cubicBezTo>
                      <a:pt x="8690" y="1315"/>
                      <a:pt x="9146" y="0"/>
                      <a:pt x="10096" y="0"/>
                    </a:cubicBezTo>
                    <a:cubicBezTo>
                      <a:pt x="10570" y="0"/>
                      <a:pt x="11173" y="219"/>
                      <a:pt x="11757" y="457"/>
                    </a:cubicBezTo>
                    <a:cubicBezTo>
                      <a:pt x="12359" y="676"/>
                      <a:pt x="12907" y="986"/>
                      <a:pt x="13454" y="1260"/>
                    </a:cubicBezTo>
                    <a:cubicBezTo>
                      <a:pt x="15828" y="2392"/>
                      <a:pt x="17544" y="3469"/>
                      <a:pt x="20008" y="4564"/>
                    </a:cubicBezTo>
                    <a:cubicBezTo>
                      <a:pt x="20556" y="4801"/>
                      <a:pt x="21103" y="5093"/>
                      <a:pt x="21633" y="5386"/>
                    </a:cubicBezTo>
                    <a:cubicBezTo>
                      <a:pt x="22381" y="5787"/>
                      <a:pt x="23148" y="6134"/>
                      <a:pt x="23148" y="6846"/>
                    </a:cubicBezTo>
                    <a:cubicBezTo>
                      <a:pt x="23148" y="7175"/>
                      <a:pt x="22874" y="7631"/>
                      <a:pt x="22692" y="8106"/>
                    </a:cubicBezTo>
                    <a:cubicBezTo>
                      <a:pt x="22509" y="8580"/>
                      <a:pt x="22272" y="9000"/>
                      <a:pt x="22089" y="9383"/>
                    </a:cubicBezTo>
                    <a:cubicBezTo>
                      <a:pt x="21651" y="10296"/>
                      <a:pt x="21249" y="11136"/>
                      <a:pt x="20866" y="11921"/>
                    </a:cubicBezTo>
                    <a:cubicBezTo>
                      <a:pt x="19990" y="13783"/>
                      <a:pt x="19314" y="15426"/>
                      <a:pt x="18529" y="17197"/>
                    </a:cubicBezTo>
                    <a:cubicBezTo>
                      <a:pt x="17781" y="18894"/>
                      <a:pt x="17087" y="20720"/>
                      <a:pt x="16248" y="22491"/>
                    </a:cubicBezTo>
                    <a:cubicBezTo>
                      <a:pt x="15536" y="24006"/>
                      <a:pt x="14805" y="26178"/>
                      <a:pt x="13747" y="27127"/>
                    </a:cubicBezTo>
                    <a:cubicBezTo>
                      <a:pt x="12907" y="27876"/>
                      <a:pt x="11793" y="27474"/>
                      <a:pt x="10479" y="26963"/>
                    </a:cubicBezTo>
                    <a:cubicBezTo>
                      <a:pt x="7923" y="25941"/>
                      <a:pt x="5714" y="24663"/>
                      <a:pt x="3341" y="23549"/>
                    </a:cubicBezTo>
                    <a:cubicBezTo>
                      <a:pt x="2775" y="23276"/>
                      <a:pt x="2118" y="23002"/>
                      <a:pt x="1534" y="22691"/>
                    </a:cubicBezTo>
                    <a:cubicBezTo>
                      <a:pt x="858" y="22363"/>
                      <a:pt x="201" y="21979"/>
                      <a:pt x="110" y="21541"/>
                    </a:cubicBezTo>
                    <a:cubicBezTo>
                      <a:pt x="0" y="21103"/>
                      <a:pt x="384" y="20227"/>
                      <a:pt x="712" y="19460"/>
                    </a:cubicBezTo>
                    <a:cubicBezTo>
                      <a:pt x="1041" y="18712"/>
                      <a:pt x="1406" y="17945"/>
                      <a:pt x="1716" y="17288"/>
                    </a:cubicBezTo>
                    <a:cubicBezTo>
                      <a:pt x="3725" y="12980"/>
                      <a:pt x="5550" y="8361"/>
                      <a:pt x="7467" y="3998"/>
                    </a:cubicBezTo>
                    <a:cubicBezTo>
                      <a:pt x="7467" y="3998"/>
                      <a:pt x="7485" y="3980"/>
                      <a:pt x="7485" y="39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36"/>
              <p:cNvSpPr/>
              <p:nvPr/>
            </p:nvSpPr>
            <p:spPr>
              <a:xfrm>
                <a:off x="3597109" y="954829"/>
                <a:ext cx="116458" cy="110080"/>
              </a:xfrm>
              <a:custGeom>
                <a:rect b="b" l="l" r="r" t="t"/>
                <a:pathLst>
                  <a:path extrusionOk="0" h="2520" w="2666">
                    <a:moveTo>
                      <a:pt x="749" y="1297"/>
                    </a:moveTo>
                    <a:cubicBezTo>
                      <a:pt x="968" y="1133"/>
                      <a:pt x="1205" y="877"/>
                      <a:pt x="1461" y="658"/>
                    </a:cubicBezTo>
                    <a:cubicBezTo>
                      <a:pt x="1698" y="457"/>
                      <a:pt x="1972" y="147"/>
                      <a:pt x="2264" y="74"/>
                    </a:cubicBezTo>
                    <a:cubicBezTo>
                      <a:pt x="2410" y="19"/>
                      <a:pt x="2574" y="110"/>
                      <a:pt x="2629" y="256"/>
                    </a:cubicBezTo>
                    <a:cubicBezTo>
                      <a:pt x="2665" y="585"/>
                      <a:pt x="1972" y="1187"/>
                      <a:pt x="1826" y="1370"/>
                    </a:cubicBezTo>
                    <a:cubicBezTo>
                      <a:pt x="1552" y="1717"/>
                      <a:pt x="1260" y="2045"/>
                      <a:pt x="931" y="2337"/>
                    </a:cubicBezTo>
                    <a:cubicBezTo>
                      <a:pt x="785" y="2447"/>
                      <a:pt x="621" y="2502"/>
                      <a:pt x="457" y="2520"/>
                    </a:cubicBezTo>
                    <a:cubicBezTo>
                      <a:pt x="0" y="2465"/>
                      <a:pt x="0" y="1498"/>
                      <a:pt x="0" y="950"/>
                    </a:cubicBezTo>
                    <a:cubicBezTo>
                      <a:pt x="0" y="640"/>
                      <a:pt x="37" y="19"/>
                      <a:pt x="329" y="1"/>
                    </a:cubicBezTo>
                    <a:cubicBezTo>
                      <a:pt x="749" y="1"/>
                      <a:pt x="712" y="877"/>
                      <a:pt x="749" y="129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36"/>
              <p:cNvSpPr/>
              <p:nvPr/>
            </p:nvSpPr>
            <p:spPr>
              <a:xfrm>
                <a:off x="3444004" y="1271436"/>
                <a:ext cx="116458" cy="110080"/>
              </a:xfrm>
              <a:custGeom>
                <a:rect b="b" l="l" r="r" t="t"/>
                <a:pathLst>
                  <a:path extrusionOk="0" h="2520" w="2666">
                    <a:moveTo>
                      <a:pt x="749" y="1278"/>
                    </a:moveTo>
                    <a:cubicBezTo>
                      <a:pt x="968" y="1114"/>
                      <a:pt x="1205" y="876"/>
                      <a:pt x="1461" y="639"/>
                    </a:cubicBezTo>
                    <a:cubicBezTo>
                      <a:pt x="1698" y="456"/>
                      <a:pt x="1972" y="146"/>
                      <a:pt x="2264" y="55"/>
                    </a:cubicBezTo>
                    <a:cubicBezTo>
                      <a:pt x="2410" y="18"/>
                      <a:pt x="2574" y="110"/>
                      <a:pt x="2611" y="256"/>
                    </a:cubicBezTo>
                    <a:cubicBezTo>
                      <a:pt x="2665" y="566"/>
                      <a:pt x="1972" y="1187"/>
                      <a:pt x="1826" y="1351"/>
                    </a:cubicBezTo>
                    <a:cubicBezTo>
                      <a:pt x="1552" y="1716"/>
                      <a:pt x="1260" y="2026"/>
                      <a:pt x="931" y="2318"/>
                    </a:cubicBezTo>
                    <a:cubicBezTo>
                      <a:pt x="785" y="2428"/>
                      <a:pt x="621" y="2501"/>
                      <a:pt x="457" y="2519"/>
                    </a:cubicBezTo>
                    <a:cubicBezTo>
                      <a:pt x="0" y="2464"/>
                      <a:pt x="0" y="1497"/>
                      <a:pt x="0" y="949"/>
                    </a:cubicBezTo>
                    <a:cubicBezTo>
                      <a:pt x="0" y="639"/>
                      <a:pt x="37" y="18"/>
                      <a:pt x="329" y="0"/>
                    </a:cubicBezTo>
                    <a:cubicBezTo>
                      <a:pt x="749" y="0"/>
                      <a:pt x="712" y="876"/>
                      <a:pt x="749" y="127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36"/>
              <p:cNvSpPr/>
              <p:nvPr/>
            </p:nvSpPr>
            <p:spPr>
              <a:xfrm>
                <a:off x="3500616" y="1122306"/>
                <a:ext cx="126810" cy="106105"/>
              </a:xfrm>
              <a:custGeom>
                <a:rect b="b" l="l" r="r" t="t"/>
                <a:pathLst>
                  <a:path extrusionOk="0" h="2429" w="2903">
                    <a:moveTo>
                      <a:pt x="621" y="1406"/>
                    </a:moveTo>
                    <a:cubicBezTo>
                      <a:pt x="895" y="1223"/>
                      <a:pt x="1187" y="931"/>
                      <a:pt x="1534" y="676"/>
                    </a:cubicBezTo>
                    <a:cubicBezTo>
                      <a:pt x="1881" y="420"/>
                      <a:pt x="2209" y="128"/>
                      <a:pt x="2574" y="19"/>
                    </a:cubicBezTo>
                    <a:cubicBezTo>
                      <a:pt x="2702" y="0"/>
                      <a:pt x="2830" y="92"/>
                      <a:pt x="2866" y="219"/>
                    </a:cubicBezTo>
                    <a:cubicBezTo>
                      <a:pt x="2903" y="457"/>
                      <a:pt x="2465" y="785"/>
                      <a:pt x="2373" y="877"/>
                    </a:cubicBezTo>
                    <a:cubicBezTo>
                      <a:pt x="1990" y="1242"/>
                      <a:pt x="1570" y="1570"/>
                      <a:pt x="1150" y="1899"/>
                    </a:cubicBezTo>
                    <a:cubicBezTo>
                      <a:pt x="877" y="2100"/>
                      <a:pt x="365" y="2428"/>
                      <a:pt x="128" y="2008"/>
                    </a:cubicBezTo>
                    <a:cubicBezTo>
                      <a:pt x="0" y="1789"/>
                      <a:pt x="37" y="1260"/>
                      <a:pt x="73" y="895"/>
                    </a:cubicBezTo>
                    <a:cubicBezTo>
                      <a:pt x="110" y="548"/>
                      <a:pt x="219" y="219"/>
                      <a:pt x="457" y="292"/>
                    </a:cubicBezTo>
                    <a:cubicBezTo>
                      <a:pt x="712" y="365"/>
                      <a:pt x="603" y="1041"/>
                      <a:pt x="621" y="140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36"/>
              <p:cNvSpPr/>
              <p:nvPr/>
            </p:nvSpPr>
            <p:spPr>
              <a:xfrm>
                <a:off x="3293258" y="1576029"/>
                <a:ext cx="126068" cy="106105"/>
              </a:xfrm>
              <a:custGeom>
                <a:rect b="b" l="l" r="r" t="t"/>
                <a:pathLst>
                  <a:path extrusionOk="0" h="2429" w="2886">
                    <a:moveTo>
                      <a:pt x="603" y="1406"/>
                    </a:moveTo>
                    <a:cubicBezTo>
                      <a:pt x="877" y="1224"/>
                      <a:pt x="1188" y="913"/>
                      <a:pt x="1516" y="676"/>
                    </a:cubicBezTo>
                    <a:cubicBezTo>
                      <a:pt x="1863" y="420"/>
                      <a:pt x="2192" y="110"/>
                      <a:pt x="2557" y="19"/>
                    </a:cubicBezTo>
                    <a:cubicBezTo>
                      <a:pt x="2684" y="0"/>
                      <a:pt x="2812" y="73"/>
                      <a:pt x="2867" y="220"/>
                    </a:cubicBezTo>
                    <a:cubicBezTo>
                      <a:pt x="2885" y="457"/>
                      <a:pt x="2465" y="785"/>
                      <a:pt x="2374" y="858"/>
                    </a:cubicBezTo>
                    <a:cubicBezTo>
                      <a:pt x="1973" y="1224"/>
                      <a:pt x="1571" y="1570"/>
                      <a:pt x="1133" y="1899"/>
                    </a:cubicBezTo>
                    <a:cubicBezTo>
                      <a:pt x="859" y="2100"/>
                      <a:pt x="366" y="2428"/>
                      <a:pt x="129" y="2009"/>
                    </a:cubicBezTo>
                    <a:cubicBezTo>
                      <a:pt x="1" y="1771"/>
                      <a:pt x="19" y="1260"/>
                      <a:pt x="74" y="895"/>
                    </a:cubicBezTo>
                    <a:cubicBezTo>
                      <a:pt x="110" y="548"/>
                      <a:pt x="202" y="220"/>
                      <a:pt x="457" y="293"/>
                    </a:cubicBezTo>
                    <a:cubicBezTo>
                      <a:pt x="713" y="384"/>
                      <a:pt x="603" y="1041"/>
                      <a:pt x="603" y="140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36"/>
              <p:cNvSpPr/>
              <p:nvPr/>
            </p:nvSpPr>
            <p:spPr>
              <a:xfrm>
                <a:off x="3350700" y="1440484"/>
                <a:ext cx="110866" cy="104489"/>
              </a:xfrm>
              <a:custGeom>
                <a:rect b="b" l="l" r="r" t="t"/>
                <a:pathLst>
                  <a:path extrusionOk="0" h="2392" w="2538">
                    <a:moveTo>
                      <a:pt x="1716" y="0"/>
                    </a:moveTo>
                    <a:cubicBezTo>
                      <a:pt x="1534" y="0"/>
                      <a:pt x="1406" y="256"/>
                      <a:pt x="1278" y="511"/>
                    </a:cubicBezTo>
                    <a:lnTo>
                      <a:pt x="1223" y="621"/>
                    </a:lnTo>
                    <a:cubicBezTo>
                      <a:pt x="1187" y="676"/>
                      <a:pt x="1150" y="749"/>
                      <a:pt x="1114" y="822"/>
                    </a:cubicBezTo>
                    <a:lnTo>
                      <a:pt x="1041" y="785"/>
                    </a:lnTo>
                    <a:lnTo>
                      <a:pt x="895" y="730"/>
                    </a:lnTo>
                    <a:cubicBezTo>
                      <a:pt x="712" y="657"/>
                      <a:pt x="530" y="603"/>
                      <a:pt x="329" y="584"/>
                    </a:cubicBezTo>
                    <a:cubicBezTo>
                      <a:pt x="128" y="584"/>
                      <a:pt x="73" y="676"/>
                      <a:pt x="55" y="749"/>
                    </a:cubicBezTo>
                    <a:cubicBezTo>
                      <a:pt x="0" y="986"/>
                      <a:pt x="365" y="1205"/>
                      <a:pt x="840" y="1406"/>
                    </a:cubicBezTo>
                    <a:cubicBezTo>
                      <a:pt x="822" y="1461"/>
                      <a:pt x="804" y="1497"/>
                      <a:pt x="785" y="1552"/>
                    </a:cubicBezTo>
                    <a:cubicBezTo>
                      <a:pt x="658" y="1826"/>
                      <a:pt x="548" y="2118"/>
                      <a:pt x="621" y="2282"/>
                    </a:cubicBezTo>
                    <a:cubicBezTo>
                      <a:pt x="639" y="2337"/>
                      <a:pt x="694" y="2373"/>
                      <a:pt x="767" y="2392"/>
                    </a:cubicBezTo>
                    <a:lnTo>
                      <a:pt x="804" y="2392"/>
                    </a:lnTo>
                    <a:cubicBezTo>
                      <a:pt x="1023" y="2392"/>
                      <a:pt x="1242" y="2045"/>
                      <a:pt x="1461" y="1625"/>
                    </a:cubicBezTo>
                    <a:cubicBezTo>
                      <a:pt x="1607" y="1661"/>
                      <a:pt x="1753" y="1698"/>
                      <a:pt x="1881" y="1734"/>
                    </a:cubicBezTo>
                    <a:cubicBezTo>
                      <a:pt x="1972" y="1771"/>
                      <a:pt x="2081" y="1789"/>
                      <a:pt x="2191" y="1807"/>
                    </a:cubicBezTo>
                    <a:cubicBezTo>
                      <a:pt x="2392" y="1807"/>
                      <a:pt x="2465" y="1716"/>
                      <a:pt x="2501" y="1643"/>
                    </a:cubicBezTo>
                    <a:cubicBezTo>
                      <a:pt x="2538" y="1424"/>
                      <a:pt x="2246" y="1296"/>
                      <a:pt x="1972" y="1168"/>
                    </a:cubicBezTo>
                    <a:lnTo>
                      <a:pt x="1862" y="1132"/>
                    </a:lnTo>
                    <a:cubicBezTo>
                      <a:pt x="1808" y="1095"/>
                      <a:pt x="1753" y="1077"/>
                      <a:pt x="1698" y="1041"/>
                    </a:cubicBezTo>
                    <a:cubicBezTo>
                      <a:pt x="1753" y="895"/>
                      <a:pt x="1808" y="749"/>
                      <a:pt x="1844" y="621"/>
                    </a:cubicBezTo>
                    <a:cubicBezTo>
                      <a:pt x="1899" y="493"/>
                      <a:pt x="2027" y="91"/>
                      <a:pt x="17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36"/>
              <p:cNvSpPr/>
              <p:nvPr/>
            </p:nvSpPr>
            <p:spPr>
              <a:xfrm>
                <a:off x="3698364" y="1017032"/>
                <a:ext cx="429879" cy="256023"/>
              </a:xfrm>
              <a:custGeom>
                <a:rect b="b" l="l" r="r" t="t"/>
                <a:pathLst>
                  <a:path extrusionOk="0" h="5861" w="9841">
                    <a:moveTo>
                      <a:pt x="475" y="1"/>
                    </a:moveTo>
                    <a:lnTo>
                      <a:pt x="1" y="986"/>
                    </a:lnTo>
                    <a:cubicBezTo>
                      <a:pt x="201" y="1096"/>
                      <a:pt x="402" y="1187"/>
                      <a:pt x="585" y="1279"/>
                    </a:cubicBezTo>
                    <a:cubicBezTo>
                      <a:pt x="3195" y="2556"/>
                      <a:pt x="5696" y="4017"/>
                      <a:pt x="8215" y="5313"/>
                    </a:cubicBezTo>
                    <a:cubicBezTo>
                      <a:pt x="8544" y="5477"/>
                      <a:pt x="8946" y="5714"/>
                      <a:pt x="9274" y="5861"/>
                    </a:cubicBezTo>
                    <a:cubicBezTo>
                      <a:pt x="9438" y="5550"/>
                      <a:pt x="9621" y="5240"/>
                      <a:pt x="9767" y="4893"/>
                    </a:cubicBezTo>
                    <a:cubicBezTo>
                      <a:pt x="9804" y="4856"/>
                      <a:pt x="9822" y="4802"/>
                      <a:pt x="9840" y="4747"/>
                    </a:cubicBezTo>
                    <a:cubicBezTo>
                      <a:pt x="9493" y="4546"/>
                      <a:pt x="9128" y="4364"/>
                      <a:pt x="8781" y="4199"/>
                    </a:cubicBezTo>
                    <a:cubicBezTo>
                      <a:pt x="7193" y="3341"/>
                      <a:pt x="5787" y="2593"/>
                      <a:pt x="4163" y="1790"/>
                    </a:cubicBezTo>
                    <a:cubicBezTo>
                      <a:pt x="3177" y="1297"/>
                      <a:pt x="2155" y="840"/>
                      <a:pt x="1096" y="311"/>
                    </a:cubicBezTo>
                    <a:lnTo>
                      <a:pt x="4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36"/>
              <p:cNvSpPr/>
              <p:nvPr/>
            </p:nvSpPr>
            <p:spPr>
              <a:xfrm>
                <a:off x="3646513" y="1121519"/>
                <a:ext cx="427477" cy="253621"/>
              </a:xfrm>
              <a:custGeom>
                <a:rect b="b" l="l" r="r" t="t"/>
                <a:pathLst>
                  <a:path extrusionOk="0" h="5806" w="9786">
                    <a:moveTo>
                      <a:pt x="494" y="0"/>
                    </a:moveTo>
                    <a:lnTo>
                      <a:pt x="1" y="986"/>
                    </a:lnTo>
                    <a:lnTo>
                      <a:pt x="220" y="1095"/>
                    </a:lnTo>
                    <a:cubicBezTo>
                      <a:pt x="2812" y="2373"/>
                      <a:pt x="5313" y="3815"/>
                      <a:pt x="7832" y="5130"/>
                    </a:cubicBezTo>
                    <a:cubicBezTo>
                      <a:pt x="8325" y="5385"/>
                      <a:pt x="8982" y="5787"/>
                      <a:pt x="9293" y="5805"/>
                    </a:cubicBezTo>
                    <a:cubicBezTo>
                      <a:pt x="9457" y="5458"/>
                      <a:pt x="9621" y="5093"/>
                      <a:pt x="9786" y="4728"/>
                    </a:cubicBezTo>
                    <a:cubicBezTo>
                      <a:pt x="9366" y="4454"/>
                      <a:pt x="8873" y="4235"/>
                      <a:pt x="8417" y="3998"/>
                    </a:cubicBezTo>
                    <a:cubicBezTo>
                      <a:pt x="6828" y="3158"/>
                      <a:pt x="5404" y="2410"/>
                      <a:pt x="3780" y="1588"/>
                    </a:cubicBezTo>
                    <a:cubicBezTo>
                      <a:pt x="2794" y="1114"/>
                      <a:pt x="1790" y="639"/>
                      <a:pt x="713" y="110"/>
                    </a:cubicBezTo>
                    <a:lnTo>
                      <a:pt x="4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36"/>
              <p:cNvSpPr/>
              <p:nvPr/>
            </p:nvSpPr>
            <p:spPr>
              <a:xfrm>
                <a:off x="3596279" y="1223560"/>
                <a:ext cx="428263" cy="253621"/>
              </a:xfrm>
              <a:custGeom>
                <a:rect b="b" l="l" r="r" t="t"/>
                <a:pathLst>
                  <a:path extrusionOk="0" h="5806" w="9804">
                    <a:moveTo>
                      <a:pt x="494" y="1"/>
                    </a:moveTo>
                    <a:lnTo>
                      <a:pt x="1" y="968"/>
                    </a:lnTo>
                    <a:cubicBezTo>
                      <a:pt x="293" y="1114"/>
                      <a:pt x="567" y="1260"/>
                      <a:pt x="822" y="1388"/>
                    </a:cubicBezTo>
                    <a:cubicBezTo>
                      <a:pt x="3415" y="2648"/>
                      <a:pt x="5934" y="4108"/>
                      <a:pt x="8435" y="5404"/>
                    </a:cubicBezTo>
                    <a:cubicBezTo>
                      <a:pt x="8672" y="5532"/>
                      <a:pt x="8909" y="5678"/>
                      <a:pt x="9165" y="5806"/>
                    </a:cubicBezTo>
                    <a:cubicBezTo>
                      <a:pt x="9384" y="5441"/>
                      <a:pt x="9585" y="5057"/>
                      <a:pt x="9804" y="4692"/>
                    </a:cubicBezTo>
                    <a:cubicBezTo>
                      <a:pt x="9530" y="4546"/>
                      <a:pt x="9274" y="4418"/>
                      <a:pt x="9019" y="4291"/>
                    </a:cubicBezTo>
                    <a:cubicBezTo>
                      <a:pt x="7431" y="3451"/>
                      <a:pt x="6007" y="2684"/>
                      <a:pt x="4382" y="1881"/>
                    </a:cubicBezTo>
                    <a:cubicBezTo>
                      <a:pt x="3396" y="1406"/>
                      <a:pt x="2374" y="932"/>
                      <a:pt x="1315" y="402"/>
                    </a:cubicBezTo>
                    <a:cubicBezTo>
                      <a:pt x="1060" y="275"/>
                      <a:pt x="804" y="147"/>
                      <a:pt x="4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36"/>
              <p:cNvSpPr/>
              <p:nvPr/>
            </p:nvSpPr>
            <p:spPr>
              <a:xfrm>
                <a:off x="3545259" y="1327217"/>
                <a:ext cx="420269" cy="249645"/>
              </a:xfrm>
              <a:custGeom>
                <a:rect b="b" l="l" r="r" t="t"/>
                <a:pathLst>
                  <a:path extrusionOk="0" h="5715" w="9621">
                    <a:moveTo>
                      <a:pt x="493" y="1"/>
                    </a:moveTo>
                    <a:lnTo>
                      <a:pt x="1" y="1005"/>
                    </a:lnTo>
                    <a:lnTo>
                      <a:pt x="420" y="1224"/>
                    </a:lnTo>
                    <a:cubicBezTo>
                      <a:pt x="3031" y="2484"/>
                      <a:pt x="5532" y="3944"/>
                      <a:pt x="8051" y="5240"/>
                    </a:cubicBezTo>
                    <a:cubicBezTo>
                      <a:pt x="8325" y="5386"/>
                      <a:pt x="8653" y="5587"/>
                      <a:pt x="8946" y="5715"/>
                    </a:cubicBezTo>
                    <a:lnTo>
                      <a:pt x="9621" y="4638"/>
                    </a:lnTo>
                    <a:cubicBezTo>
                      <a:pt x="9292" y="4455"/>
                      <a:pt x="8946" y="4291"/>
                      <a:pt x="8617" y="4127"/>
                    </a:cubicBezTo>
                    <a:cubicBezTo>
                      <a:pt x="7047" y="3269"/>
                      <a:pt x="5623" y="2520"/>
                      <a:pt x="3998" y="1717"/>
                    </a:cubicBezTo>
                    <a:cubicBezTo>
                      <a:pt x="3013" y="1224"/>
                      <a:pt x="1990" y="768"/>
                      <a:pt x="932" y="238"/>
                    </a:cubicBezTo>
                    <a:lnTo>
                      <a:pt x="4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36"/>
              <p:cNvSpPr/>
              <p:nvPr/>
            </p:nvSpPr>
            <p:spPr>
              <a:xfrm>
                <a:off x="3499830" y="1421308"/>
                <a:ext cx="425031" cy="253664"/>
              </a:xfrm>
              <a:custGeom>
                <a:rect b="b" l="l" r="r" t="t"/>
                <a:pathLst>
                  <a:path extrusionOk="0" h="5807" w="9730">
                    <a:moveTo>
                      <a:pt x="475" y="1"/>
                    </a:moveTo>
                    <a:lnTo>
                      <a:pt x="0" y="987"/>
                    </a:lnTo>
                    <a:lnTo>
                      <a:pt x="475" y="1224"/>
                    </a:lnTo>
                    <a:cubicBezTo>
                      <a:pt x="3067" y="2502"/>
                      <a:pt x="5586" y="3944"/>
                      <a:pt x="8087" y="5258"/>
                    </a:cubicBezTo>
                    <a:cubicBezTo>
                      <a:pt x="8434" y="5423"/>
                      <a:pt x="8835" y="5660"/>
                      <a:pt x="9146" y="5806"/>
                    </a:cubicBezTo>
                    <a:cubicBezTo>
                      <a:pt x="9328" y="5477"/>
                      <a:pt x="9511" y="5167"/>
                      <a:pt x="9657" y="4839"/>
                    </a:cubicBezTo>
                    <a:cubicBezTo>
                      <a:pt x="9693" y="4784"/>
                      <a:pt x="9712" y="4729"/>
                      <a:pt x="9730" y="4674"/>
                    </a:cubicBezTo>
                    <a:cubicBezTo>
                      <a:pt x="9383" y="4492"/>
                      <a:pt x="9018" y="4309"/>
                      <a:pt x="8671" y="4127"/>
                    </a:cubicBezTo>
                    <a:cubicBezTo>
                      <a:pt x="7083" y="3287"/>
                      <a:pt x="5659" y="2538"/>
                      <a:pt x="4034" y="1717"/>
                    </a:cubicBezTo>
                    <a:cubicBezTo>
                      <a:pt x="3049" y="1242"/>
                      <a:pt x="2045" y="768"/>
                      <a:pt x="986" y="238"/>
                    </a:cubicBezTo>
                    <a:lnTo>
                      <a:pt x="4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36"/>
              <p:cNvSpPr/>
              <p:nvPr/>
            </p:nvSpPr>
            <p:spPr>
              <a:xfrm>
                <a:off x="3447979" y="1525795"/>
                <a:ext cx="422672" cy="251218"/>
              </a:xfrm>
              <a:custGeom>
                <a:rect b="b" l="l" r="r" t="t"/>
                <a:pathLst>
                  <a:path extrusionOk="0" h="5751" w="9676">
                    <a:moveTo>
                      <a:pt x="493" y="0"/>
                    </a:moveTo>
                    <a:lnTo>
                      <a:pt x="0" y="986"/>
                    </a:lnTo>
                    <a:lnTo>
                      <a:pt x="92" y="1041"/>
                    </a:lnTo>
                    <a:cubicBezTo>
                      <a:pt x="2702" y="2301"/>
                      <a:pt x="5221" y="3761"/>
                      <a:pt x="7722" y="5057"/>
                    </a:cubicBezTo>
                    <a:cubicBezTo>
                      <a:pt x="8215" y="5313"/>
                      <a:pt x="8872" y="5714"/>
                      <a:pt x="9183" y="5751"/>
                    </a:cubicBezTo>
                    <a:cubicBezTo>
                      <a:pt x="9347" y="5386"/>
                      <a:pt x="9511" y="5039"/>
                      <a:pt x="9676" y="4674"/>
                    </a:cubicBezTo>
                    <a:cubicBezTo>
                      <a:pt x="9256" y="4400"/>
                      <a:pt x="8763" y="4181"/>
                      <a:pt x="8307" y="3943"/>
                    </a:cubicBezTo>
                    <a:cubicBezTo>
                      <a:pt x="6718" y="3085"/>
                      <a:pt x="5294" y="2337"/>
                      <a:pt x="3670" y="1534"/>
                    </a:cubicBezTo>
                    <a:cubicBezTo>
                      <a:pt x="2684" y="1041"/>
                      <a:pt x="1662" y="585"/>
                      <a:pt x="603" y="55"/>
                    </a:cubicBezTo>
                    <a:lnTo>
                      <a:pt x="4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36"/>
              <p:cNvSpPr/>
              <p:nvPr/>
            </p:nvSpPr>
            <p:spPr>
              <a:xfrm>
                <a:off x="3398531" y="1627050"/>
                <a:ext cx="422672" cy="251262"/>
              </a:xfrm>
              <a:custGeom>
                <a:rect b="b" l="l" r="r" t="t"/>
                <a:pathLst>
                  <a:path extrusionOk="0" h="5752" w="9676">
                    <a:moveTo>
                      <a:pt x="475" y="1"/>
                    </a:moveTo>
                    <a:lnTo>
                      <a:pt x="1" y="987"/>
                    </a:lnTo>
                    <a:cubicBezTo>
                      <a:pt x="238" y="1114"/>
                      <a:pt x="475" y="1224"/>
                      <a:pt x="694" y="1333"/>
                    </a:cubicBezTo>
                    <a:cubicBezTo>
                      <a:pt x="3287" y="2611"/>
                      <a:pt x="5787" y="4072"/>
                      <a:pt x="8307" y="5368"/>
                    </a:cubicBezTo>
                    <a:cubicBezTo>
                      <a:pt x="8544" y="5477"/>
                      <a:pt x="8800" y="5623"/>
                      <a:pt x="9037" y="5751"/>
                    </a:cubicBezTo>
                    <a:cubicBezTo>
                      <a:pt x="9256" y="5386"/>
                      <a:pt x="9475" y="5021"/>
                      <a:pt x="9676" y="4638"/>
                    </a:cubicBezTo>
                    <a:cubicBezTo>
                      <a:pt x="9420" y="4510"/>
                      <a:pt x="9146" y="4382"/>
                      <a:pt x="8891" y="4254"/>
                    </a:cubicBezTo>
                    <a:cubicBezTo>
                      <a:pt x="7303" y="3396"/>
                      <a:pt x="5879" y="2648"/>
                      <a:pt x="4254" y="1845"/>
                    </a:cubicBezTo>
                    <a:cubicBezTo>
                      <a:pt x="3268" y="1352"/>
                      <a:pt x="2264" y="895"/>
                      <a:pt x="1187" y="366"/>
                    </a:cubicBezTo>
                    <a:cubicBezTo>
                      <a:pt x="968" y="238"/>
                      <a:pt x="731" y="129"/>
                      <a:pt x="4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36"/>
              <p:cNvSpPr/>
              <p:nvPr/>
            </p:nvSpPr>
            <p:spPr>
              <a:xfrm>
                <a:off x="3346725" y="1731537"/>
                <a:ext cx="415464" cy="247243"/>
              </a:xfrm>
              <a:custGeom>
                <a:rect b="b" l="l" r="r" t="t"/>
                <a:pathLst>
                  <a:path extrusionOk="0" h="5660" w="9511">
                    <a:moveTo>
                      <a:pt x="493" y="0"/>
                    </a:moveTo>
                    <a:lnTo>
                      <a:pt x="0" y="1004"/>
                    </a:lnTo>
                    <a:lnTo>
                      <a:pt x="310" y="1150"/>
                    </a:lnTo>
                    <a:cubicBezTo>
                      <a:pt x="2921" y="2428"/>
                      <a:pt x="5422" y="3870"/>
                      <a:pt x="7941" y="5185"/>
                    </a:cubicBezTo>
                    <a:cubicBezTo>
                      <a:pt x="8215" y="5331"/>
                      <a:pt x="8543" y="5513"/>
                      <a:pt x="8836" y="5659"/>
                    </a:cubicBezTo>
                    <a:lnTo>
                      <a:pt x="9511" y="4564"/>
                    </a:lnTo>
                    <a:cubicBezTo>
                      <a:pt x="9182" y="4400"/>
                      <a:pt x="8836" y="4235"/>
                      <a:pt x="8507" y="4053"/>
                    </a:cubicBezTo>
                    <a:cubicBezTo>
                      <a:pt x="6919" y="3213"/>
                      <a:pt x="5513" y="2465"/>
                      <a:pt x="3888" y="1661"/>
                    </a:cubicBezTo>
                    <a:cubicBezTo>
                      <a:pt x="2903" y="1169"/>
                      <a:pt x="1880" y="712"/>
                      <a:pt x="822" y="164"/>
                    </a:cubicBezTo>
                    <a:lnTo>
                      <a:pt x="4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36"/>
              <p:cNvSpPr/>
              <p:nvPr/>
            </p:nvSpPr>
            <p:spPr>
              <a:xfrm>
                <a:off x="3114643" y="2036917"/>
                <a:ext cx="50279" cy="90161"/>
              </a:xfrm>
              <a:custGeom>
                <a:rect b="b" l="l" r="r" t="t"/>
                <a:pathLst>
                  <a:path extrusionOk="0" h="2064" w="1151">
                    <a:moveTo>
                      <a:pt x="1" y="1"/>
                    </a:moveTo>
                    <a:lnTo>
                      <a:pt x="256" y="1005"/>
                    </a:lnTo>
                    <a:cubicBezTo>
                      <a:pt x="329" y="1297"/>
                      <a:pt x="402" y="1589"/>
                      <a:pt x="457" y="1826"/>
                    </a:cubicBezTo>
                    <a:cubicBezTo>
                      <a:pt x="494" y="1899"/>
                      <a:pt x="512" y="2027"/>
                      <a:pt x="603" y="2064"/>
                    </a:cubicBezTo>
                    <a:lnTo>
                      <a:pt x="622" y="2064"/>
                    </a:lnTo>
                    <a:cubicBezTo>
                      <a:pt x="822" y="1461"/>
                      <a:pt x="950" y="804"/>
                      <a:pt x="11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36"/>
              <p:cNvSpPr/>
              <p:nvPr/>
            </p:nvSpPr>
            <p:spPr>
              <a:xfrm>
                <a:off x="3089919" y="1912554"/>
                <a:ext cx="98155" cy="125238"/>
              </a:xfrm>
              <a:custGeom>
                <a:rect b="b" l="l" r="r" t="t"/>
                <a:pathLst>
                  <a:path extrusionOk="0" h="2867" w="2247">
                    <a:moveTo>
                      <a:pt x="1114" y="0"/>
                    </a:moveTo>
                    <a:cubicBezTo>
                      <a:pt x="968" y="0"/>
                      <a:pt x="804" y="0"/>
                      <a:pt x="658" y="18"/>
                    </a:cubicBezTo>
                    <a:cubicBezTo>
                      <a:pt x="494" y="18"/>
                      <a:pt x="330" y="55"/>
                      <a:pt x="183" y="110"/>
                    </a:cubicBezTo>
                    <a:cubicBezTo>
                      <a:pt x="74" y="256"/>
                      <a:pt x="1" y="438"/>
                      <a:pt x="1" y="639"/>
                    </a:cubicBezTo>
                    <a:cubicBezTo>
                      <a:pt x="37" y="822"/>
                      <a:pt x="92" y="1004"/>
                      <a:pt x="147" y="1168"/>
                    </a:cubicBezTo>
                    <a:cubicBezTo>
                      <a:pt x="293" y="1734"/>
                      <a:pt x="439" y="2300"/>
                      <a:pt x="585" y="2866"/>
                    </a:cubicBezTo>
                    <a:lnTo>
                      <a:pt x="1717" y="2848"/>
                    </a:lnTo>
                    <a:cubicBezTo>
                      <a:pt x="1717" y="2830"/>
                      <a:pt x="1735" y="2793"/>
                      <a:pt x="1735" y="2757"/>
                    </a:cubicBezTo>
                    <a:cubicBezTo>
                      <a:pt x="1863" y="2264"/>
                      <a:pt x="2009" y="1753"/>
                      <a:pt x="2137" y="1241"/>
                    </a:cubicBezTo>
                    <a:cubicBezTo>
                      <a:pt x="2192" y="1059"/>
                      <a:pt x="2228" y="895"/>
                      <a:pt x="2246" y="712"/>
                    </a:cubicBezTo>
                    <a:cubicBezTo>
                      <a:pt x="2173" y="511"/>
                      <a:pt x="2045" y="310"/>
                      <a:pt x="1918" y="146"/>
                    </a:cubicBezTo>
                    <a:cubicBezTo>
                      <a:pt x="1772" y="18"/>
                      <a:pt x="1352" y="0"/>
                      <a:pt x="11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36"/>
              <p:cNvSpPr/>
              <p:nvPr/>
            </p:nvSpPr>
            <p:spPr>
              <a:xfrm>
                <a:off x="3089133" y="1313676"/>
                <a:ext cx="113269" cy="630819"/>
              </a:xfrm>
              <a:custGeom>
                <a:rect b="b" l="l" r="r" t="t"/>
                <a:pathLst>
                  <a:path extrusionOk="0" h="14441" w="2593">
                    <a:moveTo>
                      <a:pt x="1863" y="14002"/>
                    </a:moveTo>
                    <a:cubicBezTo>
                      <a:pt x="1735" y="14130"/>
                      <a:pt x="1607" y="14239"/>
                      <a:pt x="1461" y="14331"/>
                    </a:cubicBezTo>
                    <a:cubicBezTo>
                      <a:pt x="1352" y="14203"/>
                      <a:pt x="1242" y="14057"/>
                      <a:pt x="1151" y="13911"/>
                    </a:cubicBezTo>
                    <a:cubicBezTo>
                      <a:pt x="1023" y="13966"/>
                      <a:pt x="950" y="14203"/>
                      <a:pt x="767" y="14294"/>
                    </a:cubicBezTo>
                    <a:cubicBezTo>
                      <a:pt x="658" y="14166"/>
                      <a:pt x="548" y="14057"/>
                      <a:pt x="439" y="13929"/>
                    </a:cubicBezTo>
                    <a:cubicBezTo>
                      <a:pt x="274" y="14039"/>
                      <a:pt x="238" y="14294"/>
                      <a:pt x="55" y="14349"/>
                    </a:cubicBezTo>
                    <a:cubicBezTo>
                      <a:pt x="1" y="14057"/>
                      <a:pt x="1" y="13747"/>
                      <a:pt x="37" y="13455"/>
                    </a:cubicBezTo>
                    <a:cubicBezTo>
                      <a:pt x="165" y="9000"/>
                      <a:pt x="238" y="4473"/>
                      <a:pt x="384" y="1"/>
                    </a:cubicBezTo>
                    <a:cubicBezTo>
                      <a:pt x="1132" y="1"/>
                      <a:pt x="1844" y="19"/>
                      <a:pt x="2556" y="55"/>
                    </a:cubicBezTo>
                    <a:cubicBezTo>
                      <a:pt x="2593" y="183"/>
                      <a:pt x="2593" y="329"/>
                      <a:pt x="2575" y="475"/>
                    </a:cubicBezTo>
                    <a:cubicBezTo>
                      <a:pt x="2465" y="4747"/>
                      <a:pt x="2392" y="9146"/>
                      <a:pt x="2283" y="13455"/>
                    </a:cubicBezTo>
                    <a:cubicBezTo>
                      <a:pt x="2283" y="13783"/>
                      <a:pt x="2283" y="14112"/>
                      <a:pt x="2246" y="14422"/>
                    </a:cubicBezTo>
                    <a:cubicBezTo>
                      <a:pt x="2082" y="14440"/>
                      <a:pt x="1990" y="14130"/>
                      <a:pt x="1863" y="140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36"/>
              <p:cNvSpPr/>
              <p:nvPr/>
            </p:nvSpPr>
            <p:spPr>
              <a:xfrm>
                <a:off x="3106693" y="1247498"/>
                <a:ext cx="98111" cy="75789"/>
              </a:xfrm>
              <a:custGeom>
                <a:rect b="b" l="l" r="r" t="t"/>
                <a:pathLst>
                  <a:path extrusionOk="0" h="1735" w="2246">
                    <a:moveTo>
                      <a:pt x="2173" y="1607"/>
                    </a:moveTo>
                    <a:cubicBezTo>
                      <a:pt x="1369" y="1735"/>
                      <a:pt x="730" y="1570"/>
                      <a:pt x="19" y="1534"/>
                    </a:cubicBezTo>
                    <a:cubicBezTo>
                      <a:pt x="0" y="1096"/>
                      <a:pt x="219" y="694"/>
                      <a:pt x="584" y="457"/>
                    </a:cubicBezTo>
                    <a:cubicBezTo>
                      <a:pt x="1388" y="0"/>
                      <a:pt x="2246" y="658"/>
                      <a:pt x="2173" y="160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36"/>
              <p:cNvSpPr/>
              <p:nvPr/>
            </p:nvSpPr>
            <p:spPr>
              <a:xfrm>
                <a:off x="3094724" y="1312890"/>
                <a:ext cx="115671" cy="97325"/>
              </a:xfrm>
              <a:custGeom>
                <a:rect b="b" l="l" r="r" t="t"/>
                <a:pathLst>
                  <a:path extrusionOk="0" h="2228" w="2648">
                    <a:moveTo>
                      <a:pt x="183" y="2191"/>
                    </a:moveTo>
                    <a:cubicBezTo>
                      <a:pt x="201" y="1990"/>
                      <a:pt x="165" y="1808"/>
                      <a:pt x="73" y="1643"/>
                    </a:cubicBezTo>
                    <a:cubicBezTo>
                      <a:pt x="73" y="1552"/>
                      <a:pt x="146" y="1479"/>
                      <a:pt x="183" y="1388"/>
                    </a:cubicBezTo>
                    <a:cubicBezTo>
                      <a:pt x="0" y="1169"/>
                      <a:pt x="201" y="1004"/>
                      <a:pt x="201" y="840"/>
                    </a:cubicBezTo>
                    <a:cubicBezTo>
                      <a:pt x="201" y="767"/>
                      <a:pt x="146" y="694"/>
                      <a:pt x="146" y="639"/>
                    </a:cubicBezTo>
                    <a:cubicBezTo>
                      <a:pt x="146" y="511"/>
                      <a:pt x="220" y="457"/>
                      <a:pt x="238" y="329"/>
                    </a:cubicBezTo>
                    <a:cubicBezTo>
                      <a:pt x="256" y="219"/>
                      <a:pt x="183" y="146"/>
                      <a:pt x="238" y="55"/>
                    </a:cubicBezTo>
                    <a:cubicBezTo>
                      <a:pt x="603" y="0"/>
                      <a:pt x="986" y="0"/>
                      <a:pt x="1370" y="55"/>
                    </a:cubicBezTo>
                    <a:cubicBezTo>
                      <a:pt x="1735" y="55"/>
                      <a:pt x="2100" y="73"/>
                      <a:pt x="2483" y="110"/>
                    </a:cubicBezTo>
                    <a:cubicBezTo>
                      <a:pt x="2647" y="329"/>
                      <a:pt x="2501" y="566"/>
                      <a:pt x="2501" y="767"/>
                    </a:cubicBezTo>
                    <a:cubicBezTo>
                      <a:pt x="2501" y="895"/>
                      <a:pt x="2556" y="1004"/>
                      <a:pt x="2556" y="1132"/>
                    </a:cubicBezTo>
                    <a:cubicBezTo>
                      <a:pt x="2556" y="1315"/>
                      <a:pt x="2392" y="1479"/>
                      <a:pt x="2556" y="1771"/>
                    </a:cubicBezTo>
                    <a:cubicBezTo>
                      <a:pt x="2520" y="1917"/>
                      <a:pt x="2374" y="2008"/>
                      <a:pt x="2410" y="2191"/>
                    </a:cubicBezTo>
                    <a:cubicBezTo>
                      <a:pt x="2392" y="2209"/>
                      <a:pt x="2374" y="2227"/>
                      <a:pt x="2374" y="2209"/>
                    </a:cubicBezTo>
                    <a:cubicBezTo>
                      <a:pt x="1643" y="2209"/>
                      <a:pt x="895" y="2227"/>
                      <a:pt x="183" y="21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36"/>
              <p:cNvSpPr/>
              <p:nvPr/>
            </p:nvSpPr>
            <p:spPr>
              <a:xfrm>
                <a:off x="3700155" y="2273410"/>
                <a:ext cx="190456" cy="202818"/>
              </a:xfrm>
              <a:custGeom>
                <a:rect b="b" l="l" r="r" t="t"/>
                <a:pathLst>
                  <a:path extrusionOk="0" h="4643" w="4360">
                    <a:moveTo>
                      <a:pt x="3275" y="0"/>
                    </a:moveTo>
                    <a:cubicBezTo>
                      <a:pt x="3119" y="0"/>
                      <a:pt x="2971" y="73"/>
                      <a:pt x="2880" y="209"/>
                    </a:cubicBezTo>
                    <a:lnTo>
                      <a:pt x="1146" y="2765"/>
                    </a:lnTo>
                    <a:cubicBezTo>
                      <a:pt x="1128" y="2802"/>
                      <a:pt x="1110" y="2820"/>
                      <a:pt x="1091" y="2856"/>
                    </a:cubicBezTo>
                    <a:lnTo>
                      <a:pt x="562" y="2510"/>
                    </a:lnTo>
                    <a:cubicBezTo>
                      <a:pt x="506" y="2464"/>
                      <a:pt x="448" y="2445"/>
                      <a:pt x="394" y="2445"/>
                    </a:cubicBezTo>
                    <a:cubicBezTo>
                      <a:pt x="167" y="2445"/>
                      <a:pt x="1" y="2786"/>
                      <a:pt x="252" y="2948"/>
                    </a:cubicBezTo>
                    <a:lnTo>
                      <a:pt x="252" y="2929"/>
                    </a:lnTo>
                    <a:lnTo>
                      <a:pt x="2680" y="4591"/>
                    </a:lnTo>
                    <a:cubicBezTo>
                      <a:pt x="2732" y="4627"/>
                      <a:pt x="2785" y="4642"/>
                      <a:pt x="2835" y="4642"/>
                    </a:cubicBezTo>
                    <a:cubicBezTo>
                      <a:pt x="3063" y="4642"/>
                      <a:pt x="3230" y="4317"/>
                      <a:pt x="2990" y="4153"/>
                    </a:cubicBezTo>
                    <a:lnTo>
                      <a:pt x="2406" y="3751"/>
                    </a:lnTo>
                    <a:cubicBezTo>
                      <a:pt x="2442" y="3714"/>
                      <a:pt x="2460" y="3696"/>
                      <a:pt x="2479" y="3660"/>
                    </a:cubicBezTo>
                    <a:lnTo>
                      <a:pt x="4213" y="1122"/>
                    </a:lnTo>
                    <a:cubicBezTo>
                      <a:pt x="4359" y="903"/>
                      <a:pt x="4304" y="593"/>
                      <a:pt x="4085" y="429"/>
                    </a:cubicBezTo>
                    <a:lnTo>
                      <a:pt x="3556" y="82"/>
                    </a:lnTo>
                    <a:cubicBezTo>
                      <a:pt x="3466" y="27"/>
                      <a:pt x="3369" y="0"/>
                      <a:pt x="32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36"/>
              <p:cNvSpPr/>
              <p:nvPr/>
            </p:nvSpPr>
            <p:spPr>
              <a:xfrm>
                <a:off x="3749908" y="2207494"/>
                <a:ext cx="231211" cy="160140"/>
              </a:xfrm>
              <a:custGeom>
                <a:rect b="b" l="l" r="r" t="t"/>
                <a:pathLst>
                  <a:path extrusionOk="0" h="3666" w="5293">
                    <a:moveTo>
                      <a:pt x="571" y="1"/>
                    </a:moveTo>
                    <a:cubicBezTo>
                      <a:pt x="161" y="1"/>
                      <a:pt x="1" y="556"/>
                      <a:pt x="390" y="751"/>
                    </a:cubicBezTo>
                    <a:lnTo>
                      <a:pt x="2453" y="2157"/>
                    </a:lnTo>
                    <a:lnTo>
                      <a:pt x="4534" y="3562"/>
                    </a:lnTo>
                    <a:cubicBezTo>
                      <a:pt x="4615" y="3634"/>
                      <a:pt x="4705" y="3665"/>
                      <a:pt x="4792" y="3665"/>
                    </a:cubicBezTo>
                    <a:cubicBezTo>
                      <a:pt x="5057" y="3665"/>
                      <a:pt x="5293" y="3376"/>
                      <a:pt x="5155" y="3088"/>
                    </a:cubicBezTo>
                    <a:cubicBezTo>
                      <a:pt x="4443" y="1390"/>
                      <a:pt x="4133" y="897"/>
                      <a:pt x="3585" y="514"/>
                    </a:cubicBezTo>
                    <a:cubicBezTo>
                      <a:pt x="3019" y="130"/>
                      <a:pt x="2453" y="21"/>
                      <a:pt x="610" y="2"/>
                    </a:cubicBezTo>
                    <a:cubicBezTo>
                      <a:pt x="596" y="1"/>
                      <a:pt x="583" y="1"/>
                      <a:pt x="5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36"/>
              <p:cNvSpPr/>
              <p:nvPr/>
            </p:nvSpPr>
            <p:spPr>
              <a:xfrm>
                <a:off x="4239800" y="1559692"/>
                <a:ext cx="142798" cy="144676"/>
              </a:xfrm>
              <a:custGeom>
                <a:rect b="b" l="l" r="r" t="t"/>
                <a:pathLst>
                  <a:path extrusionOk="0" h="3312" w="3269">
                    <a:moveTo>
                      <a:pt x="1651" y="1"/>
                    </a:moveTo>
                    <a:cubicBezTo>
                      <a:pt x="1499" y="1"/>
                      <a:pt x="1351" y="74"/>
                      <a:pt x="1260" y="210"/>
                    </a:cubicBezTo>
                    <a:lnTo>
                      <a:pt x="165" y="1835"/>
                    </a:lnTo>
                    <a:cubicBezTo>
                      <a:pt x="1" y="2054"/>
                      <a:pt x="56" y="2346"/>
                      <a:pt x="293" y="2492"/>
                    </a:cubicBezTo>
                    <a:lnTo>
                      <a:pt x="1352" y="3222"/>
                    </a:lnTo>
                    <a:cubicBezTo>
                      <a:pt x="1433" y="3284"/>
                      <a:pt x="1525" y="3312"/>
                      <a:pt x="1617" y="3312"/>
                    </a:cubicBezTo>
                    <a:cubicBezTo>
                      <a:pt x="1771" y="3312"/>
                      <a:pt x="1924" y="3232"/>
                      <a:pt x="2027" y="3094"/>
                    </a:cubicBezTo>
                    <a:lnTo>
                      <a:pt x="3122" y="1488"/>
                    </a:lnTo>
                    <a:cubicBezTo>
                      <a:pt x="3268" y="1269"/>
                      <a:pt x="3214" y="959"/>
                      <a:pt x="2995" y="813"/>
                    </a:cubicBezTo>
                    <a:lnTo>
                      <a:pt x="1918" y="82"/>
                    </a:lnTo>
                    <a:cubicBezTo>
                      <a:pt x="1835" y="27"/>
                      <a:pt x="1742" y="1"/>
                      <a:pt x="1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36"/>
              <p:cNvSpPr/>
              <p:nvPr/>
            </p:nvSpPr>
            <p:spPr>
              <a:xfrm>
                <a:off x="4317947" y="1518981"/>
                <a:ext cx="79808" cy="84831"/>
              </a:xfrm>
              <a:custGeom>
                <a:rect b="b" l="l" r="r" t="t"/>
                <a:pathLst>
                  <a:path extrusionOk="0" h="1942" w="1827">
                    <a:moveTo>
                      <a:pt x="1247" y="0"/>
                    </a:moveTo>
                    <a:cubicBezTo>
                      <a:pt x="1176" y="0"/>
                      <a:pt x="1103" y="24"/>
                      <a:pt x="1041" y="65"/>
                    </a:cubicBezTo>
                    <a:lnTo>
                      <a:pt x="1041" y="83"/>
                    </a:lnTo>
                    <a:lnTo>
                      <a:pt x="92" y="1014"/>
                    </a:lnTo>
                    <a:cubicBezTo>
                      <a:pt x="1" y="1160"/>
                      <a:pt x="37" y="1343"/>
                      <a:pt x="183" y="1434"/>
                    </a:cubicBezTo>
                    <a:lnTo>
                      <a:pt x="840" y="1891"/>
                    </a:lnTo>
                    <a:cubicBezTo>
                      <a:pt x="896" y="1925"/>
                      <a:pt x="956" y="1941"/>
                      <a:pt x="1015" y="1941"/>
                    </a:cubicBezTo>
                    <a:cubicBezTo>
                      <a:pt x="1111" y="1941"/>
                      <a:pt x="1204" y="1897"/>
                      <a:pt x="1260" y="1818"/>
                    </a:cubicBezTo>
                    <a:cubicBezTo>
                      <a:pt x="1260" y="1818"/>
                      <a:pt x="1790" y="613"/>
                      <a:pt x="1790" y="595"/>
                    </a:cubicBezTo>
                    <a:cubicBezTo>
                      <a:pt x="1826" y="467"/>
                      <a:pt x="1790" y="321"/>
                      <a:pt x="1680" y="248"/>
                    </a:cubicBezTo>
                    <a:lnTo>
                      <a:pt x="1406" y="47"/>
                    </a:lnTo>
                    <a:cubicBezTo>
                      <a:pt x="1358" y="15"/>
                      <a:pt x="1303" y="0"/>
                      <a:pt x="12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36"/>
              <p:cNvSpPr/>
              <p:nvPr/>
            </p:nvSpPr>
            <p:spPr>
              <a:xfrm>
                <a:off x="4378577" y="1317433"/>
                <a:ext cx="149787" cy="214787"/>
              </a:xfrm>
              <a:custGeom>
                <a:rect b="b" l="l" r="r" t="t"/>
                <a:pathLst>
                  <a:path extrusionOk="0" h="4917" w="3429">
                    <a:moveTo>
                      <a:pt x="3355" y="1"/>
                    </a:moveTo>
                    <a:cubicBezTo>
                      <a:pt x="3349" y="1"/>
                      <a:pt x="3344" y="2"/>
                      <a:pt x="3341" y="6"/>
                    </a:cubicBezTo>
                    <a:lnTo>
                      <a:pt x="0" y="4770"/>
                    </a:lnTo>
                    <a:lnTo>
                      <a:pt x="219" y="4916"/>
                    </a:lnTo>
                    <a:lnTo>
                      <a:pt x="3414" y="61"/>
                    </a:lnTo>
                    <a:cubicBezTo>
                      <a:pt x="3429" y="31"/>
                      <a:pt x="3383" y="1"/>
                      <a:pt x="33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36"/>
              <p:cNvSpPr/>
              <p:nvPr/>
            </p:nvSpPr>
            <p:spPr>
              <a:xfrm>
                <a:off x="4374559" y="1516971"/>
                <a:ext cx="23152" cy="16818"/>
              </a:xfrm>
              <a:custGeom>
                <a:rect b="b" l="l" r="r" t="t"/>
                <a:pathLst>
                  <a:path extrusionOk="0" h="385" w="530">
                    <a:moveTo>
                      <a:pt x="122" y="1"/>
                    </a:moveTo>
                    <a:cubicBezTo>
                      <a:pt x="84" y="1"/>
                      <a:pt x="49" y="21"/>
                      <a:pt x="37" y="56"/>
                    </a:cubicBezTo>
                    <a:cubicBezTo>
                      <a:pt x="1" y="93"/>
                      <a:pt x="1" y="166"/>
                      <a:pt x="56" y="202"/>
                    </a:cubicBezTo>
                    <a:lnTo>
                      <a:pt x="311" y="367"/>
                    </a:lnTo>
                    <a:cubicBezTo>
                      <a:pt x="334" y="379"/>
                      <a:pt x="355" y="385"/>
                      <a:pt x="376" y="385"/>
                    </a:cubicBezTo>
                    <a:cubicBezTo>
                      <a:pt x="471" y="385"/>
                      <a:pt x="529" y="263"/>
                      <a:pt x="439" y="202"/>
                    </a:cubicBezTo>
                    <a:lnTo>
                      <a:pt x="183" y="20"/>
                    </a:lnTo>
                    <a:cubicBezTo>
                      <a:pt x="164" y="7"/>
                      <a:pt x="142" y="1"/>
                      <a:pt x="122" y="1"/>
                    </a:cubicBezTo>
                    <a:close/>
                  </a:path>
                </a:pathLst>
              </a:custGeom>
              <a:solidFill>
                <a:srgbClr val="334F7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36"/>
              <p:cNvSpPr/>
              <p:nvPr/>
            </p:nvSpPr>
            <p:spPr>
              <a:xfrm>
                <a:off x="4221454" y="1665359"/>
                <a:ext cx="86972" cy="74173"/>
              </a:xfrm>
              <a:custGeom>
                <a:rect b="b" l="l" r="r" t="t"/>
                <a:pathLst>
                  <a:path extrusionOk="0" h="1698" w="1991">
                    <a:moveTo>
                      <a:pt x="457" y="0"/>
                    </a:moveTo>
                    <a:lnTo>
                      <a:pt x="1" y="657"/>
                    </a:lnTo>
                    <a:lnTo>
                      <a:pt x="1534" y="1698"/>
                    </a:lnTo>
                    <a:lnTo>
                      <a:pt x="1991" y="1041"/>
                    </a:lnTo>
                    <a:lnTo>
                      <a:pt x="4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36"/>
              <p:cNvSpPr/>
              <p:nvPr/>
            </p:nvSpPr>
            <p:spPr>
              <a:xfrm>
                <a:off x="4211101" y="1635218"/>
                <a:ext cx="136508" cy="95403"/>
              </a:xfrm>
              <a:custGeom>
                <a:rect b="b" l="l" r="r" t="t"/>
                <a:pathLst>
                  <a:path extrusionOk="0" h="2184" w="3125">
                    <a:moveTo>
                      <a:pt x="311" y="0"/>
                    </a:moveTo>
                    <a:cubicBezTo>
                      <a:pt x="225" y="0"/>
                      <a:pt x="137" y="45"/>
                      <a:pt x="92" y="124"/>
                    </a:cubicBezTo>
                    <a:cubicBezTo>
                      <a:pt x="1" y="234"/>
                      <a:pt x="37" y="398"/>
                      <a:pt x="165" y="489"/>
                    </a:cubicBezTo>
                    <a:lnTo>
                      <a:pt x="2593" y="2132"/>
                    </a:lnTo>
                    <a:cubicBezTo>
                      <a:pt x="2645" y="2168"/>
                      <a:pt x="2697" y="2184"/>
                      <a:pt x="2746" y="2184"/>
                    </a:cubicBezTo>
                    <a:cubicBezTo>
                      <a:pt x="2971" y="2184"/>
                      <a:pt x="3125" y="1859"/>
                      <a:pt x="2885" y="1694"/>
                    </a:cubicBezTo>
                    <a:lnTo>
                      <a:pt x="457" y="51"/>
                    </a:lnTo>
                    <a:cubicBezTo>
                      <a:pt x="416" y="17"/>
                      <a:pt x="364" y="0"/>
                      <a:pt x="3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36"/>
              <p:cNvSpPr/>
              <p:nvPr/>
            </p:nvSpPr>
            <p:spPr>
              <a:xfrm>
                <a:off x="3833908" y="1676847"/>
                <a:ext cx="481687" cy="617714"/>
              </a:xfrm>
              <a:custGeom>
                <a:rect b="b" l="l" r="r" t="t"/>
                <a:pathLst>
                  <a:path extrusionOk="0" h="14141" w="11027">
                    <a:moveTo>
                      <a:pt x="8540" y="1"/>
                    </a:moveTo>
                    <a:cubicBezTo>
                      <a:pt x="8361" y="1"/>
                      <a:pt x="8183" y="89"/>
                      <a:pt x="8070" y="248"/>
                    </a:cubicBezTo>
                    <a:lnTo>
                      <a:pt x="1" y="12205"/>
                    </a:lnTo>
                    <a:lnTo>
                      <a:pt x="2776" y="14140"/>
                    </a:lnTo>
                    <a:lnTo>
                      <a:pt x="10863" y="2147"/>
                    </a:lnTo>
                    <a:cubicBezTo>
                      <a:pt x="11027" y="1873"/>
                      <a:pt x="10972" y="1526"/>
                      <a:pt x="10717" y="1362"/>
                    </a:cubicBezTo>
                    <a:lnTo>
                      <a:pt x="8855" y="102"/>
                    </a:lnTo>
                    <a:cubicBezTo>
                      <a:pt x="8758" y="33"/>
                      <a:pt x="8649" y="1"/>
                      <a:pt x="854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36"/>
              <p:cNvSpPr/>
              <p:nvPr/>
            </p:nvSpPr>
            <p:spPr>
              <a:xfrm>
                <a:off x="4091500" y="1676847"/>
                <a:ext cx="224091" cy="233352"/>
              </a:xfrm>
              <a:custGeom>
                <a:rect b="b" l="l" r="r" t="t"/>
                <a:pathLst>
                  <a:path extrusionOk="0" h="5342" w="5130">
                    <a:moveTo>
                      <a:pt x="2638" y="1"/>
                    </a:moveTo>
                    <a:cubicBezTo>
                      <a:pt x="2455" y="1"/>
                      <a:pt x="2275" y="89"/>
                      <a:pt x="2173" y="248"/>
                    </a:cubicBezTo>
                    <a:lnTo>
                      <a:pt x="0" y="3461"/>
                    </a:lnTo>
                    <a:lnTo>
                      <a:pt x="2812" y="5341"/>
                    </a:lnTo>
                    <a:lnTo>
                      <a:pt x="4966" y="2147"/>
                    </a:lnTo>
                    <a:cubicBezTo>
                      <a:pt x="5130" y="1891"/>
                      <a:pt x="5057" y="1544"/>
                      <a:pt x="4801" y="1362"/>
                    </a:cubicBezTo>
                    <a:lnTo>
                      <a:pt x="2958" y="102"/>
                    </a:lnTo>
                    <a:cubicBezTo>
                      <a:pt x="2861" y="33"/>
                      <a:pt x="2749" y="1"/>
                      <a:pt x="263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36"/>
              <p:cNvSpPr/>
              <p:nvPr/>
            </p:nvSpPr>
            <p:spPr>
              <a:xfrm>
                <a:off x="4235039" y="1772335"/>
                <a:ext cx="52681" cy="40581"/>
              </a:xfrm>
              <a:custGeom>
                <a:rect b="b" l="l" r="r" t="t"/>
                <a:pathLst>
                  <a:path extrusionOk="0" h="929" w="1206">
                    <a:moveTo>
                      <a:pt x="171" y="1"/>
                    </a:moveTo>
                    <a:cubicBezTo>
                      <a:pt x="122" y="1"/>
                      <a:pt x="76" y="20"/>
                      <a:pt x="55" y="52"/>
                    </a:cubicBezTo>
                    <a:cubicBezTo>
                      <a:pt x="0" y="125"/>
                      <a:pt x="18" y="235"/>
                      <a:pt x="91" y="289"/>
                    </a:cubicBezTo>
                    <a:lnTo>
                      <a:pt x="1022" y="928"/>
                    </a:lnTo>
                    <a:lnTo>
                      <a:pt x="1205" y="673"/>
                    </a:lnTo>
                    <a:lnTo>
                      <a:pt x="274" y="34"/>
                    </a:lnTo>
                    <a:cubicBezTo>
                      <a:pt x="243" y="11"/>
                      <a:pt x="206" y="1"/>
                      <a:pt x="1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36"/>
              <p:cNvSpPr/>
              <p:nvPr/>
            </p:nvSpPr>
            <p:spPr>
              <a:xfrm>
                <a:off x="4193541" y="1833010"/>
                <a:ext cx="52681" cy="40494"/>
              </a:xfrm>
              <a:custGeom>
                <a:rect b="b" l="l" r="r" t="t"/>
                <a:pathLst>
                  <a:path extrusionOk="0" h="927" w="1206">
                    <a:moveTo>
                      <a:pt x="178" y="0"/>
                    </a:moveTo>
                    <a:cubicBezTo>
                      <a:pt x="127" y="0"/>
                      <a:pt x="78" y="24"/>
                      <a:pt x="56" y="69"/>
                    </a:cubicBezTo>
                    <a:cubicBezTo>
                      <a:pt x="1" y="142"/>
                      <a:pt x="19" y="233"/>
                      <a:pt x="92" y="288"/>
                    </a:cubicBezTo>
                    <a:lnTo>
                      <a:pt x="1041" y="927"/>
                    </a:lnTo>
                    <a:lnTo>
                      <a:pt x="1206" y="671"/>
                    </a:lnTo>
                    <a:lnTo>
                      <a:pt x="275" y="32"/>
                    </a:lnTo>
                    <a:cubicBezTo>
                      <a:pt x="246" y="10"/>
                      <a:pt x="211" y="0"/>
                      <a:pt x="1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36"/>
              <p:cNvSpPr/>
              <p:nvPr/>
            </p:nvSpPr>
            <p:spPr>
              <a:xfrm>
                <a:off x="4152087" y="1892854"/>
                <a:ext cx="52681" cy="41236"/>
              </a:xfrm>
              <a:custGeom>
                <a:rect b="b" l="l" r="r" t="t"/>
                <a:pathLst>
                  <a:path extrusionOk="0" h="944" w="1206">
                    <a:moveTo>
                      <a:pt x="183" y="0"/>
                    </a:moveTo>
                    <a:cubicBezTo>
                      <a:pt x="130" y="0"/>
                      <a:pt x="78" y="29"/>
                      <a:pt x="55" y="86"/>
                    </a:cubicBezTo>
                    <a:cubicBezTo>
                      <a:pt x="1" y="159"/>
                      <a:pt x="19" y="250"/>
                      <a:pt x="92" y="305"/>
                    </a:cubicBezTo>
                    <a:lnTo>
                      <a:pt x="1041" y="944"/>
                    </a:lnTo>
                    <a:lnTo>
                      <a:pt x="1206" y="688"/>
                    </a:lnTo>
                    <a:lnTo>
                      <a:pt x="275" y="31"/>
                    </a:lnTo>
                    <a:cubicBezTo>
                      <a:pt x="247" y="11"/>
                      <a:pt x="215" y="0"/>
                      <a:pt x="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36"/>
              <p:cNvSpPr/>
              <p:nvPr/>
            </p:nvSpPr>
            <p:spPr>
              <a:xfrm>
                <a:off x="4110633" y="1954227"/>
                <a:ext cx="53467" cy="41280"/>
              </a:xfrm>
              <a:custGeom>
                <a:rect b="b" l="l" r="r" t="t"/>
                <a:pathLst>
                  <a:path extrusionOk="0" h="945" w="1224">
                    <a:moveTo>
                      <a:pt x="183" y="0"/>
                    </a:moveTo>
                    <a:cubicBezTo>
                      <a:pt x="135" y="0"/>
                      <a:pt x="88" y="24"/>
                      <a:pt x="55" y="68"/>
                    </a:cubicBezTo>
                    <a:cubicBezTo>
                      <a:pt x="0" y="141"/>
                      <a:pt x="19" y="251"/>
                      <a:pt x="92" y="287"/>
                    </a:cubicBezTo>
                    <a:lnTo>
                      <a:pt x="1059" y="945"/>
                    </a:lnTo>
                    <a:lnTo>
                      <a:pt x="1224" y="689"/>
                    </a:lnTo>
                    <a:lnTo>
                      <a:pt x="274" y="32"/>
                    </a:lnTo>
                    <a:cubicBezTo>
                      <a:pt x="245" y="10"/>
                      <a:pt x="214" y="0"/>
                      <a:pt x="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36"/>
              <p:cNvSpPr/>
              <p:nvPr/>
            </p:nvSpPr>
            <p:spPr>
              <a:xfrm>
                <a:off x="4069179" y="2015556"/>
                <a:ext cx="54254" cy="41367"/>
              </a:xfrm>
              <a:custGeom>
                <a:rect b="b" l="l" r="r" t="t"/>
                <a:pathLst>
                  <a:path extrusionOk="0" h="947" w="1242">
                    <a:moveTo>
                      <a:pt x="177" y="0"/>
                    </a:moveTo>
                    <a:cubicBezTo>
                      <a:pt x="131" y="0"/>
                      <a:pt x="87" y="20"/>
                      <a:pt x="55" y="52"/>
                    </a:cubicBezTo>
                    <a:cubicBezTo>
                      <a:pt x="0" y="125"/>
                      <a:pt x="18" y="234"/>
                      <a:pt x="110" y="289"/>
                    </a:cubicBezTo>
                    <a:lnTo>
                      <a:pt x="1059" y="946"/>
                    </a:lnTo>
                    <a:lnTo>
                      <a:pt x="1241" y="672"/>
                    </a:lnTo>
                    <a:lnTo>
                      <a:pt x="274" y="34"/>
                    </a:lnTo>
                    <a:cubicBezTo>
                      <a:pt x="243" y="11"/>
                      <a:pt x="210" y="0"/>
                      <a:pt x="1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36"/>
              <p:cNvSpPr/>
              <p:nvPr/>
            </p:nvSpPr>
            <p:spPr>
              <a:xfrm>
                <a:off x="4027681" y="2076143"/>
                <a:ext cx="54297" cy="41367"/>
              </a:xfrm>
              <a:custGeom>
                <a:rect b="b" l="l" r="r" t="t"/>
                <a:pathLst>
                  <a:path extrusionOk="0" h="947" w="1243">
                    <a:moveTo>
                      <a:pt x="185" y="1"/>
                    </a:moveTo>
                    <a:cubicBezTo>
                      <a:pt x="138" y="1"/>
                      <a:pt x="87" y="20"/>
                      <a:pt x="56" y="52"/>
                    </a:cubicBezTo>
                    <a:cubicBezTo>
                      <a:pt x="1" y="125"/>
                      <a:pt x="19" y="235"/>
                      <a:pt x="110" y="289"/>
                    </a:cubicBezTo>
                    <a:lnTo>
                      <a:pt x="1060" y="947"/>
                    </a:lnTo>
                    <a:lnTo>
                      <a:pt x="1242" y="691"/>
                    </a:lnTo>
                    <a:lnTo>
                      <a:pt x="275" y="34"/>
                    </a:lnTo>
                    <a:cubicBezTo>
                      <a:pt x="252" y="11"/>
                      <a:pt x="219" y="1"/>
                      <a:pt x="1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36"/>
              <p:cNvSpPr/>
              <p:nvPr/>
            </p:nvSpPr>
            <p:spPr>
              <a:xfrm>
                <a:off x="3987013" y="2136817"/>
                <a:ext cx="53467" cy="41324"/>
              </a:xfrm>
              <a:custGeom>
                <a:rect b="b" l="l" r="r" t="t"/>
                <a:pathLst>
                  <a:path extrusionOk="0" h="946" w="1224">
                    <a:moveTo>
                      <a:pt x="174" y="0"/>
                    </a:moveTo>
                    <a:cubicBezTo>
                      <a:pt x="127" y="0"/>
                      <a:pt x="78" y="25"/>
                      <a:pt x="56" y="69"/>
                    </a:cubicBezTo>
                    <a:cubicBezTo>
                      <a:pt x="1" y="142"/>
                      <a:pt x="19" y="233"/>
                      <a:pt x="92" y="288"/>
                    </a:cubicBezTo>
                    <a:lnTo>
                      <a:pt x="1060" y="945"/>
                    </a:lnTo>
                    <a:lnTo>
                      <a:pt x="1224" y="689"/>
                    </a:lnTo>
                    <a:lnTo>
                      <a:pt x="256" y="32"/>
                    </a:lnTo>
                    <a:cubicBezTo>
                      <a:pt x="235" y="11"/>
                      <a:pt x="205" y="0"/>
                      <a:pt x="1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36"/>
              <p:cNvSpPr/>
              <p:nvPr/>
            </p:nvSpPr>
            <p:spPr>
              <a:xfrm>
                <a:off x="2357113" y="709250"/>
                <a:ext cx="328580" cy="720106"/>
              </a:xfrm>
              <a:custGeom>
                <a:rect b="b" l="l" r="r" t="t"/>
                <a:pathLst>
                  <a:path extrusionOk="0" h="16485" w="7522">
                    <a:moveTo>
                      <a:pt x="6645" y="2081"/>
                    </a:moveTo>
                    <a:cubicBezTo>
                      <a:pt x="5313" y="2355"/>
                      <a:pt x="4017" y="2757"/>
                      <a:pt x="2775" y="3286"/>
                    </a:cubicBezTo>
                    <a:cubicBezTo>
                      <a:pt x="2027" y="3615"/>
                      <a:pt x="1570" y="3980"/>
                      <a:pt x="1534" y="4947"/>
                    </a:cubicBezTo>
                    <a:cubicBezTo>
                      <a:pt x="1534" y="5458"/>
                      <a:pt x="1589" y="5988"/>
                      <a:pt x="1698" y="6499"/>
                    </a:cubicBezTo>
                    <a:cubicBezTo>
                      <a:pt x="1972" y="7923"/>
                      <a:pt x="2355" y="9347"/>
                      <a:pt x="2666" y="10679"/>
                    </a:cubicBezTo>
                    <a:cubicBezTo>
                      <a:pt x="3140" y="12706"/>
                      <a:pt x="3688" y="14422"/>
                      <a:pt x="3998" y="16247"/>
                    </a:cubicBezTo>
                    <a:cubicBezTo>
                      <a:pt x="3670" y="16338"/>
                      <a:pt x="3378" y="16430"/>
                      <a:pt x="3049" y="16485"/>
                    </a:cubicBezTo>
                    <a:cubicBezTo>
                      <a:pt x="2063" y="13819"/>
                      <a:pt x="1242" y="11081"/>
                      <a:pt x="585" y="8306"/>
                    </a:cubicBezTo>
                    <a:cubicBezTo>
                      <a:pt x="366" y="7339"/>
                      <a:pt x="92" y="6335"/>
                      <a:pt x="19" y="5349"/>
                    </a:cubicBezTo>
                    <a:cubicBezTo>
                      <a:pt x="1" y="5075"/>
                      <a:pt x="1" y="4783"/>
                      <a:pt x="19" y="4509"/>
                    </a:cubicBezTo>
                    <a:cubicBezTo>
                      <a:pt x="128" y="3067"/>
                      <a:pt x="1260" y="2337"/>
                      <a:pt x="2428" y="1899"/>
                    </a:cubicBezTo>
                    <a:cubicBezTo>
                      <a:pt x="3688" y="1406"/>
                      <a:pt x="5112" y="1242"/>
                      <a:pt x="6609" y="1059"/>
                    </a:cubicBezTo>
                    <a:cubicBezTo>
                      <a:pt x="6737" y="694"/>
                      <a:pt x="6682" y="0"/>
                      <a:pt x="7065" y="37"/>
                    </a:cubicBezTo>
                    <a:cubicBezTo>
                      <a:pt x="7503" y="73"/>
                      <a:pt x="7522" y="822"/>
                      <a:pt x="7522" y="1479"/>
                    </a:cubicBezTo>
                    <a:cubicBezTo>
                      <a:pt x="7522" y="2154"/>
                      <a:pt x="7485" y="2958"/>
                      <a:pt x="7029" y="2921"/>
                    </a:cubicBezTo>
                    <a:cubicBezTo>
                      <a:pt x="6682" y="2884"/>
                      <a:pt x="6737" y="2410"/>
                      <a:pt x="6645" y="20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36"/>
              <p:cNvSpPr/>
              <p:nvPr/>
            </p:nvSpPr>
            <p:spPr>
              <a:xfrm>
                <a:off x="2800483" y="709250"/>
                <a:ext cx="328580" cy="720106"/>
              </a:xfrm>
              <a:custGeom>
                <a:rect b="b" l="l" r="r" t="t"/>
                <a:pathLst>
                  <a:path extrusionOk="0" h="16485" w="7522">
                    <a:moveTo>
                      <a:pt x="877" y="2081"/>
                    </a:moveTo>
                    <a:cubicBezTo>
                      <a:pt x="2191" y="2355"/>
                      <a:pt x="3505" y="2757"/>
                      <a:pt x="4747" y="3286"/>
                    </a:cubicBezTo>
                    <a:cubicBezTo>
                      <a:pt x="5495" y="3615"/>
                      <a:pt x="5951" y="3980"/>
                      <a:pt x="5988" y="4947"/>
                    </a:cubicBezTo>
                    <a:cubicBezTo>
                      <a:pt x="5988" y="5458"/>
                      <a:pt x="5933" y="5988"/>
                      <a:pt x="5824" y="6499"/>
                    </a:cubicBezTo>
                    <a:cubicBezTo>
                      <a:pt x="5550" y="7923"/>
                      <a:pt x="5167" y="9347"/>
                      <a:pt x="4856" y="10679"/>
                    </a:cubicBezTo>
                    <a:cubicBezTo>
                      <a:pt x="4382" y="12706"/>
                      <a:pt x="3816" y="14422"/>
                      <a:pt x="3524" y="16247"/>
                    </a:cubicBezTo>
                    <a:cubicBezTo>
                      <a:pt x="3852" y="16338"/>
                      <a:pt x="4144" y="16430"/>
                      <a:pt x="4473" y="16485"/>
                    </a:cubicBezTo>
                    <a:cubicBezTo>
                      <a:pt x="5459" y="13819"/>
                      <a:pt x="6280" y="11081"/>
                      <a:pt x="6937" y="8306"/>
                    </a:cubicBezTo>
                    <a:cubicBezTo>
                      <a:pt x="7156" y="7339"/>
                      <a:pt x="7430" y="6335"/>
                      <a:pt x="7503" y="5349"/>
                    </a:cubicBezTo>
                    <a:cubicBezTo>
                      <a:pt x="7521" y="5075"/>
                      <a:pt x="7521" y="4783"/>
                      <a:pt x="7503" y="4509"/>
                    </a:cubicBezTo>
                    <a:cubicBezTo>
                      <a:pt x="7394" y="3067"/>
                      <a:pt x="6262" y="2337"/>
                      <a:pt x="5093" y="1899"/>
                    </a:cubicBezTo>
                    <a:cubicBezTo>
                      <a:pt x="3834" y="1406"/>
                      <a:pt x="2410" y="1242"/>
                      <a:pt x="913" y="1059"/>
                    </a:cubicBezTo>
                    <a:cubicBezTo>
                      <a:pt x="785" y="694"/>
                      <a:pt x="840" y="0"/>
                      <a:pt x="457" y="37"/>
                    </a:cubicBezTo>
                    <a:cubicBezTo>
                      <a:pt x="19" y="73"/>
                      <a:pt x="0" y="822"/>
                      <a:pt x="0" y="1479"/>
                    </a:cubicBezTo>
                    <a:cubicBezTo>
                      <a:pt x="0" y="2154"/>
                      <a:pt x="37" y="2958"/>
                      <a:pt x="493" y="2921"/>
                    </a:cubicBezTo>
                    <a:cubicBezTo>
                      <a:pt x="822" y="2884"/>
                      <a:pt x="767" y="2410"/>
                      <a:pt x="877" y="20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36"/>
              <p:cNvSpPr/>
              <p:nvPr/>
            </p:nvSpPr>
            <p:spPr>
              <a:xfrm>
                <a:off x="2464745" y="1387061"/>
                <a:ext cx="1220926" cy="885968"/>
              </a:xfrm>
              <a:custGeom>
                <a:rect b="b" l="l" r="r" t="t"/>
                <a:pathLst>
                  <a:path extrusionOk="0" h="20282" w="27950">
                    <a:moveTo>
                      <a:pt x="10753" y="0"/>
                    </a:moveTo>
                    <a:cubicBezTo>
                      <a:pt x="11593" y="73"/>
                      <a:pt x="12414" y="146"/>
                      <a:pt x="13236" y="219"/>
                    </a:cubicBezTo>
                    <a:cubicBezTo>
                      <a:pt x="12761" y="3815"/>
                      <a:pt x="11155" y="6261"/>
                      <a:pt x="8015" y="7193"/>
                    </a:cubicBezTo>
                    <a:cubicBezTo>
                      <a:pt x="8344" y="8799"/>
                      <a:pt x="8617" y="10296"/>
                      <a:pt x="9165" y="11665"/>
                    </a:cubicBezTo>
                    <a:cubicBezTo>
                      <a:pt x="9676" y="12943"/>
                      <a:pt x="10352" y="14148"/>
                      <a:pt x="11191" y="15225"/>
                    </a:cubicBezTo>
                    <a:cubicBezTo>
                      <a:pt x="12013" y="16302"/>
                      <a:pt x="12889" y="17178"/>
                      <a:pt x="14203" y="17799"/>
                    </a:cubicBezTo>
                    <a:cubicBezTo>
                      <a:pt x="15481" y="18401"/>
                      <a:pt x="17307" y="18511"/>
                      <a:pt x="18913" y="17981"/>
                    </a:cubicBezTo>
                    <a:cubicBezTo>
                      <a:pt x="20282" y="17525"/>
                      <a:pt x="21286" y="16612"/>
                      <a:pt x="22071" y="15553"/>
                    </a:cubicBezTo>
                    <a:cubicBezTo>
                      <a:pt x="22875" y="14440"/>
                      <a:pt x="23276" y="13052"/>
                      <a:pt x="23495" y="11391"/>
                    </a:cubicBezTo>
                    <a:cubicBezTo>
                      <a:pt x="23605" y="10533"/>
                      <a:pt x="23660" y="9712"/>
                      <a:pt x="23842" y="8945"/>
                    </a:cubicBezTo>
                    <a:cubicBezTo>
                      <a:pt x="24371" y="6736"/>
                      <a:pt x="25266" y="4838"/>
                      <a:pt x="27767" y="4491"/>
                    </a:cubicBezTo>
                    <a:cubicBezTo>
                      <a:pt x="27803" y="4655"/>
                      <a:pt x="27840" y="4801"/>
                      <a:pt x="27876" y="4965"/>
                    </a:cubicBezTo>
                    <a:cubicBezTo>
                      <a:pt x="27913" y="5130"/>
                      <a:pt x="27949" y="5294"/>
                      <a:pt x="27949" y="5458"/>
                    </a:cubicBezTo>
                    <a:cubicBezTo>
                      <a:pt x="27913" y="5623"/>
                      <a:pt x="27639" y="5714"/>
                      <a:pt x="27511" y="5805"/>
                    </a:cubicBezTo>
                    <a:cubicBezTo>
                      <a:pt x="27384" y="5933"/>
                      <a:pt x="27238" y="6061"/>
                      <a:pt x="27091" y="6170"/>
                    </a:cubicBezTo>
                    <a:cubicBezTo>
                      <a:pt x="26124" y="7211"/>
                      <a:pt x="25576" y="8708"/>
                      <a:pt x="25302" y="10405"/>
                    </a:cubicBezTo>
                    <a:cubicBezTo>
                      <a:pt x="25156" y="11318"/>
                      <a:pt x="25120" y="12194"/>
                      <a:pt x="24956" y="13052"/>
                    </a:cubicBezTo>
                    <a:cubicBezTo>
                      <a:pt x="24773" y="13819"/>
                      <a:pt x="24518" y="14549"/>
                      <a:pt x="24171" y="15261"/>
                    </a:cubicBezTo>
                    <a:cubicBezTo>
                      <a:pt x="23550" y="16557"/>
                      <a:pt x="22619" y="17689"/>
                      <a:pt x="21451" y="18547"/>
                    </a:cubicBezTo>
                    <a:cubicBezTo>
                      <a:pt x="20191" y="19533"/>
                      <a:pt x="18658" y="20099"/>
                      <a:pt x="17069" y="20172"/>
                    </a:cubicBezTo>
                    <a:cubicBezTo>
                      <a:pt x="14642" y="20281"/>
                      <a:pt x="12250" y="19405"/>
                      <a:pt x="10479" y="17744"/>
                    </a:cubicBezTo>
                    <a:cubicBezTo>
                      <a:pt x="8873" y="16229"/>
                      <a:pt x="7668" y="14312"/>
                      <a:pt x="7029" y="12176"/>
                    </a:cubicBezTo>
                    <a:cubicBezTo>
                      <a:pt x="6518" y="10588"/>
                      <a:pt x="6153" y="8945"/>
                      <a:pt x="5952" y="7266"/>
                    </a:cubicBezTo>
                    <a:cubicBezTo>
                      <a:pt x="4419" y="6992"/>
                      <a:pt x="3031" y="6207"/>
                      <a:pt x="2027" y="5020"/>
                    </a:cubicBezTo>
                    <a:cubicBezTo>
                      <a:pt x="987" y="3870"/>
                      <a:pt x="275" y="2446"/>
                      <a:pt x="1" y="913"/>
                    </a:cubicBezTo>
                    <a:cubicBezTo>
                      <a:pt x="804" y="694"/>
                      <a:pt x="1626" y="493"/>
                      <a:pt x="2484" y="329"/>
                    </a:cubicBezTo>
                    <a:cubicBezTo>
                      <a:pt x="2885" y="1789"/>
                      <a:pt x="3469" y="3085"/>
                      <a:pt x="4437" y="4053"/>
                    </a:cubicBezTo>
                    <a:cubicBezTo>
                      <a:pt x="4912" y="4564"/>
                      <a:pt x="5532" y="4929"/>
                      <a:pt x="6208" y="5111"/>
                    </a:cubicBezTo>
                    <a:cubicBezTo>
                      <a:pt x="6974" y="5276"/>
                      <a:pt x="7796" y="5130"/>
                      <a:pt x="8453" y="4692"/>
                    </a:cubicBezTo>
                    <a:cubicBezTo>
                      <a:pt x="9786" y="3815"/>
                      <a:pt x="10479" y="2136"/>
                      <a:pt x="10698" y="91"/>
                    </a:cubicBezTo>
                    <a:cubicBezTo>
                      <a:pt x="10698" y="55"/>
                      <a:pt x="10717" y="18"/>
                      <a:pt x="107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36"/>
              <p:cNvSpPr/>
              <p:nvPr/>
            </p:nvSpPr>
            <p:spPr>
              <a:xfrm>
                <a:off x="3587543" y="1464378"/>
                <a:ext cx="306258" cy="319013"/>
              </a:xfrm>
              <a:custGeom>
                <a:rect b="b" l="l" r="r" t="t"/>
                <a:pathLst>
                  <a:path extrusionOk="0" h="7303" w="7011">
                    <a:moveTo>
                      <a:pt x="3469" y="56"/>
                    </a:moveTo>
                    <a:cubicBezTo>
                      <a:pt x="4473" y="1"/>
                      <a:pt x="5440" y="402"/>
                      <a:pt x="6097" y="1169"/>
                    </a:cubicBezTo>
                    <a:cubicBezTo>
                      <a:pt x="6681" y="1808"/>
                      <a:pt x="6992" y="2629"/>
                      <a:pt x="7010" y="3487"/>
                    </a:cubicBezTo>
                    <a:cubicBezTo>
                      <a:pt x="7010" y="4418"/>
                      <a:pt x="6627" y="5295"/>
                      <a:pt x="5933" y="5915"/>
                    </a:cubicBezTo>
                    <a:cubicBezTo>
                      <a:pt x="5312" y="6518"/>
                      <a:pt x="4546" y="6919"/>
                      <a:pt x="3706" y="7084"/>
                    </a:cubicBezTo>
                    <a:cubicBezTo>
                      <a:pt x="2264" y="7303"/>
                      <a:pt x="1077" y="6372"/>
                      <a:pt x="548" y="5349"/>
                    </a:cubicBezTo>
                    <a:cubicBezTo>
                      <a:pt x="347" y="5003"/>
                      <a:pt x="219" y="4619"/>
                      <a:pt x="164" y="4218"/>
                    </a:cubicBezTo>
                    <a:cubicBezTo>
                      <a:pt x="0" y="2319"/>
                      <a:pt x="949" y="914"/>
                      <a:pt x="2136" y="348"/>
                    </a:cubicBezTo>
                    <a:cubicBezTo>
                      <a:pt x="2556" y="183"/>
                      <a:pt x="3012" y="74"/>
                      <a:pt x="3469" y="5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36"/>
              <p:cNvSpPr/>
              <p:nvPr/>
            </p:nvSpPr>
            <p:spPr>
              <a:xfrm>
                <a:off x="3651318" y="1519417"/>
                <a:ext cx="200983" cy="185039"/>
              </a:xfrm>
              <a:custGeom>
                <a:rect b="b" l="l" r="r" t="t"/>
                <a:pathLst>
                  <a:path extrusionOk="0" h="4236" w="4601">
                    <a:moveTo>
                      <a:pt x="1917" y="110"/>
                    </a:moveTo>
                    <a:cubicBezTo>
                      <a:pt x="2666" y="0"/>
                      <a:pt x="3414" y="347"/>
                      <a:pt x="3834" y="986"/>
                    </a:cubicBezTo>
                    <a:cubicBezTo>
                      <a:pt x="3925" y="1114"/>
                      <a:pt x="3998" y="1260"/>
                      <a:pt x="4071" y="1406"/>
                    </a:cubicBezTo>
                    <a:cubicBezTo>
                      <a:pt x="4601" y="2739"/>
                      <a:pt x="3725" y="4217"/>
                      <a:pt x="2282" y="4236"/>
                    </a:cubicBezTo>
                    <a:cubicBezTo>
                      <a:pt x="1169" y="4236"/>
                      <a:pt x="165" y="3505"/>
                      <a:pt x="55" y="2428"/>
                    </a:cubicBezTo>
                    <a:cubicBezTo>
                      <a:pt x="0" y="1753"/>
                      <a:pt x="256" y="1077"/>
                      <a:pt x="785" y="639"/>
                    </a:cubicBezTo>
                    <a:cubicBezTo>
                      <a:pt x="1096" y="365"/>
                      <a:pt x="1497" y="165"/>
                      <a:pt x="1917" y="1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4" name="Google Shape;374;p36"/>
            <p:cNvGrpSpPr/>
            <p:nvPr/>
          </p:nvGrpSpPr>
          <p:grpSpPr>
            <a:xfrm>
              <a:off x="5134407" y="2468361"/>
              <a:ext cx="753147" cy="515697"/>
              <a:chOff x="4549425" y="3498550"/>
              <a:chExt cx="295375" cy="202250"/>
            </a:xfrm>
          </p:grpSpPr>
          <p:sp>
            <p:nvSpPr>
              <p:cNvPr id="375" name="Google Shape;375;p36"/>
              <p:cNvSpPr/>
              <p:nvPr/>
            </p:nvSpPr>
            <p:spPr>
              <a:xfrm>
                <a:off x="4549425" y="3498550"/>
                <a:ext cx="295375" cy="202250"/>
              </a:xfrm>
              <a:custGeom>
                <a:rect b="b" l="l" r="r" t="t"/>
                <a:pathLst>
                  <a:path extrusionOk="0" h="8090" w="11815">
                    <a:moveTo>
                      <a:pt x="1" y="1"/>
                    </a:moveTo>
                    <a:lnTo>
                      <a:pt x="1" y="8090"/>
                    </a:lnTo>
                    <a:lnTo>
                      <a:pt x="11815" y="8090"/>
                    </a:lnTo>
                    <a:lnTo>
                      <a:pt x="118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36"/>
              <p:cNvSpPr/>
              <p:nvPr/>
            </p:nvSpPr>
            <p:spPr>
              <a:xfrm>
                <a:off x="4574450" y="3683025"/>
                <a:ext cx="18125" cy="17775"/>
              </a:xfrm>
              <a:custGeom>
                <a:rect b="b" l="l" r="r" t="t"/>
                <a:pathLst>
                  <a:path extrusionOk="0" h="711" w="725">
                    <a:moveTo>
                      <a:pt x="0" y="0"/>
                    </a:moveTo>
                    <a:lnTo>
                      <a:pt x="0" y="711"/>
                    </a:lnTo>
                    <a:lnTo>
                      <a:pt x="725" y="711"/>
                    </a:lnTo>
                    <a:lnTo>
                      <a:pt x="7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36"/>
              <p:cNvSpPr/>
              <p:nvPr/>
            </p:nvSpPr>
            <p:spPr>
              <a:xfrm>
                <a:off x="4612500" y="3631925"/>
                <a:ext cx="17775" cy="68875"/>
              </a:xfrm>
              <a:custGeom>
                <a:rect b="b" l="l" r="r" t="t"/>
                <a:pathLst>
                  <a:path extrusionOk="0" h="2755" w="711">
                    <a:moveTo>
                      <a:pt x="0" y="0"/>
                    </a:moveTo>
                    <a:lnTo>
                      <a:pt x="0" y="2755"/>
                    </a:lnTo>
                    <a:lnTo>
                      <a:pt x="710" y="2755"/>
                    </a:lnTo>
                    <a:lnTo>
                      <a:pt x="71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36"/>
              <p:cNvSpPr/>
              <p:nvPr/>
            </p:nvSpPr>
            <p:spPr>
              <a:xfrm>
                <a:off x="4650175" y="3599675"/>
                <a:ext cx="17775" cy="101125"/>
              </a:xfrm>
              <a:custGeom>
                <a:rect b="b" l="l" r="r" t="t"/>
                <a:pathLst>
                  <a:path extrusionOk="0" h="4045" w="711">
                    <a:moveTo>
                      <a:pt x="1" y="0"/>
                    </a:moveTo>
                    <a:lnTo>
                      <a:pt x="1" y="4045"/>
                    </a:lnTo>
                    <a:lnTo>
                      <a:pt x="711" y="4045"/>
                    </a:lnTo>
                    <a:lnTo>
                      <a:pt x="71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36"/>
              <p:cNvSpPr/>
              <p:nvPr/>
            </p:nvSpPr>
            <p:spPr>
              <a:xfrm>
                <a:off x="4688225" y="3553275"/>
                <a:ext cx="17775" cy="147525"/>
              </a:xfrm>
              <a:custGeom>
                <a:rect b="b" l="l" r="r" t="t"/>
                <a:pathLst>
                  <a:path extrusionOk="0" h="5901" w="711">
                    <a:moveTo>
                      <a:pt x="1" y="1"/>
                    </a:moveTo>
                    <a:lnTo>
                      <a:pt x="1" y="5901"/>
                    </a:lnTo>
                    <a:lnTo>
                      <a:pt x="711" y="5901"/>
                    </a:lnTo>
                    <a:lnTo>
                      <a:pt x="7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36"/>
              <p:cNvSpPr/>
              <p:nvPr/>
            </p:nvSpPr>
            <p:spPr>
              <a:xfrm>
                <a:off x="4725925" y="3517050"/>
                <a:ext cx="17775" cy="183750"/>
              </a:xfrm>
              <a:custGeom>
                <a:rect b="b" l="l" r="r" t="t"/>
                <a:pathLst>
                  <a:path extrusionOk="0" h="7350" w="711">
                    <a:moveTo>
                      <a:pt x="0" y="0"/>
                    </a:moveTo>
                    <a:lnTo>
                      <a:pt x="0" y="7350"/>
                    </a:lnTo>
                    <a:lnTo>
                      <a:pt x="711" y="7350"/>
                    </a:lnTo>
                    <a:lnTo>
                      <a:pt x="71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36"/>
              <p:cNvSpPr/>
              <p:nvPr/>
            </p:nvSpPr>
            <p:spPr>
              <a:xfrm>
                <a:off x="4763600" y="3654025"/>
                <a:ext cx="18150" cy="46775"/>
              </a:xfrm>
              <a:custGeom>
                <a:rect b="b" l="l" r="r" t="t"/>
                <a:pathLst>
                  <a:path extrusionOk="0" h="1871" w="726">
                    <a:moveTo>
                      <a:pt x="1" y="1"/>
                    </a:moveTo>
                    <a:lnTo>
                      <a:pt x="1" y="1871"/>
                    </a:lnTo>
                    <a:lnTo>
                      <a:pt x="726" y="1871"/>
                    </a:lnTo>
                    <a:lnTo>
                      <a:pt x="7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36"/>
              <p:cNvSpPr/>
              <p:nvPr/>
            </p:nvSpPr>
            <p:spPr>
              <a:xfrm>
                <a:off x="4801650" y="3594225"/>
                <a:ext cx="17800" cy="106575"/>
              </a:xfrm>
              <a:custGeom>
                <a:rect b="b" l="l" r="r" t="t"/>
                <a:pathLst>
                  <a:path extrusionOk="0" h="4263" w="712">
                    <a:moveTo>
                      <a:pt x="1" y="1"/>
                    </a:moveTo>
                    <a:lnTo>
                      <a:pt x="1" y="4263"/>
                    </a:lnTo>
                    <a:lnTo>
                      <a:pt x="711" y="4263"/>
                    </a:lnTo>
                    <a:lnTo>
                      <a:pt x="7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3" name="Google Shape;383;p36"/>
            <p:cNvSpPr/>
            <p:nvPr/>
          </p:nvSpPr>
          <p:spPr>
            <a:xfrm flipH="1">
              <a:off x="5219363" y="937100"/>
              <a:ext cx="552233" cy="515696"/>
            </a:xfrm>
            <a:custGeom>
              <a:rect b="b" l="l" r="r" t="t"/>
              <a:pathLst>
                <a:path extrusionOk="0" h="9866" w="10565">
                  <a:moveTo>
                    <a:pt x="4552" y="1"/>
                  </a:moveTo>
                  <a:cubicBezTo>
                    <a:pt x="2229" y="1"/>
                    <a:pt x="0" y="1811"/>
                    <a:pt x="0" y="4539"/>
                  </a:cubicBezTo>
                  <a:cubicBezTo>
                    <a:pt x="0" y="6145"/>
                    <a:pt x="876" y="7642"/>
                    <a:pt x="2282" y="8463"/>
                  </a:cubicBezTo>
                  <a:cubicBezTo>
                    <a:pt x="2191" y="8902"/>
                    <a:pt x="2081" y="9358"/>
                    <a:pt x="1917" y="9778"/>
                  </a:cubicBezTo>
                  <a:cubicBezTo>
                    <a:pt x="1903" y="9831"/>
                    <a:pt x="1949" y="9865"/>
                    <a:pt x="1988" y="9865"/>
                  </a:cubicBezTo>
                  <a:cubicBezTo>
                    <a:pt x="2003" y="9865"/>
                    <a:pt x="2017" y="9861"/>
                    <a:pt x="2026" y="9851"/>
                  </a:cubicBezTo>
                  <a:lnTo>
                    <a:pt x="2884" y="8755"/>
                  </a:lnTo>
                  <a:cubicBezTo>
                    <a:pt x="3395" y="8956"/>
                    <a:pt x="3961" y="9048"/>
                    <a:pt x="4527" y="9048"/>
                  </a:cubicBezTo>
                  <a:cubicBezTo>
                    <a:pt x="4535" y="9048"/>
                    <a:pt x="4542" y="9048"/>
                    <a:pt x="4550" y="9048"/>
                  </a:cubicBezTo>
                  <a:cubicBezTo>
                    <a:pt x="8551" y="9048"/>
                    <a:pt x="10564" y="4186"/>
                    <a:pt x="7722" y="1344"/>
                  </a:cubicBezTo>
                  <a:cubicBezTo>
                    <a:pt x="6800" y="416"/>
                    <a:pt x="5665" y="1"/>
                    <a:pt x="45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6"/>
            <p:cNvSpPr/>
            <p:nvPr/>
          </p:nvSpPr>
          <p:spPr>
            <a:xfrm flipH="1">
              <a:off x="5360335" y="1047286"/>
              <a:ext cx="349268" cy="295953"/>
            </a:xfrm>
            <a:custGeom>
              <a:rect b="b" l="l" r="r" t="t"/>
              <a:pathLst>
                <a:path extrusionOk="0" h="5662" w="6682">
                  <a:moveTo>
                    <a:pt x="1721" y="1"/>
                  </a:moveTo>
                  <a:cubicBezTo>
                    <a:pt x="861" y="1"/>
                    <a:pt x="1" y="606"/>
                    <a:pt x="1" y="1700"/>
                  </a:cubicBezTo>
                  <a:cubicBezTo>
                    <a:pt x="1" y="3599"/>
                    <a:pt x="3341" y="5662"/>
                    <a:pt x="3341" y="5662"/>
                  </a:cubicBezTo>
                  <a:cubicBezTo>
                    <a:pt x="3341" y="5662"/>
                    <a:pt x="6682" y="3380"/>
                    <a:pt x="6682" y="1700"/>
                  </a:cubicBezTo>
                  <a:cubicBezTo>
                    <a:pt x="6682" y="769"/>
                    <a:pt x="5915" y="3"/>
                    <a:pt x="4984" y="3"/>
                  </a:cubicBezTo>
                  <a:cubicBezTo>
                    <a:pt x="4218" y="3"/>
                    <a:pt x="3560" y="496"/>
                    <a:pt x="3341" y="1226"/>
                  </a:cubicBezTo>
                  <a:cubicBezTo>
                    <a:pt x="3098" y="389"/>
                    <a:pt x="2410" y="1"/>
                    <a:pt x="172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6"/>
            <p:cNvSpPr/>
            <p:nvPr/>
          </p:nvSpPr>
          <p:spPr>
            <a:xfrm flipH="1">
              <a:off x="5394676" y="1144718"/>
              <a:ext cx="293914" cy="108826"/>
            </a:xfrm>
            <a:custGeom>
              <a:rect b="b" l="l" r="r" t="t"/>
              <a:pathLst>
                <a:path extrusionOk="0" h="2082" w="5623">
                  <a:moveTo>
                    <a:pt x="2428" y="1"/>
                  </a:moveTo>
                  <a:cubicBezTo>
                    <a:pt x="2410" y="1"/>
                    <a:pt x="2392" y="19"/>
                    <a:pt x="2373" y="37"/>
                  </a:cubicBezTo>
                  <a:lnTo>
                    <a:pt x="2081" y="1078"/>
                  </a:lnTo>
                  <a:lnTo>
                    <a:pt x="0" y="1078"/>
                  </a:lnTo>
                  <a:cubicBezTo>
                    <a:pt x="18" y="1114"/>
                    <a:pt x="55" y="1151"/>
                    <a:pt x="73" y="1187"/>
                  </a:cubicBezTo>
                  <a:lnTo>
                    <a:pt x="2136" y="1187"/>
                  </a:lnTo>
                  <a:cubicBezTo>
                    <a:pt x="2154" y="1187"/>
                    <a:pt x="2191" y="1169"/>
                    <a:pt x="2191" y="1151"/>
                  </a:cubicBezTo>
                  <a:lnTo>
                    <a:pt x="2428" y="293"/>
                  </a:lnTo>
                  <a:lnTo>
                    <a:pt x="2885" y="2027"/>
                  </a:lnTo>
                  <a:cubicBezTo>
                    <a:pt x="2903" y="2045"/>
                    <a:pt x="2921" y="2063"/>
                    <a:pt x="2939" y="2082"/>
                  </a:cubicBezTo>
                  <a:cubicBezTo>
                    <a:pt x="2976" y="2082"/>
                    <a:pt x="2994" y="2063"/>
                    <a:pt x="2994" y="2027"/>
                  </a:cubicBezTo>
                  <a:lnTo>
                    <a:pt x="3487" y="804"/>
                  </a:lnTo>
                  <a:lnTo>
                    <a:pt x="3651" y="1406"/>
                  </a:lnTo>
                  <a:cubicBezTo>
                    <a:pt x="3651" y="1425"/>
                    <a:pt x="3688" y="1443"/>
                    <a:pt x="3706" y="1443"/>
                  </a:cubicBezTo>
                  <a:lnTo>
                    <a:pt x="5532" y="1443"/>
                  </a:lnTo>
                  <a:cubicBezTo>
                    <a:pt x="5568" y="1406"/>
                    <a:pt x="5605" y="1370"/>
                    <a:pt x="5623" y="1315"/>
                  </a:cubicBezTo>
                  <a:lnTo>
                    <a:pt x="5623" y="1315"/>
                  </a:lnTo>
                  <a:lnTo>
                    <a:pt x="3761" y="1333"/>
                  </a:lnTo>
                  <a:lnTo>
                    <a:pt x="3578" y="585"/>
                  </a:lnTo>
                  <a:cubicBezTo>
                    <a:pt x="3578" y="567"/>
                    <a:pt x="3560" y="548"/>
                    <a:pt x="3523" y="548"/>
                  </a:cubicBezTo>
                  <a:cubicBezTo>
                    <a:pt x="3505" y="548"/>
                    <a:pt x="3469" y="567"/>
                    <a:pt x="3469" y="585"/>
                  </a:cubicBezTo>
                  <a:lnTo>
                    <a:pt x="2976" y="1826"/>
                  </a:lnTo>
                  <a:lnTo>
                    <a:pt x="2501" y="37"/>
                  </a:lnTo>
                  <a:cubicBezTo>
                    <a:pt x="2483" y="19"/>
                    <a:pt x="2465" y="1"/>
                    <a:pt x="242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7084550" y="622868"/>
              <a:ext cx="430242" cy="425873"/>
            </a:xfrm>
            <a:custGeom>
              <a:rect b="b" l="l" r="r" t="t"/>
              <a:pathLst>
                <a:path extrusionOk="0" h="5654" w="5712">
                  <a:moveTo>
                    <a:pt x="2872" y="1323"/>
                  </a:moveTo>
                  <a:cubicBezTo>
                    <a:pt x="2914" y="1323"/>
                    <a:pt x="2958" y="1327"/>
                    <a:pt x="3001" y="1334"/>
                  </a:cubicBezTo>
                  <a:lnTo>
                    <a:pt x="3073" y="1334"/>
                  </a:lnTo>
                  <a:cubicBezTo>
                    <a:pt x="3110" y="1341"/>
                    <a:pt x="3121" y="1341"/>
                    <a:pt x="3131" y="1341"/>
                  </a:cubicBezTo>
                  <a:cubicBezTo>
                    <a:pt x="3142" y="1341"/>
                    <a:pt x="3153" y="1341"/>
                    <a:pt x="3189" y="1349"/>
                  </a:cubicBezTo>
                  <a:cubicBezTo>
                    <a:pt x="3247" y="1363"/>
                    <a:pt x="3291" y="1378"/>
                    <a:pt x="3349" y="1392"/>
                  </a:cubicBezTo>
                  <a:lnTo>
                    <a:pt x="3392" y="1407"/>
                  </a:lnTo>
                  <a:cubicBezTo>
                    <a:pt x="3465" y="1436"/>
                    <a:pt x="3537" y="1465"/>
                    <a:pt x="3595" y="1508"/>
                  </a:cubicBezTo>
                  <a:lnTo>
                    <a:pt x="3668" y="1537"/>
                  </a:lnTo>
                  <a:cubicBezTo>
                    <a:pt x="3682" y="1552"/>
                    <a:pt x="3697" y="1566"/>
                    <a:pt x="3726" y="1581"/>
                  </a:cubicBezTo>
                  <a:lnTo>
                    <a:pt x="3784" y="1624"/>
                  </a:lnTo>
                  <a:lnTo>
                    <a:pt x="3842" y="1668"/>
                  </a:lnTo>
                  <a:lnTo>
                    <a:pt x="3900" y="1711"/>
                  </a:lnTo>
                  <a:cubicBezTo>
                    <a:pt x="3929" y="1740"/>
                    <a:pt x="3972" y="1783"/>
                    <a:pt x="4001" y="1812"/>
                  </a:cubicBezTo>
                  <a:cubicBezTo>
                    <a:pt x="4016" y="1827"/>
                    <a:pt x="4030" y="1841"/>
                    <a:pt x="4045" y="1856"/>
                  </a:cubicBezTo>
                  <a:cubicBezTo>
                    <a:pt x="4059" y="1885"/>
                    <a:pt x="4088" y="1914"/>
                    <a:pt x="4103" y="1943"/>
                  </a:cubicBezTo>
                  <a:lnTo>
                    <a:pt x="4132" y="1986"/>
                  </a:lnTo>
                  <a:cubicBezTo>
                    <a:pt x="4161" y="2030"/>
                    <a:pt x="4190" y="2073"/>
                    <a:pt x="4219" y="2131"/>
                  </a:cubicBezTo>
                  <a:cubicBezTo>
                    <a:pt x="4233" y="2146"/>
                    <a:pt x="4248" y="2175"/>
                    <a:pt x="4248" y="2189"/>
                  </a:cubicBezTo>
                  <a:lnTo>
                    <a:pt x="4248" y="2204"/>
                  </a:lnTo>
                  <a:cubicBezTo>
                    <a:pt x="4262" y="2218"/>
                    <a:pt x="4277" y="2247"/>
                    <a:pt x="4277" y="2262"/>
                  </a:cubicBezTo>
                  <a:cubicBezTo>
                    <a:pt x="4277" y="2291"/>
                    <a:pt x="4291" y="2305"/>
                    <a:pt x="4291" y="2320"/>
                  </a:cubicBezTo>
                  <a:lnTo>
                    <a:pt x="4306" y="2349"/>
                  </a:lnTo>
                  <a:cubicBezTo>
                    <a:pt x="4320" y="2407"/>
                    <a:pt x="4335" y="2450"/>
                    <a:pt x="4349" y="2508"/>
                  </a:cubicBezTo>
                  <a:lnTo>
                    <a:pt x="4349" y="2552"/>
                  </a:lnTo>
                  <a:cubicBezTo>
                    <a:pt x="4349" y="2566"/>
                    <a:pt x="4364" y="2624"/>
                    <a:pt x="4364" y="2668"/>
                  </a:cubicBezTo>
                  <a:cubicBezTo>
                    <a:pt x="4364" y="2711"/>
                    <a:pt x="4364" y="2769"/>
                    <a:pt x="4364" y="2827"/>
                  </a:cubicBezTo>
                  <a:cubicBezTo>
                    <a:pt x="4378" y="2871"/>
                    <a:pt x="4378" y="2929"/>
                    <a:pt x="4378" y="2987"/>
                  </a:cubicBezTo>
                  <a:lnTo>
                    <a:pt x="4378" y="3001"/>
                  </a:lnTo>
                  <a:cubicBezTo>
                    <a:pt x="4378" y="3016"/>
                    <a:pt x="4378" y="3059"/>
                    <a:pt x="4364" y="3074"/>
                  </a:cubicBezTo>
                  <a:cubicBezTo>
                    <a:pt x="4364" y="3103"/>
                    <a:pt x="4364" y="3132"/>
                    <a:pt x="4349" y="3161"/>
                  </a:cubicBezTo>
                  <a:cubicBezTo>
                    <a:pt x="4349" y="3204"/>
                    <a:pt x="4335" y="3248"/>
                    <a:pt x="4320" y="3306"/>
                  </a:cubicBezTo>
                  <a:lnTo>
                    <a:pt x="4277" y="3393"/>
                  </a:lnTo>
                  <a:cubicBezTo>
                    <a:pt x="4277" y="3421"/>
                    <a:pt x="4262" y="3436"/>
                    <a:pt x="4248" y="3465"/>
                  </a:cubicBezTo>
                  <a:lnTo>
                    <a:pt x="4219" y="3523"/>
                  </a:lnTo>
                  <a:cubicBezTo>
                    <a:pt x="4190" y="3566"/>
                    <a:pt x="4175" y="3624"/>
                    <a:pt x="4132" y="3668"/>
                  </a:cubicBezTo>
                  <a:cubicBezTo>
                    <a:pt x="4132" y="3668"/>
                    <a:pt x="4117" y="3682"/>
                    <a:pt x="4117" y="3697"/>
                  </a:cubicBezTo>
                  <a:cubicBezTo>
                    <a:pt x="4103" y="3711"/>
                    <a:pt x="4103" y="3711"/>
                    <a:pt x="4103" y="3711"/>
                  </a:cubicBezTo>
                  <a:lnTo>
                    <a:pt x="4074" y="3755"/>
                  </a:lnTo>
                  <a:lnTo>
                    <a:pt x="4030" y="3813"/>
                  </a:lnTo>
                  <a:cubicBezTo>
                    <a:pt x="4001" y="3842"/>
                    <a:pt x="3972" y="3871"/>
                    <a:pt x="3943" y="3900"/>
                  </a:cubicBezTo>
                  <a:lnTo>
                    <a:pt x="3900" y="3943"/>
                  </a:lnTo>
                  <a:lnTo>
                    <a:pt x="3856" y="3972"/>
                  </a:lnTo>
                  <a:lnTo>
                    <a:pt x="3798" y="4030"/>
                  </a:lnTo>
                  <a:cubicBezTo>
                    <a:pt x="3755" y="4059"/>
                    <a:pt x="3697" y="4103"/>
                    <a:pt x="3639" y="4132"/>
                  </a:cubicBezTo>
                  <a:lnTo>
                    <a:pt x="3595" y="4161"/>
                  </a:lnTo>
                  <a:lnTo>
                    <a:pt x="3523" y="4190"/>
                  </a:lnTo>
                  <a:lnTo>
                    <a:pt x="3465" y="4219"/>
                  </a:lnTo>
                  <a:lnTo>
                    <a:pt x="3378" y="4262"/>
                  </a:lnTo>
                  <a:cubicBezTo>
                    <a:pt x="3349" y="4262"/>
                    <a:pt x="3334" y="4277"/>
                    <a:pt x="3320" y="4277"/>
                  </a:cubicBezTo>
                  <a:cubicBezTo>
                    <a:pt x="3276" y="4291"/>
                    <a:pt x="3233" y="4306"/>
                    <a:pt x="3189" y="4306"/>
                  </a:cubicBezTo>
                  <a:lnTo>
                    <a:pt x="3131" y="4320"/>
                  </a:lnTo>
                  <a:lnTo>
                    <a:pt x="3059" y="4335"/>
                  </a:lnTo>
                  <a:cubicBezTo>
                    <a:pt x="3001" y="4342"/>
                    <a:pt x="2947" y="4346"/>
                    <a:pt x="2894" y="4346"/>
                  </a:cubicBezTo>
                  <a:cubicBezTo>
                    <a:pt x="2842" y="4346"/>
                    <a:pt x="2791" y="4342"/>
                    <a:pt x="2740" y="4335"/>
                  </a:cubicBezTo>
                  <a:lnTo>
                    <a:pt x="2610" y="4335"/>
                  </a:lnTo>
                  <a:lnTo>
                    <a:pt x="2552" y="4320"/>
                  </a:lnTo>
                  <a:cubicBezTo>
                    <a:pt x="2479" y="4306"/>
                    <a:pt x="2407" y="4277"/>
                    <a:pt x="2334" y="4262"/>
                  </a:cubicBezTo>
                  <a:lnTo>
                    <a:pt x="2276" y="4233"/>
                  </a:lnTo>
                  <a:lnTo>
                    <a:pt x="2218" y="4204"/>
                  </a:lnTo>
                  <a:lnTo>
                    <a:pt x="2146" y="4161"/>
                  </a:lnTo>
                  <a:cubicBezTo>
                    <a:pt x="2102" y="4132"/>
                    <a:pt x="2059" y="4103"/>
                    <a:pt x="2030" y="4088"/>
                  </a:cubicBezTo>
                  <a:lnTo>
                    <a:pt x="1972" y="4045"/>
                  </a:lnTo>
                  <a:cubicBezTo>
                    <a:pt x="1957" y="4030"/>
                    <a:pt x="1928" y="4016"/>
                    <a:pt x="1914" y="4001"/>
                  </a:cubicBezTo>
                  <a:cubicBezTo>
                    <a:pt x="1899" y="3987"/>
                    <a:pt x="1870" y="3958"/>
                    <a:pt x="1856" y="3943"/>
                  </a:cubicBezTo>
                  <a:cubicBezTo>
                    <a:pt x="1827" y="3914"/>
                    <a:pt x="1812" y="3900"/>
                    <a:pt x="1783" y="3885"/>
                  </a:cubicBezTo>
                  <a:lnTo>
                    <a:pt x="1740" y="3827"/>
                  </a:lnTo>
                  <a:cubicBezTo>
                    <a:pt x="1682" y="3755"/>
                    <a:pt x="1624" y="3682"/>
                    <a:pt x="1580" y="3610"/>
                  </a:cubicBezTo>
                  <a:cubicBezTo>
                    <a:pt x="1566" y="3595"/>
                    <a:pt x="1551" y="3566"/>
                    <a:pt x="1537" y="3552"/>
                  </a:cubicBezTo>
                  <a:cubicBezTo>
                    <a:pt x="1537" y="3523"/>
                    <a:pt x="1522" y="3494"/>
                    <a:pt x="1508" y="3479"/>
                  </a:cubicBezTo>
                  <a:cubicBezTo>
                    <a:pt x="1493" y="3465"/>
                    <a:pt x="1493" y="3450"/>
                    <a:pt x="1493" y="3436"/>
                  </a:cubicBezTo>
                  <a:cubicBezTo>
                    <a:pt x="1479" y="3421"/>
                    <a:pt x="1479" y="3421"/>
                    <a:pt x="1479" y="3407"/>
                  </a:cubicBezTo>
                  <a:lnTo>
                    <a:pt x="1464" y="3364"/>
                  </a:lnTo>
                  <a:lnTo>
                    <a:pt x="1450" y="3320"/>
                  </a:lnTo>
                  <a:cubicBezTo>
                    <a:pt x="1435" y="3306"/>
                    <a:pt x="1435" y="3306"/>
                    <a:pt x="1450" y="3306"/>
                  </a:cubicBezTo>
                  <a:cubicBezTo>
                    <a:pt x="1450" y="3277"/>
                    <a:pt x="1435" y="3262"/>
                    <a:pt x="1421" y="3233"/>
                  </a:cubicBezTo>
                  <a:cubicBezTo>
                    <a:pt x="1421" y="3219"/>
                    <a:pt x="1406" y="3175"/>
                    <a:pt x="1406" y="3146"/>
                  </a:cubicBezTo>
                  <a:cubicBezTo>
                    <a:pt x="1392" y="3117"/>
                    <a:pt x="1406" y="3103"/>
                    <a:pt x="1392" y="3088"/>
                  </a:cubicBezTo>
                  <a:cubicBezTo>
                    <a:pt x="1377" y="3074"/>
                    <a:pt x="1377" y="3016"/>
                    <a:pt x="1377" y="2987"/>
                  </a:cubicBezTo>
                  <a:cubicBezTo>
                    <a:pt x="1363" y="2943"/>
                    <a:pt x="1377" y="2885"/>
                    <a:pt x="1377" y="2827"/>
                  </a:cubicBezTo>
                  <a:lnTo>
                    <a:pt x="1377" y="2668"/>
                  </a:lnTo>
                  <a:cubicBezTo>
                    <a:pt x="1377" y="2668"/>
                    <a:pt x="1377" y="2668"/>
                    <a:pt x="1377" y="2653"/>
                  </a:cubicBezTo>
                  <a:lnTo>
                    <a:pt x="1392" y="2581"/>
                  </a:lnTo>
                  <a:cubicBezTo>
                    <a:pt x="1392" y="2552"/>
                    <a:pt x="1392" y="2537"/>
                    <a:pt x="1406" y="2508"/>
                  </a:cubicBezTo>
                  <a:cubicBezTo>
                    <a:pt x="1406" y="2450"/>
                    <a:pt x="1421" y="2407"/>
                    <a:pt x="1435" y="2349"/>
                  </a:cubicBezTo>
                  <a:lnTo>
                    <a:pt x="1464" y="2291"/>
                  </a:lnTo>
                  <a:lnTo>
                    <a:pt x="1479" y="2247"/>
                  </a:lnTo>
                  <a:cubicBezTo>
                    <a:pt x="1479" y="2233"/>
                    <a:pt x="1493" y="2233"/>
                    <a:pt x="1493" y="2218"/>
                  </a:cubicBezTo>
                  <a:cubicBezTo>
                    <a:pt x="1493" y="2204"/>
                    <a:pt x="1508" y="2189"/>
                    <a:pt x="1508" y="2175"/>
                  </a:cubicBezTo>
                  <a:cubicBezTo>
                    <a:pt x="1522" y="2131"/>
                    <a:pt x="1551" y="2102"/>
                    <a:pt x="1580" y="2059"/>
                  </a:cubicBezTo>
                  <a:lnTo>
                    <a:pt x="1609" y="2015"/>
                  </a:lnTo>
                  <a:lnTo>
                    <a:pt x="1638" y="1957"/>
                  </a:lnTo>
                  <a:lnTo>
                    <a:pt x="1682" y="1899"/>
                  </a:lnTo>
                  <a:lnTo>
                    <a:pt x="1740" y="1841"/>
                  </a:lnTo>
                  <a:lnTo>
                    <a:pt x="1798" y="1783"/>
                  </a:lnTo>
                  <a:cubicBezTo>
                    <a:pt x="1885" y="1682"/>
                    <a:pt x="1986" y="1595"/>
                    <a:pt x="2102" y="1537"/>
                  </a:cubicBezTo>
                  <a:lnTo>
                    <a:pt x="2160" y="1494"/>
                  </a:lnTo>
                  <a:lnTo>
                    <a:pt x="2218" y="1465"/>
                  </a:lnTo>
                  <a:lnTo>
                    <a:pt x="2276" y="1450"/>
                  </a:lnTo>
                  <a:cubicBezTo>
                    <a:pt x="2305" y="1436"/>
                    <a:pt x="2349" y="1421"/>
                    <a:pt x="2378" y="1407"/>
                  </a:cubicBezTo>
                  <a:lnTo>
                    <a:pt x="2436" y="1392"/>
                  </a:lnTo>
                  <a:lnTo>
                    <a:pt x="2494" y="1363"/>
                  </a:lnTo>
                  <a:lnTo>
                    <a:pt x="2566" y="1349"/>
                  </a:lnTo>
                  <a:lnTo>
                    <a:pt x="2624" y="1349"/>
                  </a:lnTo>
                  <a:cubicBezTo>
                    <a:pt x="2639" y="1334"/>
                    <a:pt x="2668" y="1334"/>
                    <a:pt x="2682" y="1334"/>
                  </a:cubicBezTo>
                  <a:lnTo>
                    <a:pt x="2755" y="1334"/>
                  </a:lnTo>
                  <a:cubicBezTo>
                    <a:pt x="2791" y="1327"/>
                    <a:pt x="2831" y="1323"/>
                    <a:pt x="2872" y="1323"/>
                  </a:cubicBezTo>
                  <a:close/>
                  <a:moveTo>
                    <a:pt x="2871" y="1"/>
                  </a:moveTo>
                  <a:cubicBezTo>
                    <a:pt x="2769" y="1"/>
                    <a:pt x="2668" y="1"/>
                    <a:pt x="2566" y="15"/>
                  </a:cubicBezTo>
                  <a:cubicBezTo>
                    <a:pt x="2407" y="30"/>
                    <a:pt x="2276" y="189"/>
                    <a:pt x="2291" y="348"/>
                  </a:cubicBezTo>
                  <a:lnTo>
                    <a:pt x="2291" y="377"/>
                  </a:lnTo>
                  <a:cubicBezTo>
                    <a:pt x="2291" y="392"/>
                    <a:pt x="2291" y="406"/>
                    <a:pt x="2291" y="421"/>
                  </a:cubicBezTo>
                  <a:cubicBezTo>
                    <a:pt x="2291" y="537"/>
                    <a:pt x="2218" y="653"/>
                    <a:pt x="2117" y="696"/>
                  </a:cubicBezTo>
                  <a:lnTo>
                    <a:pt x="2088" y="711"/>
                  </a:lnTo>
                  <a:lnTo>
                    <a:pt x="1986" y="740"/>
                  </a:lnTo>
                  <a:lnTo>
                    <a:pt x="1914" y="783"/>
                  </a:lnTo>
                  <a:lnTo>
                    <a:pt x="1899" y="783"/>
                  </a:lnTo>
                  <a:cubicBezTo>
                    <a:pt x="1860" y="801"/>
                    <a:pt x="1819" y="809"/>
                    <a:pt x="1777" y="809"/>
                  </a:cubicBezTo>
                  <a:cubicBezTo>
                    <a:pt x="1680" y="809"/>
                    <a:pt x="1583" y="763"/>
                    <a:pt x="1522" y="682"/>
                  </a:cubicBezTo>
                  <a:cubicBezTo>
                    <a:pt x="1460" y="601"/>
                    <a:pt x="1370" y="560"/>
                    <a:pt x="1276" y="560"/>
                  </a:cubicBezTo>
                  <a:cubicBezTo>
                    <a:pt x="1218" y="560"/>
                    <a:pt x="1158" y="576"/>
                    <a:pt x="1102" y="609"/>
                  </a:cubicBezTo>
                  <a:lnTo>
                    <a:pt x="1073" y="624"/>
                  </a:lnTo>
                  <a:cubicBezTo>
                    <a:pt x="1001" y="682"/>
                    <a:pt x="914" y="754"/>
                    <a:pt x="841" y="827"/>
                  </a:cubicBezTo>
                  <a:cubicBezTo>
                    <a:pt x="769" y="899"/>
                    <a:pt x="711" y="972"/>
                    <a:pt x="638" y="1059"/>
                  </a:cubicBezTo>
                  <a:cubicBezTo>
                    <a:pt x="580" y="1131"/>
                    <a:pt x="551" y="1247"/>
                    <a:pt x="580" y="1349"/>
                  </a:cubicBezTo>
                  <a:cubicBezTo>
                    <a:pt x="595" y="1363"/>
                    <a:pt x="609" y="1392"/>
                    <a:pt x="624" y="1421"/>
                  </a:cubicBezTo>
                  <a:cubicBezTo>
                    <a:pt x="638" y="1450"/>
                    <a:pt x="653" y="1465"/>
                    <a:pt x="667" y="1479"/>
                  </a:cubicBezTo>
                  <a:lnTo>
                    <a:pt x="696" y="1508"/>
                  </a:lnTo>
                  <a:cubicBezTo>
                    <a:pt x="812" y="1595"/>
                    <a:pt x="856" y="1740"/>
                    <a:pt x="798" y="1885"/>
                  </a:cubicBezTo>
                  <a:cubicBezTo>
                    <a:pt x="769" y="1943"/>
                    <a:pt x="740" y="2001"/>
                    <a:pt x="725" y="2059"/>
                  </a:cubicBezTo>
                  <a:cubicBezTo>
                    <a:pt x="711" y="2102"/>
                    <a:pt x="682" y="2131"/>
                    <a:pt x="653" y="2160"/>
                  </a:cubicBezTo>
                  <a:cubicBezTo>
                    <a:pt x="638" y="2175"/>
                    <a:pt x="624" y="2189"/>
                    <a:pt x="609" y="2204"/>
                  </a:cubicBezTo>
                  <a:cubicBezTo>
                    <a:pt x="595" y="2218"/>
                    <a:pt x="566" y="2233"/>
                    <a:pt x="551" y="2233"/>
                  </a:cubicBezTo>
                  <a:lnTo>
                    <a:pt x="493" y="2262"/>
                  </a:lnTo>
                  <a:lnTo>
                    <a:pt x="334" y="2262"/>
                  </a:lnTo>
                  <a:cubicBezTo>
                    <a:pt x="327" y="2255"/>
                    <a:pt x="319" y="2251"/>
                    <a:pt x="310" y="2251"/>
                  </a:cubicBezTo>
                  <a:cubicBezTo>
                    <a:pt x="301" y="2251"/>
                    <a:pt x="290" y="2255"/>
                    <a:pt x="276" y="2262"/>
                  </a:cubicBezTo>
                  <a:cubicBezTo>
                    <a:pt x="145" y="2276"/>
                    <a:pt x="44" y="2392"/>
                    <a:pt x="29" y="2523"/>
                  </a:cubicBezTo>
                  <a:cubicBezTo>
                    <a:pt x="0" y="2726"/>
                    <a:pt x="0" y="2929"/>
                    <a:pt x="29" y="3132"/>
                  </a:cubicBezTo>
                  <a:cubicBezTo>
                    <a:pt x="44" y="3277"/>
                    <a:pt x="145" y="3393"/>
                    <a:pt x="276" y="3407"/>
                  </a:cubicBezTo>
                  <a:cubicBezTo>
                    <a:pt x="298" y="3414"/>
                    <a:pt x="316" y="3418"/>
                    <a:pt x="332" y="3418"/>
                  </a:cubicBezTo>
                  <a:cubicBezTo>
                    <a:pt x="348" y="3418"/>
                    <a:pt x="363" y="3414"/>
                    <a:pt x="377" y="3407"/>
                  </a:cubicBezTo>
                  <a:lnTo>
                    <a:pt x="435" y="3407"/>
                  </a:lnTo>
                  <a:cubicBezTo>
                    <a:pt x="493" y="3407"/>
                    <a:pt x="551" y="3436"/>
                    <a:pt x="609" y="3465"/>
                  </a:cubicBezTo>
                  <a:cubicBezTo>
                    <a:pt x="624" y="3479"/>
                    <a:pt x="638" y="3479"/>
                    <a:pt x="653" y="3494"/>
                  </a:cubicBezTo>
                  <a:cubicBezTo>
                    <a:pt x="682" y="3523"/>
                    <a:pt x="711" y="3566"/>
                    <a:pt x="725" y="3610"/>
                  </a:cubicBezTo>
                  <a:cubicBezTo>
                    <a:pt x="754" y="3668"/>
                    <a:pt x="769" y="3740"/>
                    <a:pt x="798" y="3798"/>
                  </a:cubicBezTo>
                  <a:cubicBezTo>
                    <a:pt x="870" y="3914"/>
                    <a:pt x="841" y="4059"/>
                    <a:pt x="725" y="4161"/>
                  </a:cubicBezTo>
                  <a:lnTo>
                    <a:pt x="696" y="4175"/>
                  </a:lnTo>
                  <a:lnTo>
                    <a:pt x="667" y="4204"/>
                  </a:lnTo>
                  <a:cubicBezTo>
                    <a:pt x="653" y="4219"/>
                    <a:pt x="638" y="4233"/>
                    <a:pt x="624" y="4262"/>
                  </a:cubicBezTo>
                  <a:cubicBezTo>
                    <a:pt x="609" y="4277"/>
                    <a:pt x="595" y="4306"/>
                    <a:pt x="595" y="4335"/>
                  </a:cubicBezTo>
                  <a:lnTo>
                    <a:pt x="595" y="4364"/>
                  </a:lnTo>
                  <a:cubicBezTo>
                    <a:pt x="595" y="4378"/>
                    <a:pt x="595" y="4393"/>
                    <a:pt x="595" y="4393"/>
                  </a:cubicBezTo>
                  <a:cubicBezTo>
                    <a:pt x="595" y="4407"/>
                    <a:pt x="595" y="4422"/>
                    <a:pt x="595" y="4422"/>
                  </a:cubicBezTo>
                  <a:cubicBezTo>
                    <a:pt x="595" y="4436"/>
                    <a:pt x="595" y="4451"/>
                    <a:pt x="595" y="4465"/>
                  </a:cubicBezTo>
                  <a:lnTo>
                    <a:pt x="595" y="4509"/>
                  </a:lnTo>
                  <a:lnTo>
                    <a:pt x="595" y="4523"/>
                  </a:lnTo>
                  <a:cubicBezTo>
                    <a:pt x="595" y="4538"/>
                    <a:pt x="595" y="4552"/>
                    <a:pt x="609" y="4552"/>
                  </a:cubicBezTo>
                  <a:lnTo>
                    <a:pt x="638" y="4596"/>
                  </a:lnTo>
                  <a:cubicBezTo>
                    <a:pt x="696" y="4668"/>
                    <a:pt x="769" y="4755"/>
                    <a:pt x="841" y="4828"/>
                  </a:cubicBezTo>
                  <a:cubicBezTo>
                    <a:pt x="914" y="4900"/>
                    <a:pt x="986" y="4958"/>
                    <a:pt x="1073" y="5031"/>
                  </a:cubicBezTo>
                  <a:cubicBezTo>
                    <a:pt x="1121" y="5066"/>
                    <a:pt x="1188" y="5092"/>
                    <a:pt x="1251" y="5092"/>
                  </a:cubicBezTo>
                  <a:cubicBezTo>
                    <a:pt x="1264" y="5092"/>
                    <a:pt x="1278" y="5091"/>
                    <a:pt x="1291" y="5089"/>
                  </a:cubicBezTo>
                  <a:cubicBezTo>
                    <a:pt x="1319" y="5089"/>
                    <a:pt x="1348" y="5089"/>
                    <a:pt x="1363" y="5074"/>
                  </a:cubicBezTo>
                  <a:cubicBezTo>
                    <a:pt x="1421" y="5060"/>
                    <a:pt x="1479" y="5016"/>
                    <a:pt x="1508" y="4973"/>
                  </a:cubicBezTo>
                  <a:lnTo>
                    <a:pt x="1537" y="4944"/>
                  </a:lnTo>
                  <a:cubicBezTo>
                    <a:pt x="1580" y="4900"/>
                    <a:pt x="1609" y="4871"/>
                    <a:pt x="1667" y="4857"/>
                  </a:cubicBezTo>
                  <a:lnTo>
                    <a:pt x="1769" y="4842"/>
                  </a:lnTo>
                  <a:cubicBezTo>
                    <a:pt x="1812" y="4842"/>
                    <a:pt x="1856" y="4857"/>
                    <a:pt x="1899" y="4871"/>
                  </a:cubicBezTo>
                  <a:cubicBezTo>
                    <a:pt x="1957" y="4900"/>
                    <a:pt x="2015" y="4929"/>
                    <a:pt x="2073" y="4944"/>
                  </a:cubicBezTo>
                  <a:cubicBezTo>
                    <a:pt x="2131" y="4973"/>
                    <a:pt x="2189" y="5016"/>
                    <a:pt x="2218" y="5060"/>
                  </a:cubicBezTo>
                  <a:cubicBezTo>
                    <a:pt x="2233" y="5074"/>
                    <a:pt x="2247" y="5103"/>
                    <a:pt x="2262" y="5117"/>
                  </a:cubicBezTo>
                  <a:cubicBezTo>
                    <a:pt x="2276" y="5175"/>
                    <a:pt x="2276" y="5233"/>
                    <a:pt x="2276" y="5277"/>
                  </a:cubicBezTo>
                  <a:cubicBezTo>
                    <a:pt x="2247" y="5451"/>
                    <a:pt x="2349" y="5596"/>
                    <a:pt x="2508" y="5639"/>
                  </a:cubicBezTo>
                  <a:lnTo>
                    <a:pt x="2552" y="5639"/>
                  </a:lnTo>
                  <a:cubicBezTo>
                    <a:pt x="2653" y="5654"/>
                    <a:pt x="2755" y="5654"/>
                    <a:pt x="2856" y="5654"/>
                  </a:cubicBezTo>
                  <a:cubicBezTo>
                    <a:pt x="2958" y="5654"/>
                    <a:pt x="3059" y="5654"/>
                    <a:pt x="3160" y="5639"/>
                  </a:cubicBezTo>
                  <a:cubicBezTo>
                    <a:pt x="3233" y="5625"/>
                    <a:pt x="3291" y="5596"/>
                    <a:pt x="3334" y="5538"/>
                  </a:cubicBezTo>
                  <a:cubicBezTo>
                    <a:pt x="3363" y="5509"/>
                    <a:pt x="3392" y="5480"/>
                    <a:pt x="3407" y="5436"/>
                  </a:cubicBezTo>
                  <a:cubicBezTo>
                    <a:pt x="3421" y="5378"/>
                    <a:pt x="3436" y="5335"/>
                    <a:pt x="3421" y="5277"/>
                  </a:cubicBezTo>
                  <a:cubicBezTo>
                    <a:pt x="3421" y="5262"/>
                    <a:pt x="3421" y="5248"/>
                    <a:pt x="3421" y="5233"/>
                  </a:cubicBezTo>
                  <a:cubicBezTo>
                    <a:pt x="3421" y="5103"/>
                    <a:pt x="3508" y="4987"/>
                    <a:pt x="3624" y="4944"/>
                  </a:cubicBezTo>
                  <a:cubicBezTo>
                    <a:pt x="3682" y="4915"/>
                    <a:pt x="3755" y="4886"/>
                    <a:pt x="3813" y="4857"/>
                  </a:cubicBezTo>
                  <a:cubicBezTo>
                    <a:pt x="3856" y="4842"/>
                    <a:pt x="3903" y="4835"/>
                    <a:pt x="3949" y="4835"/>
                  </a:cubicBezTo>
                  <a:cubicBezTo>
                    <a:pt x="3994" y="4835"/>
                    <a:pt x="4037" y="4842"/>
                    <a:pt x="4074" y="4857"/>
                  </a:cubicBezTo>
                  <a:cubicBezTo>
                    <a:pt x="4103" y="4871"/>
                    <a:pt x="4117" y="4886"/>
                    <a:pt x="4132" y="4900"/>
                  </a:cubicBezTo>
                  <a:cubicBezTo>
                    <a:pt x="4146" y="4915"/>
                    <a:pt x="4161" y="4915"/>
                    <a:pt x="4161" y="4929"/>
                  </a:cubicBezTo>
                  <a:cubicBezTo>
                    <a:pt x="4175" y="4944"/>
                    <a:pt x="4190" y="4944"/>
                    <a:pt x="4190" y="4958"/>
                  </a:cubicBezTo>
                  <a:cubicBezTo>
                    <a:pt x="4252" y="5038"/>
                    <a:pt x="4342" y="5080"/>
                    <a:pt x="4436" y="5080"/>
                  </a:cubicBezTo>
                  <a:cubicBezTo>
                    <a:pt x="4494" y="5080"/>
                    <a:pt x="4554" y="5064"/>
                    <a:pt x="4610" y="5031"/>
                  </a:cubicBezTo>
                  <a:cubicBezTo>
                    <a:pt x="4625" y="5031"/>
                    <a:pt x="4625" y="5031"/>
                    <a:pt x="4639" y="5016"/>
                  </a:cubicBezTo>
                  <a:cubicBezTo>
                    <a:pt x="4711" y="4958"/>
                    <a:pt x="4798" y="4886"/>
                    <a:pt x="4871" y="4813"/>
                  </a:cubicBezTo>
                  <a:cubicBezTo>
                    <a:pt x="4943" y="4741"/>
                    <a:pt x="5001" y="4654"/>
                    <a:pt x="5074" y="4581"/>
                  </a:cubicBezTo>
                  <a:cubicBezTo>
                    <a:pt x="5132" y="4509"/>
                    <a:pt x="5161" y="4393"/>
                    <a:pt x="5117" y="4291"/>
                  </a:cubicBezTo>
                  <a:cubicBezTo>
                    <a:pt x="5117" y="4277"/>
                    <a:pt x="5117" y="4277"/>
                    <a:pt x="5103" y="4262"/>
                  </a:cubicBezTo>
                  <a:cubicBezTo>
                    <a:pt x="5103" y="4248"/>
                    <a:pt x="5088" y="4233"/>
                    <a:pt x="5088" y="4219"/>
                  </a:cubicBezTo>
                  <a:cubicBezTo>
                    <a:pt x="5074" y="4190"/>
                    <a:pt x="5059" y="4175"/>
                    <a:pt x="5045" y="4161"/>
                  </a:cubicBezTo>
                  <a:lnTo>
                    <a:pt x="5016" y="4132"/>
                  </a:lnTo>
                  <a:lnTo>
                    <a:pt x="4987" y="4117"/>
                  </a:lnTo>
                  <a:cubicBezTo>
                    <a:pt x="4885" y="4016"/>
                    <a:pt x="4856" y="3871"/>
                    <a:pt x="4914" y="3755"/>
                  </a:cubicBezTo>
                  <a:cubicBezTo>
                    <a:pt x="4943" y="3682"/>
                    <a:pt x="4972" y="3624"/>
                    <a:pt x="4987" y="3566"/>
                  </a:cubicBezTo>
                  <a:cubicBezTo>
                    <a:pt x="5037" y="3453"/>
                    <a:pt x="5154" y="3372"/>
                    <a:pt x="5278" y="3372"/>
                  </a:cubicBezTo>
                  <a:cubicBezTo>
                    <a:pt x="5297" y="3372"/>
                    <a:pt x="5316" y="3374"/>
                    <a:pt x="5335" y="3378"/>
                  </a:cubicBezTo>
                  <a:cubicBezTo>
                    <a:pt x="5407" y="3378"/>
                    <a:pt x="5480" y="3364"/>
                    <a:pt x="5538" y="3335"/>
                  </a:cubicBezTo>
                  <a:cubicBezTo>
                    <a:pt x="5552" y="3320"/>
                    <a:pt x="5567" y="3306"/>
                    <a:pt x="5581" y="3291"/>
                  </a:cubicBezTo>
                  <a:lnTo>
                    <a:pt x="5610" y="3277"/>
                  </a:lnTo>
                  <a:lnTo>
                    <a:pt x="5625" y="3262"/>
                  </a:lnTo>
                  <a:cubicBezTo>
                    <a:pt x="5654" y="3219"/>
                    <a:pt x="5683" y="3161"/>
                    <a:pt x="5683" y="3103"/>
                  </a:cubicBezTo>
                  <a:cubicBezTo>
                    <a:pt x="5712" y="2900"/>
                    <a:pt x="5712" y="2697"/>
                    <a:pt x="5683" y="2479"/>
                  </a:cubicBezTo>
                  <a:lnTo>
                    <a:pt x="5683" y="2479"/>
                  </a:lnTo>
                  <a:lnTo>
                    <a:pt x="5712" y="2523"/>
                  </a:lnTo>
                  <a:cubicBezTo>
                    <a:pt x="5712" y="2494"/>
                    <a:pt x="5697" y="2465"/>
                    <a:pt x="5683" y="2436"/>
                  </a:cubicBezTo>
                  <a:cubicBezTo>
                    <a:pt x="5683" y="2421"/>
                    <a:pt x="5668" y="2407"/>
                    <a:pt x="5668" y="2392"/>
                  </a:cubicBezTo>
                  <a:cubicBezTo>
                    <a:pt x="5654" y="2378"/>
                    <a:pt x="5639" y="2363"/>
                    <a:pt x="5625" y="2349"/>
                  </a:cubicBezTo>
                  <a:lnTo>
                    <a:pt x="5610" y="2334"/>
                  </a:lnTo>
                  <a:lnTo>
                    <a:pt x="5581" y="2305"/>
                  </a:lnTo>
                  <a:lnTo>
                    <a:pt x="5552" y="2291"/>
                  </a:lnTo>
                  <a:cubicBezTo>
                    <a:pt x="5538" y="2276"/>
                    <a:pt x="5509" y="2262"/>
                    <a:pt x="5480" y="2262"/>
                  </a:cubicBezTo>
                  <a:lnTo>
                    <a:pt x="5451" y="2262"/>
                  </a:lnTo>
                  <a:cubicBezTo>
                    <a:pt x="5436" y="2255"/>
                    <a:pt x="5422" y="2251"/>
                    <a:pt x="5405" y="2251"/>
                  </a:cubicBezTo>
                  <a:cubicBezTo>
                    <a:pt x="5389" y="2251"/>
                    <a:pt x="5371" y="2255"/>
                    <a:pt x="5349" y="2262"/>
                  </a:cubicBezTo>
                  <a:lnTo>
                    <a:pt x="5277" y="2262"/>
                  </a:lnTo>
                  <a:cubicBezTo>
                    <a:pt x="5219" y="2262"/>
                    <a:pt x="5161" y="2233"/>
                    <a:pt x="5117" y="2204"/>
                  </a:cubicBezTo>
                  <a:lnTo>
                    <a:pt x="5103" y="2189"/>
                  </a:lnTo>
                  <a:lnTo>
                    <a:pt x="5074" y="2160"/>
                  </a:lnTo>
                  <a:lnTo>
                    <a:pt x="5045" y="2117"/>
                  </a:lnTo>
                  <a:lnTo>
                    <a:pt x="5016" y="2088"/>
                  </a:lnTo>
                  <a:cubicBezTo>
                    <a:pt x="5016" y="2073"/>
                    <a:pt x="5016" y="2073"/>
                    <a:pt x="5016" y="2059"/>
                  </a:cubicBezTo>
                  <a:lnTo>
                    <a:pt x="5016" y="2044"/>
                  </a:lnTo>
                  <a:cubicBezTo>
                    <a:pt x="4987" y="1986"/>
                    <a:pt x="4972" y="1928"/>
                    <a:pt x="4943" y="1870"/>
                  </a:cubicBezTo>
                  <a:lnTo>
                    <a:pt x="4929" y="1841"/>
                  </a:lnTo>
                  <a:cubicBezTo>
                    <a:pt x="4914" y="1798"/>
                    <a:pt x="4914" y="1754"/>
                    <a:pt x="4914" y="1711"/>
                  </a:cubicBezTo>
                  <a:cubicBezTo>
                    <a:pt x="4929" y="1682"/>
                    <a:pt x="4929" y="1639"/>
                    <a:pt x="4943" y="1610"/>
                  </a:cubicBezTo>
                  <a:cubicBezTo>
                    <a:pt x="4958" y="1581"/>
                    <a:pt x="4987" y="1552"/>
                    <a:pt x="5016" y="1523"/>
                  </a:cubicBezTo>
                  <a:lnTo>
                    <a:pt x="5045" y="1494"/>
                  </a:lnTo>
                  <a:lnTo>
                    <a:pt x="5059" y="1479"/>
                  </a:lnTo>
                  <a:cubicBezTo>
                    <a:pt x="5088" y="1450"/>
                    <a:pt x="5103" y="1436"/>
                    <a:pt x="5117" y="1392"/>
                  </a:cubicBezTo>
                  <a:cubicBezTo>
                    <a:pt x="5132" y="1392"/>
                    <a:pt x="5132" y="1378"/>
                    <a:pt x="5146" y="1363"/>
                  </a:cubicBezTo>
                  <a:cubicBezTo>
                    <a:pt x="5146" y="1349"/>
                    <a:pt x="5161" y="1334"/>
                    <a:pt x="5161" y="1320"/>
                  </a:cubicBezTo>
                  <a:cubicBezTo>
                    <a:pt x="5175" y="1218"/>
                    <a:pt x="5161" y="1131"/>
                    <a:pt x="5103" y="1059"/>
                  </a:cubicBezTo>
                  <a:cubicBezTo>
                    <a:pt x="5030" y="972"/>
                    <a:pt x="4958" y="899"/>
                    <a:pt x="4900" y="827"/>
                  </a:cubicBezTo>
                  <a:cubicBezTo>
                    <a:pt x="4813" y="754"/>
                    <a:pt x="4740" y="682"/>
                    <a:pt x="4653" y="624"/>
                  </a:cubicBezTo>
                  <a:cubicBezTo>
                    <a:pt x="4600" y="581"/>
                    <a:pt x="4540" y="554"/>
                    <a:pt x="4471" y="554"/>
                  </a:cubicBezTo>
                  <a:cubicBezTo>
                    <a:pt x="4446" y="554"/>
                    <a:pt x="4420" y="558"/>
                    <a:pt x="4393" y="566"/>
                  </a:cubicBezTo>
                  <a:lnTo>
                    <a:pt x="4364" y="566"/>
                  </a:lnTo>
                  <a:cubicBezTo>
                    <a:pt x="4320" y="595"/>
                    <a:pt x="4277" y="609"/>
                    <a:pt x="4248" y="653"/>
                  </a:cubicBezTo>
                  <a:lnTo>
                    <a:pt x="4219" y="682"/>
                  </a:lnTo>
                  <a:cubicBezTo>
                    <a:pt x="4190" y="725"/>
                    <a:pt x="4132" y="769"/>
                    <a:pt x="4074" y="783"/>
                  </a:cubicBezTo>
                  <a:cubicBezTo>
                    <a:pt x="4059" y="798"/>
                    <a:pt x="4030" y="798"/>
                    <a:pt x="4016" y="798"/>
                  </a:cubicBezTo>
                  <a:lnTo>
                    <a:pt x="3929" y="798"/>
                  </a:lnTo>
                  <a:lnTo>
                    <a:pt x="3871" y="783"/>
                  </a:lnTo>
                  <a:lnTo>
                    <a:pt x="3842" y="783"/>
                  </a:lnTo>
                  <a:lnTo>
                    <a:pt x="3813" y="754"/>
                  </a:lnTo>
                  <a:lnTo>
                    <a:pt x="3755" y="740"/>
                  </a:lnTo>
                  <a:lnTo>
                    <a:pt x="3653" y="696"/>
                  </a:lnTo>
                  <a:cubicBezTo>
                    <a:pt x="3523" y="653"/>
                    <a:pt x="3450" y="522"/>
                    <a:pt x="3450" y="392"/>
                  </a:cubicBezTo>
                  <a:lnTo>
                    <a:pt x="3450" y="363"/>
                  </a:lnTo>
                  <a:cubicBezTo>
                    <a:pt x="3479" y="203"/>
                    <a:pt x="3378" y="58"/>
                    <a:pt x="3218" y="15"/>
                  </a:cubicBezTo>
                  <a:lnTo>
                    <a:pt x="3189" y="15"/>
                  </a:lnTo>
                  <a:cubicBezTo>
                    <a:pt x="3088" y="1"/>
                    <a:pt x="2986" y="1"/>
                    <a:pt x="28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7" name="Google Shape;387;p36"/>
          <p:cNvSpPr txBox="1"/>
          <p:nvPr>
            <p:ph type="ctrTitle"/>
          </p:nvPr>
        </p:nvSpPr>
        <p:spPr>
          <a:xfrm>
            <a:off x="385325" y="962175"/>
            <a:ext cx="4328700" cy="37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Georgia"/>
                <a:ea typeface="Georgia"/>
                <a:cs typeface="Georgia"/>
                <a:sym typeface="Georgia"/>
              </a:rPr>
              <a:t>Predicting Hospital Readmission in Diabetic Patients with ML</a:t>
            </a:r>
            <a:endParaRPr b="1" sz="4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8" name="Google Shape;388;p36"/>
          <p:cNvSpPr/>
          <p:nvPr/>
        </p:nvSpPr>
        <p:spPr>
          <a:xfrm>
            <a:off x="4590686" y="3972613"/>
            <a:ext cx="145768" cy="145768"/>
          </a:xfrm>
          <a:custGeom>
            <a:rect b="b" l="l" r="r" t="t"/>
            <a:pathLst>
              <a:path extrusionOk="0" fill="none" h="1546" w="1546">
                <a:moveTo>
                  <a:pt x="1546" y="658"/>
                </a:moveTo>
                <a:cubicBezTo>
                  <a:pt x="1546" y="1231"/>
                  <a:pt x="830" y="1546"/>
                  <a:pt x="429" y="1116"/>
                </a:cubicBezTo>
                <a:cubicBezTo>
                  <a:pt x="0" y="716"/>
                  <a:pt x="315" y="0"/>
                  <a:pt x="887" y="0"/>
                </a:cubicBezTo>
                <a:cubicBezTo>
                  <a:pt x="1231" y="0"/>
                  <a:pt x="1546" y="315"/>
                  <a:pt x="1546" y="658"/>
                </a:cubicBezTo>
                <a:close/>
              </a:path>
            </a:pathLst>
          </a:custGeom>
          <a:solidFill>
            <a:schemeClr val="accent2"/>
          </a:solidFill>
          <a:ln cap="rnd" cmpd="sng" w="193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6"/>
          <p:cNvSpPr/>
          <p:nvPr/>
        </p:nvSpPr>
        <p:spPr>
          <a:xfrm>
            <a:off x="8392213" y="1871097"/>
            <a:ext cx="227485" cy="194801"/>
          </a:xfrm>
          <a:custGeom>
            <a:rect b="b" l="l" r="r" t="t"/>
            <a:pathLst>
              <a:path extrusionOk="0" h="5835" w="6814">
                <a:moveTo>
                  <a:pt x="3882" y="718"/>
                </a:moveTo>
                <a:cubicBezTo>
                  <a:pt x="5008" y="718"/>
                  <a:pt x="6089" y="1591"/>
                  <a:pt x="6089" y="2914"/>
                </a:cubicBezTo>
                <a:cubicBezTo>
                  <a:pt x="6089" y="4132"/>
                  <a:pt x="5103" y="5103"/>
                  <a:pt x="3886" y="5103"/>
                </a:cubicBezTo>
                <a:cubicBezTo>
                  <a:pt x="1943" y="5103"/>
                  <a:pt x="972" y="2740"/>
                  <a:pt x="2349" y="1363"/>
                </a:cubicBezTo>
                <a:cubicBezTo>
                  <a:pt x="2795" y="918"/>
                  <a:pt x="3344" y="718"/>
                  <a:pt x="3882" y="718"/>
                </a:cubicBezTo>
                <a:close/>
                <a:moveTo>
                  <a:pt x="3912" y="0"/>
                </a:moveTo>
                <a:cubicBezTo>
                  <a:pt x="3903" y="0"/>
                  <a:pt x="3895" y="0"/>
                  <a:pt x="3886" y="1"/>
                </a:cubicBezTo>
                <a:cubicBezTo>
                  <a:pt x="1291" y="1"/>
                  <a:pt x="1" y="3146"/>
                  <a:pt x="1842" y="4973"/>
                </a:cubicBezTo>
                <a:cubicBezTo>
                  <a:pt x="2433" y="5568"/>
                  <a:pt x="3162" y="5834"/>
                  <a:pt x="3877" y="5834"/>
                </a:cubicBezTo>
                <a:cubicBezTo>
                  <a:pt x="5374" y="5834"/>
                  <a:pt x="6814" y="4670"/>
                  <a:pt x="6814" y="2914"/>
                </a:cubicBezTo>
                <a:cubicBezTo>
                  <a:pt x="6814" y="1314"/>
                  <a:pt x="5509" y="0"/>
                  <a:pt x="391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6"/>
          <p:cNvSpPr/>
          <p:nvPr/>
        </p:nvSpPr>
        <p:spPr>
          <a:xfrm rot="2700000">
            <a:off x="4462786" y="3566948"/>
            <a:ext cx="208089" cy="208206"/>
          </a:xfrm>
          <a:custGeom>
            <a:rect b="b" l="l" r="r" t="t"/>
            <a:pathLst>
              <a:path extrusionOk="0" h="1770" w="1769">
                <a:moveTo>
                  <a:pt x="681" y="1"/>
                </a:moveTo>
                <a:lnTo>
                  <a:pt x="681" y="668"/>
                </a:lnTo>
                <a:lnTo>
                  <a:pt x="0" y="668"/>
                </a:lnTo>
                <a:lnTo>
                  <a:pt x="0" y="1088"/>
                </a:lnTo>
                <a:lnTo>
                  <a:pt x="681" y="1088"/>
                </a:lnTo>
                <a:lnTo>
                  <a:pt x="681" y="1769"/>
                </a:lnTo>
                <a:lnTo>
                  <a:pt x="1102" y="1769"/>
                </a:lnTo>
                <a:lnTo>
                  <a:pt x="1102" y="1088"/>
                </a:lnTo>
                <a:lnTo>
                  <a:pt x="1769" y="1088"/>
                </a:lnTo>
                <a:lnTo>
                  <a:pt x="1769" y="668"/>
                </a:lnTo>
                <a:lnTo>
                  <a:pt x="1102" y="668"/>
                </a:lnTo>
                <a:lnTo>
                  <a:pt x="110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6"/>
          <p:cNvSpPr/>
          <p:nvPr/>
        </p:nvSpPr>
        <p:spPr>
          <a:xfrm>
            <a:off x="5264032" y="2087088"/>
            <a:ext cx="227477" cy="227477"/>
          </a:xfrm>
          <a:custGeom>
            <a:rect b="b" l="l" r="r" t="t"/>
            <a:pathLst>
              <a:path extrusionOk="0" h="1610" w="1610">
                <a:moveTo>
                  <a:pt x="0" y="0"/>
                </a:moveTo>
                <a:lnTo>
                  <a:pt x="174" y="624"/>
                </a:lnTo>
                <a:lnTo>
                  <a:pt x="334" y="1232"/>
                </a:lnTo>
                <a:lnTo>
                  <a:pt x="667" y="899"/>
                </a:lnTo>
                <a:lnTo>
                  <a:pt x="1377" y="1609"/>
                </a:lnTo>
                <a:lnTo>
                  <a:pt x="1609" y="1377"/>
                </a:lnTo>
                <a:lnTo>
                  <a:pt x="899" y="682"/>
                </a:lnTo>
                <a:lnTo>
                  <a:pt x="1232" y="334"/>
                </a:lnTo>
                <a:lnTo>
                  <a:pt x="623" y="174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6"/>
          <p:cNvSpPr/>
          <p:nvPr/>
        </p:nvSpPr>
        <p:spPr>
          <a:xfrm>
            <a:off x="5162638" y="1622430"/>
            <a:ext cx="430242" cy="425873"/>
          </a:xfrm>
          <a:custGeom>
            <a:rect b="b" l="l" r="r" t="t"/>
            <a:pathLst>
              <a:path extrusionOk="0" h="5654" w="5712">
                <a:moveTo>
                  <a:pt x="2872" y="1323"/>
                </a:moveTo>
                <a:cubicBezTo>
                  <a:pt x="2914" y="1323"/>
                  <a:pt x="2958" y="1327"/>
                  <a:pt x="3001" y="1334"/>
                </a:cubicBezTo>
                <a:lnTo>
                  <a:pt x="3073" y="1334"/>
                </a:lnTo>
                <a:cubicBezTo>
                  <a:pt x="3110" y="1341"/>
                  <a:pt x="3121" y="1341"/>
                  <a:pt x="3131" y="1341"/>
                </a:cubicBezTo>
                <a:cubicBezTo>
                  <a:pt x="3142" y="1341"/>
                  <a:pt x="3153" y="1341"/>
                  <a:pt x="3189" y="1349"/>
                </a:cubicBezTo>
                <a:cubicBezTo>
                  <a:pt x="3247" y="1363"/>
                  <a:pt x="3291" y="1378"/>
                  <a:pt x="3349" y="1392"/>
                </a:cubicBezTo>
                <a:lnTo>
                  <a:pt x="3392" y="1407"/>
                </a:lnTo>
                <a:cubicBezTo>
                  <a:pt x="3465" y="1436"/>
                  <a:pt x="3537" y="1465"/>
                  <a:pt x="3595" y="1508"/>
                </a:cubicBezTo>
                <a:lnTo>
                  <a:pt x="3668" y="1537"/>
                </a:lnTo>
                <a:cubicBezTo>
                  <a:pt x="3682" y="1552"/>
                  <a:pt x="3697" y="1566"/>
                  <a:pt x="3726" y="1581"/>
                </a:cubicBezTo>
                <a:lnTo>
                  <a:pt x="3784" y="1624"/>
                </a:lnTo>
                <a:lnTo>
                  <a:pt x="3842" y="1668"/>
                </a:lnTo>
                <a:lnTo>
                  <a:pt x="3900" y="1711"/>
                </a:lnTo>
                <a:cubicBezTo>
                  <a:pt x="3929" y="1740"/>
                  <a:pt x="3972" y="1783"/>
                  <a:pt x="4001" y="1812"/>
                </a:cubicBezTo>
                <a:cubicBezTo>
                  <a:pt x="4016" y="1827"/>
                  <a:pt x="4030" y="1841"/>
                  <a:pt x="4045" y="1856"/>
                </a:cubicBezTo>
                <a:cubicBezTo>
                  <a:pt x="4059" y="1885"/>
                  <a:pt x="4088" y="1914"/>
                  <a:pt x="4103" y="1943"/>
                </a:cubicBezTo>
                <a:lnTo>
                  <a:pt x="4132" y="1986"/>
                </a:lnTo>
                <a:cubicBezTo>
                  <a:pt x="4161" y="2030"/>
                  <a:pt x="4190" y="2073"/>
                  <a:pt x="4219" y="2131"/>
                </a:cubicBezTo>
                <a:cubicBezTo>
                  <a:pt x="4233" y="2146"/>
                  <a:pt x="4248" y="2175"/>
                  <a:pt x="4248" y="2189"/>
                </a:cubicBezTo>
                <a:lnTo>
                  <a:pt x="4248" y="2204"/>
                </a:lnTo>
                <a:cubicBezTo>
                  <a:pt x="4262" y="2218"/>
                  <a:pt x="4277" y="2247"/>
                  <a:pt x="4277" y="2262"/>
                </a:cubicBezTo>
                <a:cubicBezTo>
                  <a:pt x="4277" y="2291"/>
                  <a:pt x="4291" y="2305"/>
                  <a:pt x="4291" y="2320"/>
                </a:cubicBezTo>
                <a:lnTo>
                  <a:pt x="4306" y="2349"/>
                </a:lnTo>
                <a:cubicBezTo>
                  <a:pt x="4320" y="2407"/>
                  <a:pt x="4335" y="2450"/>
                  <a:pt x="4349" y="2508"/>
                </a:cubicBezTo>
                <a:lnTo>
                  <a:pt x="4349" y="2552"/>
                </a:lnTo>
                <a:cubicBezTo>
                  <a:pt x="4349" y="2566"/>
                  <a:pt x="4364" y="2624"/>
                  <a:pt x="4364" y="2668"/>
                </a:cubicBezTo>
                <a:cubicBezTo>
                  <a:pt x="4364" y="2711"/>
                  <a:pt x="4364" y="2769"/>
                  <a:pt x="4364" y="2827"/>
                </a:cubicBezTo>
                <a:cubicBezTo>
                  <a:pt x="4378" y="2871"/>
                  <a:pt x="4378" y="2929"/>
                  <a:pt x="4378" y="2987"/>
                </a:cubicBezTo>
                <a:lnTo>
                  <a:pt x="4378" y="3001"/>
                </a:lnTo>
                <a:cubicBezTo>
                  <a:pt x="4378" y="3016"/>
                  <a:pt x="4378" y="3059"/>
                  <a:pt x="4364" y="3074"/>
                </a:cubicBezTo>
                <a:cubicBezTo>
                  <a:pt x="4364" y="3103"/>
                  <a:pt x="4364" y="3132"/>
                  <a:pt x="4349" y="3161"/>
                </a:cubicBezTo>
                <a:cubicBezTo>
                  <a:pt x="4349" y="3204"/>
                  <a:pt x="4335" y="3248"/>
                  <a:pt x="4320" y="3306"/>
                </a:cubicBezTo>
                <a:lnTo>
                  <a:pt x="4277" y="3393"/>
                </a:lnTo>
                <a:cubicBezTo>
                  <a:pt x="4277" y="3421"/>
                  <a:pt x="4262" y="3436"/>
                  <a:pt x="4248" y="3465"/>
                </a:cubicBezTo>
                <a:lnTo>
                  <a:pt x="4219" y="3523"/>
                </a:lnTo>
                <a:cubicBezTo>
                  <a:pt x="4190" y="3566"/>
                  <a:pt x="4175" y="3624"/>
                  <a:pt x="4132" y="3668"/>
                </a:cubicBezTo>
                <a:cubicBezTo>
                  <a:pt x="4132" y="3668"/>
                  <a:pt x="4117" y="3682"/>
                  <a:pt x="4117" y="3697"/>
                </a:cubicBezTo>
                <a:cubicBezTo>
                  <a:pt x="4103" y="3711"/>
                  <a:pt x="4103" y="3711"/>
                  <a:pt x="4103" y="3711"/>
                </a:cubicBezTo>
                <a:lnTo>
                  <a:pt x="4074" y="3755"/>
                </a:lnTo>
                <a:lnTo>
                  <a:pt x="4030" y="3813"/>
                </a:lnTo>
                <a:cubicBezTo>
                  <a:pt x="4001" y="3842"/>
                  <a:pt x="3972" y="3871"/>
                  <a:pt x="3943" y="3900"/>
                </a:cubicBezTo>
                <a:lnTo>
                  <a:pt x="3900" y="3943"/>
                </a:lnTo>
                <a:lnTo>
                  <a:pt x="3856" y="3972"/>
                </a:lnTo>
                <a:lnTo>
                  <a:pt x="3798" y="4030"/>
                </a:lnTo>
                <a:cubicBezTo>
                  <a:pt x="3755" y="4059"/>
                  <a:pt x="3697" y="4103"/>
                  <a:pt x="3639" y="4132"/>
                </a:cubicBezTo>
                <a:lnTo>
                  <a:pt x="3595" y="4161"/>
                </a:lnTo>
                <a:lnTo>
                  <a:pt x="3523" y="4190"/>
                </a:lnTo>
                <a:lnTo>
                  <a:pt x="3465" y="4219"/>
                </a:lnTo>
                <a:lnTo>
                  <a:pt x="3378" y="4262"/>
                </a:lnTo>
                <a:cubicBezTo>
                  <a:pt x="3349" y="4262"/>
                  <a:pt x="3334" y="4277"/>
                  <a:pt x="3320" y="4277"/>
                </a:cubicBezTo>
                <a:cubicBezTo>
                  <a:pt x="3276" y="4291"/>
                  <a:pt x="3233" y="4306"/>
                  <a:pt x="3189" y="4306"/>
                </a:cubicBezTo>
                <a:lnTo>
                  <a:pt x="3131" y="4320"/>
                </a:lnTo>
                <a:lnTo>
                  <a:pt x="3059" y="4335"/>
                </a:lnTo>
                <a:cubicBezTo>
                  <a:pt x="3001" y="4342"/>
                  <a:pt x="2947" y="4346"/>
                  <a:pt x="2894" y="4346"/>
                </a:cubicBezTo>
                <a:cubicBezTo>
                  <a:pt x="2842" y="4346"/>
                  <a:pt x="2791" y="4342"/>
                  <a:pt x="2740" y="4335"/>
                </a:cubicBezTo>
                <a:lnTo>
                  <a:pt x="2610" y="4335"/>
                </a:lnTo>
                <a:lnTo>
                  <a:pt x="2552" y="4320"/>
                </a:lnTo>
                <a:cubicBezTo>
                  <a:pt x="2479" y="4306"/>
                  <a:pt x="2407" y="4277"/>
                  <a:pt x="2334" y="4262"/>
                </a:cubicBezTo>
                <a:lnTo>
                  <a:pt x="2276" y="4233"/>
                </a:lnTo>
                <a:lnTo>
                  <a:pt x="2218" y="4204"/>
                </a:lnTo>
                <a:lnTo>
                  <a:pt x="2146" y="4161"/>
                </a:lnTo>
                <a:cubicBezTo>
                  <a:pt x="2102" y="4132"/>
                  <a:pt x="2059" y="4103"/>
                  <a:pt x="2030" y="4088"/>
                </a:cubicBezTo>
                <a:lnTo>
                  <a:pt x="1972" y="4045"/>
                </a:lnTo>
                <a:cubicBezTo>
                  <a:pt x="1957" y="4030"/>
                  <a:pt x="1928" y="4016"/>
                  <a:pt x="1914" y="4001"/>
                </a:cubicBezTo>
                <a:cubicBezTo>
                  <a:pt x="1899" y="3987"/>
                  <a:pt x="1870" y="3958"/>
                  <a:pt x="1856" y="3943"/>
                </a:cubicBezTo>
                <a:cubicBezTo>
                  <a:pt x="1827" y="3914"/>
                  <a:pt x="1812" y="3900"/>
                  <a:pt x="1783" y="3885"/>
                </a:cubicBezTo>
                <a:lnTo>
                  <a:pt x="1740" y="3827"/>
                </a:lnTo>
                <a:cubicBezTo>
                  <a:pt x="1682" y="3755"/>
                  <a:pt x="1624" y="3682"/>
                  <a:pt x="1580" y="3610"/>
                </a:cubicBezTo>
                <a:cubicBezTo>
                  <a:pt x="1566" y="3595"/>
                  <a:pt x="1551" y="3566"/>
                  <a:pt x="1537" y="3552"/>
                </a:cubicBezTo>
                <a:cubicBezTo>
                  <a:pt x="1537" y="3523"/>
                  <a:pt x="1522" y="3494"/>
                  <a:pt x="1508" y="3479"/>
                </a:cubicBezTo>
                <a:cubicBezTo>
                  <a:pt x="1493" y="3465"/>
                  <a:pt x="1493" y="3450"/>
                  <a:pt x="1493" y="3436"/>
                </a:cubicBezTo>
                <a:cubicBezTo>
                  <a:pt x="1479" y="3421"/>
                  <a:pt x="1479" y="3421"/>
                  <a:pt x="1479" y="3407"/>
                </a:cubicBezTo>
                <a:lnTo>
                  <a:pt x="1464" y="3364"/>
                </a:lnTo>
                <a:lnTo>
                  <a:pt x="1450" y="3320"/>
                </a:lnTo>
                <a:cubicBezTo>
                  <a:pt x="1435" y="3306"/>
                  <a:pt x="1435" y="3306"/>
                  <a:pt x="1450" y="3306"/>
                </a:cubicBezTo>
                <a:cubicBezTo>
                  <a:pt x="1450" y="3277"/>
                  <a:pt x="1435" y="3262"/>
                  <a:pt x="1421" y="3233"/>
                </a:cubicBezTo>
                <a:cubicBezTo>
                  <a:pt x="1421" y="3219"/>
                  <a:pt x="1406" y="3175"/>
                  <a:pt x="1406" y="3146"/>
                </a:cubicBezTo>
                <a:cubicBezTo>
                  <a:pt x="1392" y="3117"/>
                  <a:pt x="1406" y="3103"/>
                  <a:pt x="1392" y="3088"/>
                </a:cubicBezTo>
                <a:cubicBezTo>
                  <a:pt x="1377" y="3074"/>
                  <a:pt x="1377" y="3016"/>
                  <a:pt x="1377" y="2987"/>
                </a:cubicBezTo>
                <a:cubicBezTo>
                  <a:pt x="1363" y="2943"/>
                  <a:pt x="1377" y="2885"/>
                  <a:pt x="1377" y="2827"/>
                </a:cubicBezTo>
                <a:lnTo>
                  <a:pt x="1377" y="2668"/>
                </a:lnTo>
                <a:cubicBezTo>
                  <a:pt x="1377" y="2668"/>
                  <a:pt x="1377" y="2668"/>
                  <a:pt x="1377" y="2653"/>
                </a:cubicBezTo>
                <a:lnTo>
                  <a:pt x="1392" y="2581"/>
                </a:lnTo>
                <a:cubicBezTo>
                  <a:pt x="1392" y="2552"/>
                  <a:pt x="1392" y="2537"/>
                  <a:pt x="1406" y="2508"/>
                </a:cubicBezTo>
                <a:cubicBezTo>
                  <a:pt x="1406" y="2450"/>
                  <a:pt x="1421" y="2407"/>
                  <a:pt x="1435" y="2349"/>
                </a:cubicBezTo>
                <a:lnTo>
                  <a:pt x="1464" y="2291"/>
                </a:lnTo>
                <a:lnTo>
                  <a:pt x="1479" y="2247"/>
                </a:lnTo>
                <a:cubicBezTo>
                  <a:pt x="1479" y="2233"/>
                  <a:pt x="1493" y="2233"/>
                  <a:pt x="1493" y="2218"/>
                </a:cubicBezTo>
                <a:cubicBezTo>
                  <a:pt x="1493" y="2204"/>
                  <a:pt x="1508" y="2189"/>
                  <a:pt x="1508" y="2175"/>
                </a:cubicBezTo>
                <a:cubicBezTo>
                  <a:pt x="1522" y="2131"/>
                  <a:pt x="1551" y="2102"/>
                  <a:pt x="1580" y="2059"/>
                </a:cubicBezTo>
                <a:lnTo>
                  <a:pt x="1609" y="2015"/>
                </a:lnTo>
                <a:lnTo>
                  <a:pt x="1638" y="1957"/>
                </a:lnTo>
                <a:lnTo>
                  <a:pt x="1682" y="1899"/>
                </a:lnTo>
                <a:lnTo>
                  <a:pt x="1740" y="1841"/>
                </a:lnTo>
                <a:lnTo>
                  <a:pt x="1798" y="1783"/>
                </a:lnTo>
                <a:cubicBezTo>
                  <a:pt x="1885" y="1682"/>
                  <a:pt x="1986" y="1595"/>
                  <a:pt x="2102" y="1537"/>
                </a:cubicBezTo>
                <a:lnTo>
                  <a:pt x="2160" y="1494"/>
                </a:lnTo>
                <a:lnTo>
                  <a:pt x="2218" y="1465"/>
                </a:lnTo>
                <a:lnTo>
                  <a:pt x="2276" y="1450"/>
                </a:lnTo>
                <a:cubicBezTo>
                  <a:pt x="2305" y="1436"/>
                  <a:pt x="2349" y="1421"/>
                  <a:pt x="2378" y="1407"/>
                </a:cubicBezTo>
                <a:lnTo>
                  <a:pt x="2436" y="1392"/>
                </a:lnTo>
                <a:lnTo>
                  <a:pt x="2494" y="1363"/>
                </a:lnTo>
                <a:lnTo>
                  <a:pt x="2566" y="1349"/>
                </a:lnTo>
                <a:lnTo>
                  <a:pt x="2624" y="1349"/>
                </a:lnTo>
                <a:cubicBezTo>
                  <a:pt x="2639" y="1334"/>
                  <a:pt x="2668" y="1334"/>
                  <a:pt x="2682" y="1334"/>
                </a:cubicBezTo>
                <a:lnTo>
                  <a:pt x="2755" y="1334"/>
                </a:lnTo>
                <a:cubicBezTo>
                  <a:pt x="2791" y="1327"/>
                  <a:pt x="2831" y="1323"/>
                  <a:pt x="2872" y="1323"/>
                </a:cubicBezTo>
                <a:close/>
                <a:moveTo>
                  <a:pt x="2871" y="1"/>
                </a:moveTo>
                <a:cubicBezTo>
                  <a:pt x="2769" y="1"/>
                  <a:pt x="2668" y="1"/>
                  <a:pt x="2566" y="15"/>
                </a:cubicBezTo>
                <a:cubicBezTo>
                  <a:pt x="2407" y="30"/>
                  <a:pt x="2276" y="189"/>
                  <a:pt x="2291" y="348"/>
                </a:cubicBezTo>
                <a:lnTo>
                  <a:pt x="2291" y="377"/>
                </a:lnTo>
                <a:cubicBezTo>
                  <a:pt x="2291" y="392"/>
                  <a:pt x="2291" y="406"/>
                  <a:pt x="2291" y="421"/>
                </a:cubicBezTo>
                <a:cubicBezTo>
                  <a:pt x="2291" y="537"/>
                  <a:pt x="2218" y="653"/>
                  <a:pt x="2117" y="696"/>
                </a:cubicBezTo>
                <a:lnTo>
                  <a:pt x="2088" y="711"/>
                </a:lnTo>
                <a:lnTo>
                  <a:pt x="1986" y="740"/>
                </a:lnTo>
                <a:lnTo>
                  <a:pt x="1914" y="783"/>
                </a:lnTo>
                <a:lnTo>
                  <a:pt x="1899" y="783"/>
                </a:lnTo>
                <a:cubicBezTo>
                  <a:pt x="1860" y="801"/>
                  <a:pt x="1819" y="809"/>
                  <a:pt x="1777" y="809"/>
                </a:cubicBezTo>
                <a:cubicBezTo>
                  <a:pt x="1680" y="809"/>
                  <a:pt x="1583" y="763"/>
                  <a:pt x="1522" y="682"/>
                </a:cubicBezTo>
                <a:cubicBezTo>
                  <a:pt x="1460" y="601"/>
                  <a:pt x="1370" y="560"/>
                  <a:pt x="1276" y="560"/>
                </a:cubicBezTo>
                <a:cubicBezTo>
                  <a:pt x="1218" y="560"/>
                  <a:pt x="1158" y="576"/>
                  <a:pt x="1102" y="609"/>
                </a:cubicBezTo>
                <a:lnTo>
                  <a:pt x="1073" y="624"/>
                </a:lnTo>
                <a:cubicBezTo>
                  <a:pt x="1001" y="682"/>
                  <a:pt x="914" y="754"/>
                  <a:pt x="841" y="827"/>
                </a:cubicBezTo>
                <a:cubicBezTo>
                  <a:pt x="769" y="899"/>
                  <a:pt x="711" y="972"/>
                  <a:pt x="638" y="1059"/>
                </a:cubicBezTo>
                <a:cubicBezTo>
                  <a:pt x="580" y="1131"/>
                  <a:pt x="551" y="1247"/>
                  <a:pt x="580" y="1349"/>
                </a:cubicBezTo>
                <a:cubicBezTo>
                  <a:pt x="595" y="1363"/>
                  <a:pt x="609" y="1392"/>
                  <a:pt x="624" y="1421"/>
                </a:cubicBezTo>
                <a:cubicBezTo>
                  <a:pt x="638" y="1450"/>
                  <a:pt x="653" y="1465"/>
                  <a:pt x="667" y="1479"/>
                </a:cubicBezTo>
                <a:lnTo>
                  <a:pt x="696" y="1508"/>
                </a:lnTo>
                <a:cubicBezTo>
                  <a:pt x="812" y="1595"/>
                  <a:pt x="856" y="1740"/>
                  <a:pt x="798" y="1885"/>
                </a:cubicBezTo>
                <a:cubicBezTo>
                  <a:pt x="769" y="1943"/>
                  <a:pt x="740" y="2001"/>
                  <a:pt x="725" y="2059"/>
                </a:cubicBezTo>
                <a:cubicBezTo>
                  <a:pt x="711" y="2102"/>
                  <a:pt x="682" y="2131"/>
                  <a:pt x="653" y="2160"/>
                </a:cubicBezTo>
                <a:cubicBezTo>
                  <a:pt x="638" y="2175"/>
                  <a:pt x="624" y="2189"/>
                  <a:pt x="609" y="2204"/>
                </a:cubicBezTo>
                <a:cubicBezTo>
                  <a:pt x="595" y="2218"/>
                  <a:pt x="566" y="2233"/>
                  <a:pt x="551" y="2233"/>
                </a:cubicBezTo>
                <a:lnTo>
                  <a:pt x="493" y="2262"/>
                </a:lnTo>
                <a:lnTo>
                  <a:pt x="334" y="2262"/>
                </a:lnTo>
                <a:cubicBezTo>
                  <a:pt x="327" y="2255"/>
                  <a:pt x="319" y="2251"/>
                  <a:pt x="310" y="2251"/>
                </a:cubicBezTo>
                <a:cubicBezTo>
                  <a:pt x="301" y="2251"/>
                  <a:pt x="290" y="2255"/>
                  <a:pt x="276" y="2262"/>
                </a:cubicBezTo>
                <a:cubicBezTo>
                  <a:pt x="145" y="2276"/>
                  <a:pt x="44" y="2392"/>
                  <a:pt x="29" y="2523"/>
                </a:cubicBezTo>
                <a:cubicBezTo>
                  <a:pt x="0" y="2726"/>
                  <a:pt x="0" y="2929"/>
                  <a:pt x="29" y="3132"/>
                </a:cubicBezTo>
                <a:cubicBezTo>
                  <a:pt x="44" y="3277"/>
                  <a:pt x="145" y="3393"/>
                  <a:pt x="276" y="3407"/>
                </a:cubicBezTo>
                <a:cubicBezTo>
                  <a:pt x="298" y="3414"/>
                  <a:pt x="316" y="3418"/>
                  <a:pt x="332" y="3418"/>
                </a:cubicBezTo>
                <a:cubicBezTo>
                  <a:pt x="348" y="3418"/>
                  <a:pt x="363" y="3414"/>
                  <a:pt x="377" y="3407"/>
                </a:cubicBezTo>
                <a:lnTo>
                  <a:pt x="435" y="3407"/>
                </a:lnTo>
                <a:cubicBezTo>
                  <a:pt x="493" y="3407"/>
                  <a:pt x="551" y="3436"/>
                  <a:pt x="609" y="3465"/>
                </a:cubicBezTo>
                <a:cubicBezTo>
                  <a:pt x="624" y="3479"/>
                  <a:pt x="638" y="3479"/>
                  <a:pt x="653" y="3494"/>
                </a:cubicBezTo>
                <a:cubicBezTo>
                  <a:pt x="682" y="3523"/>
                  <a:pt x="711" y="3566"/>
                  <a:pt x="725" y="3610"/>
                </a:cubicBezTo>
                <a:cubicBezTo>
                  <a:pt x="754" y="3668"/>
                  <a:pt x="769" y="3740"/>
                  <a:pt x="798" y="3798"/>
                </a:cubicBezTo>
                <a:cubicBezTo>
                  <a:pt x="870" y="3914"/>
                  <a:pt x="841" y="4059"/>
                  <a:pt x="725" y="4161"/>
                </a:cubicBezTo>
                <a:lnTo>
                  <a:pt x="696" y="4175"/>
                </a:lnTo>
                <a:lnTo>
                  <a:pt x="667" y="4204"/>
                </a:lnTo>
                <a:cubicBezTo>
                  <a:pt x="653" y="4219"/>
                  <a:pt x="638" y="4233"/>
                  <a:pt x="624" y="4262"/>
                </a:cubicBezTo>
                <a:cubicBezTo>
                  <a:pt x="609" y="4277"/>
                  <a:pt x="595" y="4306"/>
                  <a:pt x="595" y="4335"/>
                </a:cubicBezTo>
                <a:lnTo>
                  <a:pt x="595" y="4364"/>
                </a:lnTo>
                <a:cubicBezTo>
                  <a:pt x="595" y="4378"/>
                  <a:pt x="595" y="4393"/>
                  <a:pt x="595" y="4393"/>
                </a:cubicBezTo>
                <a:cubicBezTo>
                  <a:pt x="595" y="4407"/>
                  <a:pt x="595" y="4422"/>
                  <a:pt x="595" y="4422"/>
                </a:cubicBezTo>
                <a:cubicBezTo>
                  <a:pt x="595" y="4436"/>
                  <a:pt x="595" y="4451"/>
                  <a:pt x="595" y="4465"/>
                </a:cubicBezTo>
                <a:lnTo>
                  <a:pt x="595" y="4509"/>
                </a:lnTo>
                <a:lnTo>
                  <a:pt x="595" y="4523"/>
                </a:lnTo>
                <a:cubicBezTo>
                  <a:pt x="595" y="4538"/>
                  <a:pt x="595" y="4552"/>
                  <a:pt x="609" y="4552"/>
                </a:cubicBezTo>
                <a:lnTo>
                  <a:pt x="638" y="4596"/>
                </a:lnTo>
                <a:cubicBezTo>
                  <a:pt x="696" y="4668"/>
                  <a:pt x="769" y="4755"/>
                  <a:pt x="841" y="4828"/>
                </a:cubicBezTo>
                <a:cubicBezTo>
                  <a:pt x="914" y="4900"/>
                  <a:pt x="986" y="4958"/>
                  <a:pt x="1073" y="5031"/>
                </a:cubicBezTo>
                <a:cubicBezTo>
                  <a:pt x="1121" y="5066"/>
                  <a:pt x="1188" y="5092"/>
                  <a:pt x="1251" y="5092"/>
                </a:cubicBezTo>
                <a:cubicBezTo>
                  <a:pt x="1264" y="5092"/>
                  <a:pt x="1278" y="5091"/>
                  <a:pt x="1291" y="5089"/>
                </a:cubicBezTo>
                <a:cubicBezTo>
                  <a:pt x="1319" y="5089"/>
                  <a:pt x="1348" y="5089"/>
                  <a:pt x="1363" y="5074"/>
                </a:cubicBezTo>
                <a:cubicBezTo>
                  <a:pt x="1421" y="5060"/>
                  <a:pt x="1479" y="5016"/>
                  <a:pt x="1508" y="4973"/>
                </a:cubicBezTo>
                <a:lnTo>
                  <a:pt x="1537" y="4944"/>
                </a:lnTo>
                <a:cubicBezTo>
                  <a:pt x="1580" y="4900"/>
                  <a:pt x="1609" y="4871"/>
                  <a:pt x="1667" y="4857"/>
                </a:cubicBezTo>
                <a:lnTo>
                  <a:pt x="1769" y="4842"/>
                </a:lnTo>
                <a:cubicBezTo>
                  <a:pt x="1812" y="4842"/>
                  <a:pt x="1856" y="4857"/>
                  <a:pt x="1899" y="4871"/>
                </a:cubicBezTo>
                <a:cubicBezTo>
                  <a:pt x="1957" y="4900"/>
                  <a:pt x="2015" y="4929"/>
                  <a:pt x="2073" y="4944"/>
                </a:cubicBezTo>
                <a:cubicBezTo>
                  <a:pt x="2131" y="4973"/>
                  <a:pt x="2189" y="5016"/>
                  <a:pt x="2218" y="5060"/>
                </a:cubicBezTo>
                <a:cubicBezTo>
                  <a:pt x="2233" y="5074"/>
                  <a:pt x="2247" y="5103"/>
                  <a:pt x="2262" y="5117"/>
                </a:cubicBezTo>
                <a:cubicBezTo>
                  <a:pt x="2276" y="5175"/>
                  <a:pt x="2276" y="5233"/>
                  <a:pt x="2276" y="5277"/>
                </a:cubicBezTo>
                <a:cubicBezTo>
                  <a:pt x="2247" y="5451"/>
                  <a:pt x="2349" y="5596"/>
                  <a:pt x="2508" y="5639"/>
                </a:cubicBezTo>
                <a:lnTo>
                  <a:pt x="2552" y="5639"/>
                </a:lnTo>
                <a:cubicBezTo>
                  <a:pt x="2653" y="5654"/>
                  <a:pt x="2755" y="5654"/>
                  <a:pt x="2856" y="5654"/>
                </a:cubicBezTo>
                <a:cubicBezTo>
                  <a:pt x="2958" y="5654"/>
                  <a:pt x="3059" y="5654"/>
                  <a:pt x="3160" y="5639"/>
                </a:cubicBezTo>
                <a:cubicBezTo>
                  <a:pt x="3233" y="5625"/>
                  <a:pt x="3291" y="5596"/>
                  <a:pt x="3334" y="5538"/>
                </a:cubicBezTo>
                <a:cubicBezTo>
                  <a:pt x="3363" y="5509"/>
                  <a:pt x="3392" y="5480"/>
                  <a:pt x="3407" y="5436"/>
                </a:cubicBezTo>
                <a:cubicBezTo>
                  <a:pt x="3421" y="5378"/>
                  <a:pt x="3436" y="5335"/>
                  <a:pt x="3421" y="5277"/>
                </a:cubicBezTo>
                <a:cubicBezTo>
                  <a:pt x="3421" y="5262"/>
                  <a:pt x="3421" y="5248"/>
                  <a:pt x="3421" y="5233"/>
                </a:cubicBezTo>
                <a:cubicBezTo>
                  <a:pt x="3421" y="5103"/>
                  <a:pt x="3508" y="4987"/>
                  <a:pt x="3624" y="4944"/>
                </a:cubicBezTo>
                <a:cubicBezTo>
                  <a:pt x="3682" y="4915"/>
                  <a:pt x="3755" y="4886"/>
                  <a:pt x="3813" y="4857"/>
                </a:cubicBezTo>
                <a:cubicBezTo>
                  <a:pt x="3856" y="4842"/>
                  <a:pt x="3903" y="4835"/>
                  <a:pt x="3949" y="4835"/>
                </a:cubicBezTo>
                <a:cubicBezTo>
                  <a:pt x="3994" y="4835"/>
                  <a:pt x="4037" y="4842"/>
                  <a:pt x="4074" y="4857"/>
                </a:cubicBezTo>
                <a:cubicBezTo>
                  <a:pt x="4103" y="4871"/>
                  <a:pt x="4117" y="4886"/>
                  <a:pt x="4132" y="4900"/>
                </a:cubicBezTo>
                <a:cubicBezTo>
                  <a:pt x="4146" y="4915"/>
                  <a:pt x="4161" y="4915"/>
                  <a:pt x="4161" y="4929"/>
                </a:cubicBezTo>
                <a:cubicBezTo>
                  <a:pt x="4175" y="4944"/>
                  <a:pt x="4190" y="4944"/>
                  <a:pt x="4190" y="4958"/>
                </a:cubicBezTo>
                <a:cubicBezTo>
                  <a:pt x="4252" y="5038"/>
                  <a:pt x="4342" y="5080"/>
                  <a:pt x="4436" y="5080"/>
                </a:cubicBezTo>
                <a:cubicBezTo>
                  <a:pt x="4494" y="5080"/>
                  <a:pt x="4554" y="5064"/>
                  <a:pt x="4610" y="5031"/>
                </a:cubicBezTo>
                <a:cubicBezTo>
                  <a:pt x="4625" y="5031"/>
                  <a:pt x="4625" y="5031"/>
                  <a:pt x="4639" y="5016"/>
                </a:cubicBezTo>
                <a:cubicBezTo>
                  <a:pt x="4711" y="4958"/>
                  <a:pt x="4798" y="4886"/>
                  <a:pt x="4871" y="4813"/>
                </a:cubicBezTo>
                <a:cubicBezTo>
                  <a:pt x="4943" y="4741"/>
                  <a:pt x="5001" y="4654"/>
                  <a:pt x="5074" y="4581"/>
                </a:cubicBezTo>
                <a:cubicBezTo>
                  <a:pt x="5132" y="4509"/>
                  <a:pt x="5161" y="4393"/>
                  <a:pt x="5117" y="4291"/>
                </a:cubicBezTo>
                <a:cubicBezTo>
                  <a:pt x="5117" y="4277"/>
                  <a:pt x="5117" y="4277"/>
                  <a:pt x="5103" y="4262"/>
                </a:cubicBezTo>
                <a:cubicBezTo>
                  <a:pt x="5103" y="4248"/>
                  <a:pt x="5088" y="4233"/>
                  <a:pt x="5088" y="4219"/>
                </a:cubicBezTo>
                <a:cubicBezTo>
                  <a:pt x="5074" y="4190"/>
                  <a:pt x="5059" y="4175"/>
                  <a:pt x="5045" y="4161"/>
                </a:cubicBezTo>
                <a:lnTo>
                  <a:pt x="5016" y="4132"/>
                </a:lnTo>
                <a:lnTo>
                  <a:pt x="4987" y="4117"/>
                </a:lnTo>
                <a:cubicBezTo>
                  <a:pt x="4885" y="4016"/>
                  <a:pt x="4856" y="3871"/>
                  <a:pt x="4914" y="3755"/>
                </a:cubicBezTo>
                <a:cubicBezTo>
                  <a:pt x="4943" y="3682"/>
                  <a:pt x="4972" y="3624"/>
                  <a:pt x="4987" y="3566"/>
                </a:cubicBezTo>
                <a:cubicBezTo>
                  <a:pt x="5037" y="3453"/>
                  <a:pt x="5154" y="3372"/>
                  <a:pt x="5278" y="3372"/>
                </a:cubicBezTo>
                <a:cubicBezTo>
                  <a:pt x="5297" y="3372"/>
                  <a:pt x="5316" y="3374"/>
                  <a:pt x="5335" y="3378"/>
                </a:cubicBezTo>
                <a:cubicBezTo>
                  <a:pt x="5407" y="3378"/>
                  <a:pt x="5480" y="3364"/>
                  <a:pt x="5538" y="3335"/>
                </a:cubicBezTo>
                <a:cubicBezTo>
                  <a:pt x="5552" y="3320"/>
                  <a:pt x="5567" y="3306"/>
                  <a:pt x="5581" y="3291"/>
                </a:cubicBezTo>
                <a:lnTo>
                  <a:pt x="5610" y="3277"/>
                </a:lnTo>
                <a:lnTo>
                  <a:pt x="5625" y="3262"/>
                </a:lnTo>
                <a:cubicBezTo>
                  <a:pt x="5654" y="3219"/>
                  <a:pt x="5683" y="3161"/>
                  <a:pt x="5683" y="3103"/>
                </a:cubicBezTo>
                <a:cubicBezTo>
                  <a:pt x="5712" y="2900"/>
                  <a:pt x="5712" y="2697"/>
                  <a:pt x="5683" y="2479"/>
                </a:cubicBezTo>
                <a:lnTo>
                  <a:pt x="5683" y="2479"/>
                </a:lnTo>
                <a:lnTo>
                  <a:pt x="5712" y="2523"/>
                </a:lnTo>
                <a:cubicBezTo>
                  <a:pt x="5712" y="2494"/>
                  <a:pt x="5697" y="2465"/>
                  <a:pt x="5683" y="2436"/>
                </a:cubicBezTo>
                <a:cubicBezTo>
                  <a:pt x="5683" y="2421"/>
                  <a:pt x="5668" y="2407"/>
                  <a:pt x="5668" y="2392"/>
                </a:cubicBezTo>
                <a:cubicBezTo>
                  <a:pt x="5654" y="2378"/>
                  <a:pt x="5639" y="2363"/>
                  <a:pt x="5625" y="2349"/>
                </a:cubicBezTo>
                <a:lnTo>
                  <a:pt x="5610" y="2334"/>
                </a:lnTo>
                <a:lnTo>
                  <a:pt x="5581" y="2305"/>
                </a:lnTo>
                <a:lnTo>
                  <a:pt x="5552" y="2291"/>
                </a:lnTo>
                <a:cubicBezTo>
                  <a:pt x="5538" y="2276"/>
                  <a:pt x="5509" y="2262"/>
                  <a:pt x="5480" y="2262"/>
                </a:cubicBezTo>
                <a:lnTo>
                  <a:pt x="5451" y="2262"/>
                </a:lnTo>
                <a:cubicBezTo>
                  <a:pt x="5436" y="2255"/>
                  <a:pt x="5422" y="2251"/>
                  <a:pt x="5405" y="2251"/>
                </a:cubicBezTo>
                <a:cubicBezTo>
                  <a:pt x="5389" y="2251"/>
                  <a:pt x="5371" y="2255"/>
                  <a:pt x="5349" y="2262"/>
                </a:cubicBezTo>
                <a:lnTo>
                  <a:pt x="5277" y="2262"/>
                </a:lnTo>
                <a:cubicBezTo>
                  <a:pt x="5219" y="2262"/>
                  <a:pt x="5161" y="2233"/>
                  <a:pt x="5117" y="2204"/>
                </a:cubicBezTo>
                <a:lnTo>
                  <a:pt x="5103" y="2189"/>
                </a:lnTo>
                <a:lnTo>
                  <a:pt x="5074" y="2160"/>
                </a:lnTo>
                <a:lnTo>
                  <a:pt x="5045" y="2117"/>
                </a:lnTo>
                <a:lnTo>
                  <a:pt x="5016" y="2088"/>
                </a:lnTo>
                <a:cubicBezTo>
                  <a:pt x="5016" y="2073"/>
                  <a:pt x="5016" y="2073"/>
                  <a:pt x="5016" y="2059"/>
                </a:cubicBezTo>
                <a:lnTo>
                  <a:pt x="5016" y="2044"/>
                </a:lnTo>
                <a:cubicBezTo>
                  <a:pt x="4987" y="1986"/>
                  <a:pt x="4972" y="1928"/>
                  <a:pt x="4943" y="1870"/>
                </a:cubicBezTo>
                <a:lnTo>
                  <a:pt x="4929" y="1841"/>
                </a:lnTo>
                <a:cubicBezTo>
                  <a:pt x="4914" y="1798"/>
                  <a:pt x="4914" y="1754"/>
                  <a:pt x="4914" y="1711"/>
                </a:cubicBezTo>
                <a:cubicBezTo>
                  <a:pt x="4929" y="1682"/>
                  <a:pt x="4929" y="1639"/>
                  <a:pt x="4943" y="1610"/>
                </a:cubicBezTo>
                <a:cubicBezTo>
                  <a:pt x="4958" y="1581"/>
                  <a:pt x="4987" y="1552"/>
                  <a:pt x="5016" y="1523"/>
                </a:cubicBezTo>
                <a:lnTo>
                  <a:pt x="5045" y="1494"/>
                </a:lnTo>
                <a:lnTo>
                  <a:pt x="5059" y="1479"/>
                </a:lnTo>
                <a:cubicBezTo>
                  <a:pt x="5088" y="1450"/>
                  <a:pt x="5103" y="1436"/>
                  <a:pt x="5117" y="1392"/>
                </a:cubicBezTo>
                <a:cubicBezTo>
                  <a:pt x="5132" y="1392"/>
                  <a:pt x="5132" y="1378"/>
                  <a:pt x="5146" y="1363"/>
                </a:cubicBezTo>
                <a:cubicBezTo>
                  <a:pt x="5146" y="1349"/>
                  <a:pt x="5161" y="1334"/>
                  <a:pt x="5161" y="1320"/>
                </a:cubicBezTo>
                <a:cubicBezTo>
                  <a:pt x="5175" y="1218"/>
                  <a:pt x="5161" y="1131"/>
                  <a:pt x="5103" y="1059"/>
                </a:cubicBezTo>
                <a:cubicBezTo>
                  <a:pt x="5030" y="972"/>
                  <a:pt x="4958" y="899"/>
                  <a:pt x="4900" y="827"/>
                </a:cubicBezTo>
                <a:cubicBezTo>
                  <a:pt x="4813" y="754"/>
                  <a:pt x="4740" y="682"/>
                  <a:pt x="4653" y="624"/>
                </a:cubicBezTo>
                <a:cubicBezTo>
                  <a:pt x="4600" y="581"/>
                  <a:pt x="4540" y="554"/>
                  <a:pt x="4471" y="554"/>
                </a:cubicBezTo>
                <a:cubicBezTo>
                  <a:pt x="4446" y="554"/>
                  <a:pt x="4420" y="558"/>
                  <a:pt x="4393" y="566"/>
                </a:cubicBezTo>
                <a:lnTo>
                  <a:pt x="4364" y="566"/>
                </a:lnTo>
                <a:cubicBezTo>
                  <a:pt x="4320" y="595"/>
                  <a:pt x="4277" y="609"/>
                  <a:pt x="4248" y="653"/>
                </a:cubicBezTo>
                <a:lnTo>
                  <a:pt x="4219" y="682"/>
                </a:lnTo>
                <a:cubicBezTo>
                  <a:pt x="4190" y="725"/>
                  <a:pt x="4132" y="769"/>
                  <a:pt x="4074" y="783"/>
                </a:cubicBezTo>
                <a:cubicBezTo>
                  <a:pt x="4059" y="798"/>
                  <a:pt x="4030" y="798"/>
                  <a:pt x="4016" y="798"/>
                </a:cubicBezTo>
                <a:lnTo>
                  <a:pt x="3929" y="798"/>
                </a:lnTo>
                <a:lnTo>
                  <a:pt x="3871" y="783"/>
                </a:lnTo>
                <a:lnTo>
                  <a:pt x="3842" y="783"/>
                </a:lnTo>
                <a:lnTo>
                  <a:pt x="3813" y="754"/>
                </a:lnTo>
                <a:lnTo>
                  <a:pt x="3755" y="740"/>
                </a:lnTo>
                <a:lnTo>
                  <a:pt x="3653" y="696"/>
                </a:lnTo>
                <a:cubicBezTo>
                  <a:pt x="3523" y="653"/>
                  <a:pt x="3450" y="522"/>
                  <a:pt x="3450" y="392"/>
                </a:cubicBezTo>
                <a:lnTo>
                  <a:pt x="3450" y="363"/>
                </a:lnTo>
                <a:cubicBezTo>
                  <a:pt x="3479" y="203"/>
                  <a:pt x="3378" y="58"/>
                  <a:pt x="3218" y="15"/>
                </a:cubicBezTo>
                <a:lnTo>
                  <a:pt x="3189" y="15"/>
                </a:lnTo>
                <a:cubicBezTo>
                  <a:pt x="3088" y="1"/>
                  <a:pt x="2986" y="1"/>
                  <a:pt x="287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7" name="Google Shape;397;p37"/>
          <p:cNvGrpSpPr/>
          <p:nvPr/>
        </p:nvGrpSpPr>
        <p:grpSpPr>
          <a:xfrm>
            <a:off x="1247775" y="895350"/>
            <a:ext cx="3105300" cy="3362400"/>
            <a:chOff x="1247775" y="1009650"/>
            <a:chExt cx="3105300" cy="3362400"/>
          </a:xfrm>
        </p:grpSpPr>
        <p:sp>
          <p:nvSpPr>
            <p:cNvPr id="398" name="Google Shape;398;p37"/>
            <p:cNvSpPr/>
            <p:nvPr/>
          </p:nvSpPr>
          <p:spPr>
            <a:xfrm>
              <a:off x="1247775" y="1009650"/>
              <a:ext cx="3105300" cy="3362400"/>
            </a:xfrm>
            <a:prstGeom prst="roundRect">
              <a:avLst>
                <a:gd fmla="val 4601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99" name="Google Shape;399;p37"/>
            <p:cNvSpPr/>
            <p:nvPr/>
          </p:nvSpPr>
          <p:spPr>
            <a:xfrm>
              <a:off x="1304925" y="1228725"/>
              <a:ext cx="2979600" cy="3076500"/>
            </a:xfrm>
            <a:prstGeom prst="roundRect">
              <a:avLst>
                <a:gd fmla="val 479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00" name="Google Shape;400;p37"/>
            <p:cNvSpPr/>
            <p:nvPr/>
          </p:nvSpPr>
          <p:spPr>
            <a:xfrm>
              <a:off x="4205829" y="1084136"/>
              <a:ext cx="78697" cy="78697"/>
            </a:xfrm>
            <a:custGeom>
              <a:rect b="b" l="l" r="r" t="t"/>
              <a:pathLst>
                <a:path extrusionOk="0" h="349" w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01" name="Google Shape;401;p37"/>
            <p:cNvSpPr/>
            <p:nvPr/>
          </p:nvSpPr>
          <p:spPr>
            <a:xfrm>
              <a:off x="4078426" y="1084136"/>
              <a:ext cx="78471" cy="78697"/>
            </a:xfrm>
            <a:custGeom>
              <a:rect b="b" l="l" r="r" t="t"/>
              <a:pathLst>
                <a:path extrusionOk="0" h="349" w="348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02" name="Google Shape;402;p37"/>
            <p:cNvSpPr/>
            <p:nvPr/>
          </p:nvSpPr>
          <p:spPr>
            <a:xfrm>
              <a:off x="3931180" y="1083011"/>
              <a:ext cx="95158" cy="80952"/>
            </a:xfrm>
            <a:custGeom>
              <a:rect b="b" l="l" r="r" t="t"/>
              <a:pathLst>
                <a:path extrusionOk="0" h="359" w="422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403" name="Google Shape;403;p37"/>
          <p:cNvSpPr/>
          <p:nvPr/>
        </p:nvSpPr>
        <p:spPr>
          <a:xfrm>
            <a:off x="2483213" y="1539688"/>
            <a:ext cx="638100" cy="638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4" name="Google Shape;404;p37"/>
          <p:cNvSpPr/>
          <p:nvPr/>
        </p:nvSpPr>
        <p:spPr>
          <a:xfrm>
            <a:off x="6022663" y="1539688"/>
            <a:ext cx="638100" cy="638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5" name="Google Shape;405;p37"/>
          <p:cNvSpPr txBox="1"/>
          <p:nvPr>
            <p:ph type="title"/>
          </p:nvPr>
        </p:nvSpPr>
        <p:spPr>
          <a:xfrm>
            <a:off x="5059982" y="2360375"/>
            <a:ext cx="25635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VISION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406" name="Google Shape;406;p37"/>
          <p:cNvGrpSpPr/>
          <p:nvPr/>
        </p:nvGrpSpPr>
        <p:grpSpPr>
          <a:xfrm>
            <a:off x="2590729" y="1646663"/>
            <a:ext cx="423079" cy="424159"/>
            <a:chOff x="-1591550" y="3597475"/>
            <a:chExt cx="293825" cy="294575"/>
          </a:xfrm>
        </p:grpSpPr>
        <p:sp>
          <p:nvSpPr>
            <p:cNvPr id="407" name="Google Shape;407;p37"/>
            <p:cNvSpPr/>
            <p:nvPr/>
          </p:nvSpPr>
          <p:spPr>
            <a:xfrm>
              <a:off x="-1509625" y="3597475"/>
              <a:ext cx="211900" cy="207150"/>
            </a:xfrm>
            <a:custGeom>
              <a:rect b="b" l="l" r="r" t="t"/>
              <a:pathLst>
                <a:path extrusionOk="0" h="8286" w="8476">
                  <a:moveTo>
                    <a:pt x="6105" y="1"/>
                  </a:moveTo>
                  <a:cubicBezTo>
                    <a:pt x="6014" y="1"/>
                    <a:pt x="5916" y="39"/>
                    <a:pt x="5829" y="126"/>
                  </a:cubicBezTo>
                  <a:lnTo>
                    <a:pt x="3781" y="2205"/>
                  </a:lnTo>
                  <a:cubicBezTo>
                    <a:pt x="3718" y="2268"/>
                    <a:pt x="3655" y="2363"/>
                    <a:pt x="3655" y="2426"/>
                  </a:cubicBezTo>
                  <a:lnTo>
                    <a:pt x="3655" y="4253"/>
                  </a:lnTo>
                  <a:lnTo>
                    <a:pt x="1544" y="6332"/>
                  </a:lnTo>
                  <a:cubicBezTo>
                    <a:pt x="1400" y="6270"/>
                    <a:pt x="1256" y="6242"/>
                    <a:pt x="1119" y="6242"/>
                  </a:cubicBezTo>
                  <a:cubicBezTo>
                    <a:pt x="835" y="6242"/>
                    <a:pt x="580" y="6362"/>
                    <a:pt x="410" y="6553"/>
                  </a:cubicBezTo>
                  <a:cubicBezTo>
                    <a:pt x="0" y="6931"/>
                    <a:pt x="0" y="7592"/>
                    <a:pt x="410" y="8002"/>
                  </a:cubicBezTo>
                  <a:cubicBezTo>
                    <a:pt x="599" y="8191"/>
                    <a:pt x="859" y="8286"/>
                    <a:pt x="1123" y="8286"/>
                  </a:cubicBezTo>
                  <a:cubicBezTo>
                    <a:pt x="1387" y="8286"/>
                    <a:pt x="1655" y="8191"/>
                    <a:pt x="1859" y="8002"/>
                  </a:cubicBezTo>
                  <a:cubicBezTo>
                    <a:pt x="2174" y="7687"/>
                    <a:pt x="2206" y="7214"/>
                    <a:pt x="2048" y="6868"/>
                  </a:cubicBezTo>
                  <a:lnTo>
                    <a:pt x="4128" y="4757"/>
                  </a:lnTo>
                  <a:lnTo>
                    <a:pt x="5955" y="4757"/>
                  </a:lnTo>
                  <a:cubicBezTo>
                    <a:pt x="6018" y="4757"/>
                    <a:pt x="6144" y="4725"/>
                    <a:pt x="6175" y="4662"/>
                  </a:cubicBezTo>
                  <a:lnTo>
                    <a:pt x="8286" y="2552"/>
                  </a:lnTo>
                  <a:cubicBezTo>
                    <a:pt x="8475" y="2331"/>
                    <a:pt x="8349" y="1985"/>
                    <a:pt x="8034" y="1985"/>
                  </a:cubicBezTo>
                  <a:lnTo>
                    <a:pt x="6428" y="1985"/>
                  </a:lnTo>
                  <a:lnTo>
                    <a:pt x="6428" y="346"/>
                  </a:lnTo>
                  <a:cubicBezTo>
                    <a:pt x="6428" y="140"/>
                    <a:pt x="6278" y="1"/>
                    <a:pt x="61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08" name="Google Shape;408;p37"/>
            <p:cNvSpPr/>
            <p:nvPr/>
          </p:nvSpPr>
          <p:spPr>
            <a:xfrm>
              <a:off x="-1541125" y="3719125"/>
              <a:ext cx="120525" cy="118275"/>
            </a:xfrm>
            <a:custGeom>
              <a:rect b="b" l="l" r="r" t="t"/>
              <a:pathLst>
                <a:path extrusionOk="0" h="4731" w="4821">
                  <a:moveTo>
                    <a:pt x="2340" y="1"/>
                  </a:moveTo>
                  <a:cubicBezTo>
                    <a:pt x="1722" y="1"/>
                    <a:pt x="1163" y="241"/>
                    <a:pt x="725" y="679"/>
                  </a:cubicBezTo>
                  <a:cubicBezTo>
                    <a:pt x="284" y="1120"/>
                    <a:pt x="0" y="1750"/>
                    <a:pt x="0" y="2380"/>
                  </a:cubicBezTo>
                  <a:cubicBezTo>
                    <a:pt x="0" y="3943"/>
                    <a:pt x="1211" y="4731"/>
                    <a:pt x="2420" y="4731"/>
                  </a:cubicBezTo>
                  <a:cubicBezTo>
                    <a:pt x="3622" y="4731"/>
                    <a:pt x="4821" y="3951"/>
                    <a:pt x="4821" y="2380"/>
                  </a:cubicBezTo>
                  <a:cubicBezTo>
                    <a:pt x="4821" y="2096"/>
                    <a:pt x="4758" y="1844"/>
                    <a:pt x="4663" y="1592"/>
                  </a:cubicBezTo>
                  <a:lnTo>
                    <a:pt x="4096" y="2159"/>
                  </a:lnTo>
                  <a:cubicBezTo>
                    <a:pt x="4253" y="3199"/>
                    <a:pt x="3434" y="4081"/>
                    <a:pt x="2395" y="4081"/>
                  </a:cubicBezTo>
                  <a:cubicBezTo>
                    <a:pt x="882" y="4081"/>
                    <a:pt x="126" y="2222"/>
                    <a:pt x="1197" y="1151"/>
                  </a:cubicBezTo>
                  <a:cubicBezTo>
                    <a:pt x="1522" y="827"/>
                    <a:pt x="1984" y="665"/>
                    <a:pt x="2428" y="665"/>
                  </a:cubicBezTo>
                  <a:cubicBezTo>
                    <a:pt x="2501" y="665"/>
                    <a:pt x="2575" y="670"/>
                    <a:pt x="2647" y="679"/>
                  </a:cubicBezTo>
                  <a:lnTo>
                    <a:pt x="3182" y="143"/>
                  </a:lnTo>
                  <a:cubicBezTo>
                    <a:pt x="2894" y="47"/>
                    <a:pt x="2611" y="1"/>
                    <a:pt x="23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09" name="Google Shape;409;p37"/>
            <p:cNvSpPr/>
            <p:nvPr/>
          </p:nvSpPr>
          <p:spPr>
            <a:xfrm>
              <a:off x="-1591550" y="3668825"/>
              <a:ext cx="222925" cy="223225"/>
            </a:xfrm>
            <a:custGeom>
              <a:rect b="b" l="l" r="r" t="t"/>
              <a:pathLst>
                <a:path extrusionOk="0" h="8929" w="8917">
                  <a:moveTo>
                    <a:pt x="4475" y="1"/>
                  </a:moveTo>
                  <a:cubicBezTo>
                    <a:pt x="3329" y="1"/>
                    <a:pt x="2187" y="454"/>
                    <a:pt x="1324" y="1336"/>
                  </a:cubicBezTo>
                  <a:cubicBezTo>
                    <a:pt x="474" y="2155"/>
                    <a:pt x="1" y="3289"/>
                    <a:pt x="1" y="4486"/>
                  </a:cubicBezTo>
                  <a:cubicBezTo>
                    <a:pt x="1" y="6912"/>
                    <a:pt x="2017" y="8929"/>
                    <a:pt x="4475" y="8929"/>
                  </a:cubicBezTo>
                  <a:cubicBezTo>
                    <a:pt x="6901" y="8929"/>
                    <a:pt x="8917" y="6912"/>
                    <a:pt x="8917" y="4486"/>
                  </a:cubicBezTo>
                  <a:cubicBezTo>
                    <a:pt x="8917" y="3604"/>
                    <a:pt x="8696" y="2817"/>
                    <a:pt x="8255" y="2124"/>
                  </a:cubicBezTo>
                  <a:cubicBezTo>
                    <a:pt x="8098" y="2218"/>
                    <a:pt x="7342" y="2943"/>
                    <a:pt x="7184" y="3100"/>
                  </a:cubicBezTo>
                  <a:cubicBezTo>
                    <a:pt x="8161" y="5148"/>
                    <a:pt x="6680" y="7511"/>
                    <a:pt x="4412" y="7511"/>
                  </a:cubicBezTo>
                  <a:cubicBezTo>
                    <a:pt x="1702" y="7511"/>
                    <a:pt x="316" y="4203"/>
                    <a:pt x="2269" y="2281"/>
                  </a:cubicBezTo>
                  <a:cubicBezTo>
                    <a:pt x="2869" y="1681"/>
                    <a:pt x="3659" y="1373"/>
                    <a:pt x="4447" y="1373"/>
                  </a:cubicBezTo>
                  <a:cubicBezTo>
                    <a:pt x="4900" y="1373"/>
                    <a:pt x="5352" y="1475"/>
                    <a:pt x="5766" y="1682"/>
                  </a:cubicBezTo>
                  <a:cubicBezTo>
                    <a:pt x="5924" y="1525"/>
                    <a:pt x="6617" y="800"/>
                    <a:pt x="6838" y="706"/>
                  </a:cubicBezTo>
                  <a:cubicBezTo>
                    <a:pt x="6115" y="233"/>
                    <a:pt x="5294" y="1"/>
                    <a:pt x="44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410" name="Google Shape;410;p37"/>
          <p:cNvGrpSpPr/>
          <p:nvPr/>
        </p:nvGrpSpPr>
        <p:grpSpPr>
          <a:xfrm>
            <a:off x="6171279" y="1769285"/>
            <a:ext cx="340890" cy="178912"/>
            <a:chOff x="2084325" y="363300"/>
            <a:chExt cx="484150" cy="254100"/>
          </a:xfrm>
        </p:grpSpPr>
        <p:sp>
          <p:nvSpPr>
            <p:cNvPr id="411" name="Google Shape;411;p37"/>
            <p:cNvSpPr/>
            <p:nvPr/>
          </p:nvSpPr>
          <p:spPr>
            <a:xfrm>
              <a:off x="2084325" y="363300"/>
              <a:ext cx="484150" cy="254100"/>
            </a:xfrm>
            <a:custGeom>
              <a:rect b="b" l="l" r="r" t="t"/>
              <a:pathLst>
                <a:path extrusionOk="0" h="10164" w="19366">
                  <a:moveTo>
                    <a:pt x="9686" y="1128"/>
                  </a:moveTo>
                  <a:cubicBezTo>
                    <a:pt x="10195" y="1128"/>
                    <a:pt x="10707" y="1226"/>
                    <a:pt x="11196" y="1428"/>
                  </a:cubicBezTo>
                  <a:cubicBezTo>
                    <a:pt x="12671" y="2042"/>
                    <a:pt x="13635" y="3482"/>
                    <a:pt x="13635" y="5081"/>
                  </a:cubicBezTo>
                  <a:cubicBezTo>
                    <a:pt x="13632" y="7264"/>
                    <a:pt x="11864" y="9031"/>
                    <a:pt x="9684" y="9034"/>
                  </a:cubicBezTo>
                  <a:cubicBezTo>
                    <a:pt x="8085" y="9034"/>
                    <a:pt x="6643" y="8071"/>
                    <a:pt x="6032" y="6592"/>
                  </a:cubicBezTo>
                  <a:cubicBezTo>
                    <a:pt x="5420" y="5117"/>
                    <a:pt x="5758" y="3415"/>
                    <a:pt x="6887" y="2286"/>
                  </a:cubicBezTo>
                  <a:cubicBezTo>
                    <a:pt x="7645" y="1530"/>
                    <a:pt x="8657" y="1128"/>
                    <a:pt x="9686" y="1128"/>
                  </a:cubicBezTo>
                  <a:close/>
                  <a:moveTo>
                    <a:pt x="9684" y="1"/>
                  </a:moveTo>
                  <a:cubicBezTo>
                    <a:pt x="4502" y="1"/>
                    <a:pt x="361" y="4512"/>
                    <a:pt x="190" y="4704"/>
                  </a:cubicBezTo>
                  <a:cubicBezTo>
                    <a:pt x="0" y="4918"/>
                    <a:pt x="0" y="5243"/>
                    <a:pt x="190" y="5457"/>
                  </a:cubicBezTo>
                  <a:cubicBezTo>
                    <a:pt x="361" y="5650"/>
                    <a:pt x="4502" y="10164"/>
                    <a:pt x="9684" y="10164"/>
                  </a:cubicBezTo>
                  <a:cubicBezTo>
                    <a:pt x="14867" y="10164"/>
                    <a:pt x="19004" y="5650"/>
                    <a:pt x="19176" y="5457"/>
                  </a:cubicBezTo>
                  <a:cubicBezTo>
                    <a:pt x="19365" y="5243"/>
                    <a:pt x="19365" y="4918"/>
                    <a:pt x="19176" y="4704"/>
                  </a:cubicBezTo>
                  <a:cubicBezTo>
                    <a:pt x="19004" y="4512"/>
                    <a:pt x="14867" y="1"/>
                    <a:pt x="96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12" name="Google Shape;412;p37"/>
            <p:cNvSpPr/>
            <p:nvPr/>
          </p:nvSpPr>
          <p:spPr>
            <a:xfrm>
              <a:off x="2250600" y="419775"/>
              <a:ext cx="145175" cy="141125"/>
            </a:xfrm>
            <a:custGeom>
              <a:rect b="b" l="l" r="r" t="t"/>
              <a:pathLst>
                <a:path extrusionOk="0" h="5645" w="5807">
                  <a:moveTo>
                    <a:pt x="3018" y="0"/>
                  </a:moveTo>
                  <a:cubicBezTo>
                    <a:pt x="1922" y="0"/>
                    <a:pt x="929" y="634"/>
                    <a:pt x="468" y="1626"/>
                  </a:cubicBezTo>
                  <a:cubicBezTo>
                    <a:pt x="1" y="2623"/>
                    <a:pt x="158" y="3797"/>
                    <a:pt x="862" y="4637"/>
                  </a:cubicBezTo>
                  <a:cubicBezTo>
                    <a:pt x="1407" y="5287"/>
                    <a:pt x="2203" y="5645"/>
                    <a:pt x="3025" y="5645"/>
                  </a:cubicBezTo>
                  <a:cubicBezTo>
                    <a:pt x="3270" y="5645"/>
                    <a:pt x="3518" y="5613"/>
                    <a:pt x="3762" y="5547"/>
                  </a:cubicBezTo>
                  <a:cubicBezTo>
                    <a:pt x="4825" y="5258"/>
                    <a:pt x="5620" y="4382"/>
                    <a:pt x="5807" y="3297"/>
                  </a:cubicBezTo>
                  <a:lnTo>
                    <a:pt x="5807" y="3297"/>
                  </a:lnTo>
                  <a:cubicBezTo>
                    <a:pt x="5625" y="3356"/>
                    <a:pt x="5446" y="3383"/>
                    <a:pt x="5272" y="3383"/>
                  </a:cubicBezTo>
                  <a:cubicBezTo>
                    <a:pt x="4356" y="3383"/>
                    <a:pt x="3596" y="2626"/>
                    <a:pt x="3596" y="1692"/>
                  </a:cubicBezTo>
                  <a:cubicBezTo>
                    <a:pt x="3596" y="1147"/>
                    <a:pt x="3861" y="633"/>
                    <a:pt x="4307" y="316"/>
                  </a:cubicBezTo>
                  <a:cubicBezTo>
                    <a:pt x="3913" y="112"/>
                    <a:pt x="3476" y="3"/>
                    <a:pt x="3033" y="0"/>
                  </a:cubicBezTo>
                  <a:cubicBezTo>
                    <a:pt x="3028" y="0"/>
                    <a:pt x="3023" y="0"/>
                    <a:pt x="30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413" name="Google Shape;413;p37"/>
          <p:cNvGrpSpPr/>
          <p:nvPr/>
        </p:nvGrpSpPr>
        <p:grpSpPr>
          <a:xfrm>
            <a:off x="4789075" y="895350"/>
            <a:ext cx="3105300" cy="3362400"/>
            <a:chOff x="1247775" y="1009650"/>
            <a:chExt cx="3105300" cy="3362400"/>
          </a:xfrm>
        </p:grpSpPr>
        <p:sp>
          <p:nvSpPr>
            <p:cNvPr id="414" name="Google Shape;414;p37"/>
            <p:cNvSpPr/>
            <p:nvPr/>
          </p:nvSpPr>
          <p:spPr>
            <a:xfrm>
              <a:off x="1247775" y="1009650"/>
              <a:ext cx="3105300" cy="3362400"/>
            </a:xfrm>
            <a:prstGeom prst="roundRect">
              <a:avLst>
                <a:gd fmla="val 4601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15" name="Google Shape;415;p37"/>
            <p:cNvSpPr/>
            <p:nvPr/>
          </p:nvSpPr>
          <p:spPr>
            <a:xfrm>
              <a:off x="1304925" y="1228725"/>
              <a:ext cx="2979600" cy="3076500"/>
            </a:xfrm>
            <a:prstGeom prst="roundRect">
              <a:avLst>
                <a:gd fmla="val 479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dk2"/>
                  </a:solidFill>
                  <a:latin typeface="Georgia"/>
                  <a:ea typeface="Georgia"/>
                  <a:cs typeface="Georgia"/>
                  <a:sym typeface="Georgia"/>
                </a:rPr>
                <a:t> Dataset: UCI Diabetes 130-US Hospitals  </a:t>
              </a:r>
              <a:endParaRPr b="1" sz="15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dk2"/>
                  </a:solidFill>
                  <a:latin typeface="Georgia"/>
                  <a:ea typeface="Georgia"/>
                  <a:cs typeface="Georgia"/>
                  <a:sym typeface="Georgia"/>
                </a:rPr>
                <a:t> Problem: Binary Classification  Supervised ML</a:t>
              </a:r>
              <a:endParaRPr b="1" sz="15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16" name="Google Shape;416;p37"/>
            <p:cNvSpPr/>
            <p:nvPr/>
          </p:nvSpPr>
          <p:spPr>
            <a:xfrm>
              <a:off x="4205829" y="1084136"/>
              <a:ext cx="78697" cy="78697"/>
            </a:xfrm>
            <a:custGeom>
              <a:rect b="b" l="l" r="r" t="t"/>
              <a:pathLst>
                <a:path extrusionOk="0" h="349" w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17" name="Google Shape;417;p37"/>
            <p:cNvSpPr/>
            <p:nvPr/>
          </p:nvSpPr>
          <p:spPr>
            <a:xfrm>
              <a:off x="4078426" y="1084136"/>
              <a:ext cx="78471" cy="78697"/>
            </a:xfrm>
            <a:custGeom>
              <a:rect b="b" l="l" r="r" t="t"/>
              <a:pathLst>
                <a:path extrusionOk="0" h="349" w="348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18" name="Google Shape;418;p37"/>
            <p:cNvSpPr/>
            <p:nvPr/>
          </p:nvSpPr>
          <p:spPr>
            <a:xfrm>
              <a:off x="3931180" y="1083011"/>
              <a:ext cx="95158" cy="80952"/>
            </a:xfrm>
            <a:custGeom>
              <a:rect b="b" l="l" r="r" t="t"/>
              <a:pathLst>
                <a:path extrusionOk="0" h="359" w="422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419" name="Google Shape;419;p37"/>
          <p:cNvSpPr/>
          <p:nvPr/>
        </p:nvSpPr>
        <p:spPr>
          <a:xfrm>
            <a:off x="1339185" y="2177805"/>
            <a:ext cx="2926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6400"/>
              <a:buFont typeface="Calibri"/>
              <a:buNone/>
            </a:pPr>
            <a:r>
              <a:rPr b="1" lang="en" sz="6400">
                <a:solidFill>
                  <a:srgbClr val="1B6CA8"/>
                </a:solidFill>
                <a:latin typeface="Georgia"/>
                <a:ea typeface="Georgia"/>
                <a:cs typeface="Georgia"/>
                <a:sym typeface="Georgia"/>
              </a:rPr>
              <a:t>101K</a:t>
            </a:r>
            <a:endParaRPr b="1" sz="6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0" name="Google Shape;420;p37"/>
          <p:cNvSpPr/>
          <p:nvPr/>
        </p:nvSpPr>
        <p:spPr>
          <a:xfrm>
            <a:off x="1339185" y="3229365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300"/>
              <a:buFont typeface="Calibri"/>
              <a:buNone/>
            </a:pPr>
            <a:r>
              <a:rPr lang="en" sz="1300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rPr>
              <a:t>patient records</a:t>
            </a:r>
            <a:endParaRPr sz="1300">
              <a:solidFill>
                <a:schemeClr val="accent3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1" name="Google Shape;421;p37"/>
          <p:cNvSpPr/>
          <p:nvPr/>
        </p:nvSpPr>
        <p:spPr>
          <a:xfrm>
            <a:off x="1339185" y="3549405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7F8C8D"/>
                </a:solidFill>
                <a:latin typeface="Georgia"/>
                <a:ea typeface="Georgia"/>
                <a:cs typeface="Georgia"/>
                <a:sym typeface="Georgia"/>
              </a:rPr>
              <a:t>130 US hospitals · 1999–2008</a:t>
            </a:r>
            <a:endParaRPr b="1"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8"/>
          <p:cNvSpPr/>
          <p:nvPr/>
        </p:nvSpPr>
        <p:spPr>
          <a:xfrm>
            <a:off x="7273560" y="4773243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1B6CA8"/>
                </a:solidFill>
                <a:latin typeface="Georgia"/>
                <a:ea typeface="Georgia"/>
                <a:cs typeface="Georgia"/>
                <a:sym typeface="Georgia"/>
              </a:rPr>
              <a:t>PROBLEM DEFINITION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8" name="Google Shape;428;p38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" sz="26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Why Does This Problem Matter?</a:t>
            </a:r>
            <a:endParaRPr sz="2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9" name="Google Shape;429;p38"/>
          <p:cNvSpPr/>
          <p:nvPr/>
        </p:nvSpPr>
        <p:spPr>
          <a:xfrm>
            <a:off x="320040" y="1234440"/>
            <a:ext cx="1920240" cy="23774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2700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0" name="Google Shape;430;p38"/>
          <p:cNvSpPr/>
          <p:nvPr/>
        </p:nvSpPr>
        <p:spPr>
          <a:xfrm>
            <a:off x="320040" y="1234440"/>
            <a:ext cx="1920240" cy="164592"/>
          </a:xfrm>
          <a:prstGeom prst="rect">
            <a:avLst/>
          </a:prstGeom>
          <a:solidFill>
            <a:srgbClr val="E84855"/>
          </a:solidFill>
          <a:ln cap="flat" cmpd="sng" w="12700">
            <a:solidFill>
              <a:srgbClr val="E84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1" name="Google Shape;431;p38"/>
          <p:cNvSpPr/>
          <p:nvPr/>
        </p:nvSpPr>
        <p:spPr>
          <a:xfrm>
            <a:off x="320040" y="16002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4855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E84855"/>
                </a:solidFill>
                <a:latin typeface="Georgia"/>
                <a:ea typeface="Georgia"/>
                <a:cs typeface="Georgia"/>
                <a:sym typeface="Georgia"/>
              </a:rPr>
              <a:t>20%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2" name="Google Shape;432;p38"/>
          <p:cNvSpPr/>
          <p:nvPr/>
        </p:nvSpPr>
        <p:spPr>
          <a:xfrm>
            <a:off x="320040" y="2392530"/>
            <a:ext cx="1920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of patients readmitted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within 30 days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3" name="Google Shape;433;p38"/>
          <p:cNvSpPr/>
          <p:nvPr/>
        </p:nvSpPr>
        <p:spPr>
          <a:xfrm>
            <a:off x="2468880" y="1234440"/>
            <a:ext cx="1920240" cy="23774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2700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4" name="Google Shape;434;p38"/>
          <p:cNvSpPr/>
          <p:nvPr/>
        </p:nvSpPr>
        <p:spPr>
          <a:xfrm>
            <a:off x="2468880" y="1234440"/>
            <a:ext cx="1920240" cy="164592"/>
          </a:xfrm>
          <a:prstGeom prst="rect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5" name="Google Shape;435;p38"/>
          <p:cNvSpPr/>
          <p:nvPr/>
        </p:nvSpPr>
        <p:spPr>
          <a:xfrm>
            <a:off x="2468880" y="16002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$26B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6" name="Google Shape;436;p38"/>
          <p:cNvSpPr/>
          <p:nvPr/>
        </p:nvSpPr>
        <p:spPr>
          <a:xfrm>
            <a:off x="2468880" y="2392530"/>
            <a:ext cx="1920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annual cost of preventable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readmissions in the US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7" name="Google Shape;437;p38"/>
          <p:cNvSpPr/>
          <p:nvPr/>
        </p:nvSpPr>
        <p:spPr>
          <a:xfrm>
            <a:off x="4617720" y="1234440"/>
            <a:ext cx="1920240" cy="23774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2700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8" name="Google Shape;438;p38"/>
          <p:cNvSpPr/>
          <p:nvPr/>
        </p:nvSpPr>
        <p:spPr>
          <a:xfrm>
            <a:off x="4617720" y="1234440"/>
            <a:ext cx="1920240" cy="164592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9" name="Google Shape;439;p38"/>
          <p:cNvSpPr/>
          <p:nvPr/>
        </p:nvSpPr>
        <p:spPr>
          <a:xfrm>
            <a:off x="4617720" y="16002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1B6CA8"/>
                </a:solidFill>
                <a:latin typeface="Georgia"/>
                <a:ea typeface="Georgia"/>
                <a:cs typeface="Georgia"/>
                <a:sym typeface="Georgia"/>
              </a:rPr>
              <a:t>Diabetes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0" name="Google Shape;440;p38"/>
          <p:cNvSpPr/>
          <p:nvPr/>
        </p:nvSpPr>
        <p:spPr>
          <a:xfrm>
            <a:off x="4617720" y="2392505"/>
            <a:ext cx="1920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patients face 2× higher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readmission risk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1" name="Google Shape;441;p38"/>
          <p:cNvSpPr/>
          <p:nvPr/>
        </p:nvSpPr>
        <p:spPr>
          <a:xfrm>
            <a:off x="6766560" y="1234440"/>
            <a:ext cx="1920240" cy="23774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2700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2" name="Google Shape;442;p38"/>
          <p:cNvSpPr/>
          <p:nvPr/>
        </p:nvSpPr>
        <p:spPr>
          <a:xfrm>
            <a:off x="6766560" y="1234440"/>
            <a:ext cx="1920240" cy="164592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3" name="Google Shape;443;p38"/>
          <p:cNvSpPr/>
          <p:nvPr/>
        </p:nvSpPr>
        <p:spPr>
          <a:xfrm>
            <a:off x="6766560" y="16002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2ECC71"/>
                </a:solidFill>
                <a:latin typeface="Georgia"/>
                <a:ea typeface="Georgia"/>
                <a:cs typeface="Georgia"/>
                <a:sym typeface="Georgia"/>
              </a:rPr>
              <a:t>ML Solution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4" name="Google Shape;444;p38"/>
          <p:cNvSpPr/>
          <p:nvPr/>
        </p:nvSpPr>
        <p:spPr>
          <a:xfrm>
            <a:off x="6766560" y="2441455"/>
            <a:ext cx="1920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predict risk at discharge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to enable intervention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5" name="Google Shape;445;p38"/>
          <p:cNvSpPr/>
          <p:nvPr/>
        </p:nvSpPr>
        <p:spPr>
          <a:xfrm>
            <a:off x="320040" y="3749040"/>
            <a:ext cx="8503800" cy="1024200"/>
          </a:xfrm>
          <a:prstGeom prst="roundRect">
            <a:avLst>
              <a:gd fmla="val 535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6" name="Google Shape;446;p38"/>
          <p:cNvSpPr/>
          <p:nvPr/>
        </p:nvSpPr>
        <p:spPr>
          <a:xfrm>
            <a:off x="502920" y="3858768"/>
            <a:ext cx="8138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B6CA8"/>
                </a:solidFill>
                <a:latin typeface="Georgia"/>
                <a:ea typeface="Georgia"/>
                <a:cs typeface="Georgia"/>
                <a:sym typeface="Georgia"/>
              </a:rPr>
              <a:t>Why Classification and not Regression?  </a:t>
            </a:r>
            <a:r>
              <a:rPr lang="en" sz="12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The target is categorical (readmitted or not). Regression predicts a continuous number (price, temperature). Binary classification is the only valid approach </a:t>
            </a:r>
            <a:endParaRPr sz="1200">
              <a:solidFill>
                <a:srgbClr val="0D1B2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=&gt; The output is a clinical decision: yes or no.</a:t>
            </a:r>
            <a:endParaRPr b="1"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oogle Shape;451;p39"/>
          <p:cNvGrpSpPr/>
          <p:nvPr/>
        </p:nvGrpSpPr>
        <p:grpSpPr>
          <a:xfrm>
            <a:off x="5079100" y="3102850"/>
            <a:ext cx="3095787" cy="1384446"/>
            <a:chOff x="-4588775" y="152400"/>
            <a:chExt cx="3095787" cy="1384446"/>
          </a:xfrm>
        </p:grpSpPr>
        <p:sp>
          <p:nvSpPr>
            <p:cNvPr id="452" name="Google Shape;452;p39"/>
            <p:cNvSpPr/>
            <p:nvPr/>
          </p:nvSpPr>
          <p:spPr>
            <a:xfrm>
              <a:off x="-4588775" y="152400"/>
              <a:ext cx="3095787" cy="1384446"/>
            </a:xfrm>
            <a:custGeom>
              <a:rect b="b" l="l" r="r" t="t"/>
              <a:pathLst>
                <a:path extrusionOk="0" h="8699" w="13729">
                  <a:moveTo>
                    <a:pt x="407" y="1"/>
                  </a:moveTo>
                  <a:cubicBezTo>
                    <a:pt x="175" y="1"/>
                    <a:pt x="1" y="175"/>
                    <a:pt x="1" y="392"/>
                  </a:cubicBezTo>
                  <a:lnTo>
                    <a:pt x="1" y="8292"/>
                  </a:lnTo>
                  <a:cubicBezTo>
                    <a:pt x="1" y="8524"/>
                    <a:pt x="175" y="8698"/>
                    <a:pt x="407" y="8698"/>
                  </a:cubicBezTo>
                  <a:lnTo>
                    <a:pt x="13322" y="8698"/>
                  </a:lnTo>
                  <a:cubicBezTo>
                    <a:pt x="13540" y="8698"/>
                    <a:pt x="13728" y="8524"/>
                    <a:pt x="13728" y="8292"/>
                  </a:cubicBezTo>
                  <a:lnTo>
                    <a:pt x="13728" y="392"/>
                  </a:lnTo>
                  <a:cubicBezTo>
                    <a:pt x="13728" y="175"/>
                    <a:pt x="13540" y="1"/>
                    <a:pt x="133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53" name="Google Shape;453;p39"/>
            <p:cNvSpPr/>
            <p:nvPr/>
          </p:nvSpPr>
          <p:spPr>
            <a:xfrm>
              <a:off x="-4546157" y="336867"/>
              <a:ext cx="3010550" cy="1167243"/>
            </a:xfrm>
            <a:custGeom>
              <a:rect b="b" l="l" r="r" t="t"/>
              <a:pathLst>
                <a:path extrusionOk="0" h="7771" w="13351">
                  <a:moveTo>
                    <a:pt x="319" y="1"/>
                  </a:moveTo>
                  <a:cubicBezTo>
                    <a:pt x="145" y="1"/>
                    <a:pt x="0" y="131"/>
                    <a:pt x="0" y="305"/>
                  </a:cubicBezTo>
                  <a:lnTo>
                    <a:pt x="0" y="7452"/>
                  </a:lnTo>
                  <a:cubicBezTo>
                    <a:pt x="0" y="7626"/>
                    <a:pt x="145" y="7771"/>
                    <a:pt x="319" y="7771"/>
                  </a:cubicBezTo>
                  <a:lnTo>
                    <a:pt x="13032" y="7771"/>
                  </a:lnTo>
                  <a:cubicBezTo>
                    <a:pt x="13206" y="7771"/>
                    <a:pt x="13351" y="7626"/>
                    <a:pt x="13351" y="7452"/>
                  </a:cubicBezTo>
                  <a:lnTo>
                    <a:pt x="13351" y="305"/>
                  </a:lnTo>
                  <a:cubicBezTo>
                    <a:pt x="13351" y="131"/>
                    <a:pt x="13206" y="1"/>
                    <a:pt x="130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54" name="Google Shape;454;p39"/>
            <p:cNvSpPr/>
            <p:nvPr/>
          </p:nvSpPr>
          <p:spPr>
            <a:xfrm>
              <a:off x="-1637096" y="214986"/>
              <a:ext cx="78697" cy="78697"/>
            </a:xfrm>
            <a:custGeom>
              <a:rect b="b" l="l" r="r" t="t"/>
              <a:pathLst>
                <a:path extrusionOk="0" h="349" w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55" name="Google Shape;455;p39"/>
            <p:cNvSpPr/>
            <p:nvPr/>
          </p:nvSpPr>
          <p:spPr>
            <a:xfrm>
              <a:off x="-1764499" y="214986"/>
              <a:ext cx="78471" cy="78697"/>
            </a:xfrm>
            <a:custGeom>
              <a:rect b="b" l="l" r="r" t="t"/>
              <a:pathLst>
                <a:path extrusionOk="0" h="349" w="348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56" name="Google Shape;456;p39"/>
            <p:cNvSpPr/>
            <p:nvPr/>
          </p:nvSpPr>
          <p:spPr>
            <a:xfrm>
              <a:off x="-1911745" y="213861"/>
              <a:ext cx="95158" cy="80952"/>
            </a:xfrm>
            <a:custGeom>
              <a:rect b="b" l="l" r="r" t="t"/>
              <a:pathLst>
                <a:path extrusionOk="0" h="359" w="422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457" name="Google Shape;457;p39"/>
          <p:cNvGrpSpPr/>
          <p:nvPr/>
        </p:nvGrpSpPr>
        <p:grpSpPr>
          <a:xfrm>
            <a:off x="5079100" y="1320375"/>
            <a:ext cx="3095787" cy="1384446"/>
            <a:chOff x="-4588775" y="152400"/>
            <a:chExt cx="3095787" cy="1384446"/>
          </a:xfrm>
        </p:grpSpPr>
        <p:sp>
          <p:nvSpPr>
            <p:cNvPr id="458" name="Google Shape;458;p39"/>
            <p:cNvSpPr/>
            <p:nvPr/>
          </p:nvSpPr>
          <p:spPr>
            <a:xfrm>
              <a:off x="-4588775" y="152400"/>
              <a:ext cx="3095787" cy="1384446"/>
            </a:xfrm>
            <a:custGeom>
              <a:rect b="b" l="l" r="r" t="t"/>
              <a:pathLst>
                <a:path extrusionOk="0" h="8699" w="13729">
                  <a:moveTo>
                    <a:pt x="407" y="1"/>
                  </a:moveTo>
                  <a:cubicBezTo>
                    <a:pt x="175" y="1"/>
                    <a:pt x="1" y="175"/>
                    <a:pt x="1" y="392"/>
                  </a:cubicBezTo>
                  <a:lnTo>
                    <a:pt x="1" y="8292"/>
                  </a:lnTo>
                  <a:cubicBezTo>
                    <a:pt x="1" y="8524"/>
                    <a:pt x="175" y="8698"/>
                    <a:pt x="407" y="8698"/>
                  </a:cubicBezTo>
                  <a:lnTo>
                    <a:pt x="13322" y="8698"/>
                  </a:lnTo>
                  <a:cubicBezTo>
                    <a:pt x="13540" y="8698"/>
                    <a:pt x="13728" y="8524"/>
                    <a:pt x="13728" y="8292"/>
                  </a:cubicBezTo>
                  <a:lnTo>
                    <a:pt x="13728" y="392"/>
                  </a:lnTo>
                  <a:cubicBezTo>
                    <a:pt x="13728" y="175"/>
                    <a:pt x="13540" y="1"/>
                    <a:pt x="133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59" name="Google Shape;459;p39"/>
            <p:cNvSpPr/>
            <p:nvPr/>
          </p:nvSpPr>
          <p:spPr>
            <a:xfrm>
              <a:off x="-4546157" y="336867"/>
              <a:ext cx="3010550" cy="1167243"/>
            </a:xfrm>
            <a:custGeom>
              <a:rect b="b" l="l" r="r" t="t"/>
              <a:pathLst>
                <a:path extrusionOk="0" h="7771" w="13351">
                  <a:moveTo>
                    <a:pt x="319" y="1"/>
                  </a:moveTo>
                  <a:cubicBezTo>
                    <a:pt x="145" y="1"/>
                    <a:pt x="0" y="131"/>
                    <a:pt x="0" y="305"/>
                  </a:cubicBezTo>
                  <a:lnTo>
                    <a:pt x="0" y="7452"/>
                  </a:lnTo>
                  <a:cubicBezTo>
                    <a:pt x="0" y="7626"/>
                    <a:pt x="145" y="7771"/>
                    <a:pt x="319" y="7771"/>
                  </a:cubicBezTo>
                  <a:lnTo>
                    <a:pt x="13032" y="7771"/>
                  </a:lnTo>
                  <a:cubicBezTo>
                    <a:pt x="13206" y="7771"/>
                    <a:pt x="13351" y="7626"/>
                    <a:pt x="13351" y="7452"/>
                  </a:cubicBezTo>
                  <a:lnTo>
                    <a:pt x="13351" y="305"/>
                  </a:lnTo>
                  <a:cubicBezTo>
                    <a:pt x="13351" y="131"/>
                    <a:pt x="13206" y="1"/>
                    <a:pt x="130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60" name="Google Shape;460;p39"/>
            <p:cNvSpPr/>
            <p:nvPr/>
          </p:nvSpPr>
          <p:spPr>
            <a:xfrm>
              <a:off x="-1637096" y="214986"/>
              <a:ext cx="78697" cy="78697"/>
            </a:xfrm>
            <a:custGeom>
              <a:rect b="b" l="l" r="r" t="t"/>
              <a:pathLst>
                <a:path extrusionOk="0" h="349" w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61" name="Google Shape;461;p39"/>
            <p:cNvSpPr/>
            <p:nvPr/>
          </p:nvSpPr>
          <p:spPr>
            <a:xfrm>
              <a:off x="-1764499" y="214986"/>
              <a:ext cx="78471" cy="78697"/>
            </a:xfrm>
            <a:custGeom>
              <a:rect b="b" l="l" r="r" t="t"/>
              <a:pathLst>
                <a:path extrusionOk="0" h="349" w="348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62" name="Google Shape;462;p39"/>
            <p:cNvSpPr/>
            <p:nvPr/>
          </p:nvSpPr>
          <p:spPr>
            <a:xfrm>
              <a:off x="-1911745" y="213861"/>
              <a:ext cx="95158" cy="80952"/>
            </a:xfrm>
            <a:custGeom>
              <a:rect b="b" l="l" r="r" t="t"/>
              <a:pathLst>
                <a:path extrusionOk="0" h="359" w="422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463" name="Google Shape;463;p39"/>
          <p:cNvGrpSpPr/>
          <p:nvPr/>
        </p:nvGrpSpPr>
        <p:grpSpPr>
          <a:xfrm>
            <a:off x="969113" y="3102850"/>
            <a:ext cx="3095787" cy="1384446"/>
            <a:chOff x="-4588775" y="152400"/>
            <a:chExt cx="3095787" cy="1384446"/>
          </a:xfrm>
        </p:grpSpPr>
        <p:sp>
          <p:nvSpPr>
            <p:cNvPr id="464" name="Google Shape;464;p39"/>
            <p:cNvSpPr/>
            <p:nvPr/>
          </p:nvSpPr>
          <p:spPr>
            <a:xfrm>
              <a:off x="-4588775" y="152400"/>
              <a:ext cx="3095787" cy="1384446"/>
            </a:xfrm>
            <a:custGeom>
              <a:rect b="b" l="l" r="r" t="t"/>
              <a:pathLst>
                <a:path extrusionOk="0" h="8699" w="13729">
                  <a:moveTo>
                    <a:pt x="407" y="1"/>
                  </a:moveTo>
                  <a:cubicBezTo>
                    <a:pt x="175" y="1"/>
                    <a:pt x="1" y="175"/>
                    <a:pt x="1" y="392"/>
                  </a:cubicBezTo>
                  <a:lnTo>
                    <a:pt x="1" y="8292"/>
                  </a:lnTo>
                  <a:cubicBezTo>
                    <a:pt x="1" y="8524"/>
                    <a:pt x="175" y="8698"/>
                    <a:pt x="407" y="8698"/>
                  </a:cubicBezTo>
                  <a:lnTo>
                    <a:pt x="13322" y="8698"/>
                  </a:lnTo>
                  <a:cubicBezTo>
                    <a:pt x="13540" y="8698"/>
                    <a:pt x="13728" y="8524"/>
                    <a:pt x="13728" y="8292"/>
                  </a:cubicBezTo>
                  <a:lnTo>
                    <a:pt x="13728" y="392"/>
                  </a:lnTo>
                  <a:cubicBezTo>
                    <a:pt x="13728" y="175"/>
                    <a:pt x="13540" y="1"/>
                    <a:pt x="133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65" name="Google Shape;465;p39"/>
            <p:cNvSpPr/>
            <p:nvPr/>
          </p:nvSpPr>
          <p:spPr>
            <a:xfrm>
              <a:off x="-4546157" y="336867"/>
              <a:ext cx="3010550" cy="1167243"/>
            </a:xfrm>
            <a:custGeom>
              <a:rect b="b" l="l" r="r" t="t"/>
              <a:pathLst>
                <a:path extrusionOk="0" h="7771" w="13351">
                  <a:moveTo>
                    <a:pt x="319" y="1"/>
                  </a:moveTo>
                  <a:cubicBezTo>
                    <a:pt x="145" y="1"/>
                    <a:pt x="0" y="131"/>
                    <a:pt x="0" y="305"/>
                  </a:cubicBezTo>
                  <a:lnTo>
                    <a:pt x="0" y="7452"/>
                  </a:lnTo>
                  <a:cubicBezTo>
                    <a:pt x="0" y="7626"/>
                    <a:pt x="145" y="7771"/>
                    <a:pt x="319" y="7771"/>
                  </a:cubicBezTo>
                  <a:lnTo>
                    <a:pt x="13032" y="7771"/>
                  </a:lnTo>
                  <a:cubicBezTo>
                    <a:pt x="13206" y="7771"/>
                    <a:pt x="13351" y="7626"/>
                    <a:pt x="13351" y="7452"/>
                  </a:cubicBezTo>
                  <a:lnTo>
                    <a:pt x="13351" y="305"/>
                  </a:lnTo>
                  <a:cubicBezTo>
                    <a:pt x="13351" y="131"/>
                    <a:pt x="13206" y="1"/>
                    <a:pt x="130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66" name="Google Shape;466;p39"/>
            <p:cNvSpPr/>
            <p:nvPr/>
          </p:nvSpPr>
          <p:spPr>
            <a:xfrm>
              <a:off x="-1637096" y="214986"/>
              <a:ext cx="78697" cy="78697"/>
            </a:xfrm>
            <a:custGeom>
              <a:rect b="b" l="l" r="r" t="t"/>
              <a:pathLst>
                <a:path extrusionOk="0" h="349" w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67" name="Google Shape;467;p39"/>
            <p:cNvSpPr/>
            <p:nvPr/>
          </p:nvSpPr>
          <p:spPr>
            <a:xfrm>
              <a:off x="-1764499" y="214986"/>
              <a:ext cx="78471" cy="78697"/>
            </a:xfrm>
            <a:custGeom>
              <a:rect b="b" l="l" r="r" t="t"/>
              <a:pathLst>
                <a:path extrusionOk="0" h="349" w="348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68" name="Google Shape;468;p39"/>
            <p:cNvSpPr/>
            <p:nvPr/>
          </p:nvSpPr>
          <p:spPr>
            <a:xfrm>
              <a:off x="-1911745" y="213861"/>
              <a:ext cx="95158" cy="80952"/>
            </a:xfrm>
            <a:custGeom>
              <a:rect b="b" l="l" r="r" t="t"/>
              <a:pathLst>
                <a:path extrusionOk="0" h="359" w="422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469" name="Google Shape;469;p39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Georgia"/>
                <a:ea typeface="Georgia"/>
                <a:cs typeface="Georgia"/>
                <a:sym typeface="Georgia"/>
              </a:rPr>
              <a:t>The Diabetes 130-US Hospitals Dataset :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470" name="Google Shape;470;p39"/>
          <p:cNvGrpSpPr/>
          <p:nvPr/>
        </p:nvGrpSpPr>
        <p:grpSpPr>
          <a:xfrm>
            <a:off x="969113" y="1320375"/>
            <a:ext cx="3095787" cy="1384446"/>
            <a:chOff x="-4588775" y="152400"/>
            <a:chExt cx="3095787" cy="1384446"/>
          </a:xfrm>
        </p:grpSpPr>
        <p:sp>
          <p:nvSpPr>
            <p:cNvPr id="471" name="Google Shape;471;p39"/>
            <p:cNvSpPr/>
            <p:nvPr/>
          </p:nvSpPr>
          <p:spPr>
            <a:xfrm>
              <a:off x="-4588775" y="152400"/>
              <a:ext cx="3095787" cy="1384446"/>
            </a:xfrm>
            <a:custGeom>
              <a:rect b="b" l="l" r="r" t="t"/>
              <a:pathLst>
                <a:path extrusionOk="0" h="8699" w="13729">
                  <a:moveTo>
                    <a:pt x="407" y="1"/>
                  </a:moveTo>
                  <a:cubicBezTo>
                    <a:pt x="175" y="1"/>
                    <a:pt x="1" y="175"/>
                    <a:pt x="1" y="392"/>
                  </a:cubicBezTo>
                  <a:lnTo>
                    <a:pt x="1" y="8292"/>
                  </a:lnTo>
                  <a:cubicBezTo>
                    <a:pt x="1" y="8524"/>
                    <a:pt x="175" y="8698"/>
                    <a:pt x="407" y="8698"/>
                  </a:cubicBezTo>
                  <a:lnTo>
                    <a:pt x="13322" y="8698"/>
                  </a:lnTo>
                  <a:cubicBezTo>
                    <a:pt x="13540" y="8698"/>
                    <a:pt x="13728" y="8524"/>
                    <a:pt x="13728" y="8292"/>
                  </a:cubicBezTo>
                  <a:lnTo>
                    <a:pt x="13728" y="392"/>
                  </a:lnTo>
                  <a:cubicBezTo>
                    <a:pt x="13728" y="175"/>
                    <a:pt x="13540" y="1"/>
                    <a:pt x="133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72" name="Google Shape;472;p39"/>
            <p:cNvSpPr/>
            <p:nvPr/>
          </p:nvSpPr>
          <p:spPr>
            <a:xfrm>
              <a:off x="-4546157" y="336867"/>
              <a:ext cx="3010550" cy="1167243"/>
            </a:xfrm>
            <a:custGeom>
              <a:rect b="b" l="l" r="r" t="t"/>
              <a:pathLst>
                <a:path extrusionOk="0" h="7771" w="13351">
                  <a:moveTo>
                    <a:pt x="319" y="1"/>
                  </a:moveTo>
                  <a:cubicBezTo>
                    <a:pt x="145" y="1"/>
                    <a:pt x="0" y="131"/>
                    <a:pt x="0" y="305"/>
                  </a:cubicBezTo>
                  <a:lnTo>
                    <a:pt x="0" y="7452"/>
                  </a:lnTo>
                  <a:cubicBezTo>
                    <a:pt x="0" y="7626"/>
                    <a:pt x="145" y="7771"/>
                    <a:pt x="319" y="7771"/>
                  </a:cubicBezTo>
                  <a:lnTo>
                    <a:pt x="13032" y="7771"/>
                  </a:lnTo>
                  <a:cubicBezTo>
                    <a:pt x="13206" y="7771"/>
                    <a:pt x="13351" y="7626"/>
                    <a:pt x="13351" y="7452"/>
                  </a:cubicBezTo>
                  <a:lnTo>
                    <a:pt x="13351" y="305"/>
                  </a:lnTo>
                  <a:cubicBezTo>
                    <a:pt x="13351" y="131"/>
                    <a:pt x="13206" y="1"/>
                    <a:pt x="130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73" name="Google Shape;473;p39"/>
            <p:cNvSpPr/>
            <p:nvPr/>
          </p:nvSpPr>
          <p:spPr>
            <a:xfrm>
              <a:off x="-1637096" y="214986"/>
              <a:ext cx="78697" cy="78697"/>
            </a:xfrm>
            <a:custGeom>
              <a:rect b="b" l="l" r="r" t="t"/>
              <a:pathLst>
                <a:path extrusionOk="0" h="349" w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74" name="Google Shape;474;p39"/>
            <p:cNvSpPr/>
            <p:nvPr/>
          </p:nvSpPr>
          <p:spPr>
            <a:xfrm>
              <a:off x="-1764499" y="214986"/>
              <a:ext cx="78471" cy="78697"/>
            </a:xfrm>
            <a:custGeom>
              <a:rect b="b" l="l" r="r" t="t"/>
              <a:pathLst>
                <a:path extrusionOk="0" h="349" w="348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75" name="Google Shape;475;p39"/>
            <p:cNvSpPr/>
            <p:nvPr/>
          </p:nvSpPr>
          <p:spPr>
            <a:xfrm>
              <a:off x="-1911745" y="213861"/>
              <a:ext cx="95158" cy="80952"/>
            </a:xfrm>
            <a:custGeom>
              <a:rect b="b" l="l" r="r" t="t"/>
              <a:pathLst>
                <a:path extrusionOk="0" h="359" w="422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476" name="Google Shape;476;p39"/>
          <p:cNvSpPr/>
          <p:nvPr/>
        </p:nvSpPr>
        <p:spPr>
          <a:xfrm>
            <a:off x="1480720" y="1490323"/>
            <a:ext cx="1920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2600"/>
              <a:buFont typeface="Calibri"/>
              <a:buNone/>
            </a:pPr>
            <a:r>
              <a:rPr b="1" lang="en" sz="2600">
                <a:solidFill>
                  <a:srgbClr val="1B6CA8"/>
                </a:solidFill>
                <a:latin typeface="Georgia"/>
                <a:ea typeface="Georgia"/>
                <a:cs typeface="Georgia"/>
                <a:sym typeface="Georgia"/>
              </a:rPr>
              <a:t>101,766</a:t>
            </a:r>
            <a:endParaRPr sz="2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7" name="Google Shape;477;p39"/>
          <p:cNvSpPr/>
          <p:nvPr/>
        </p:nvSpPr>
        <p:spPr>
          <a:xfrm>
            <a:off x="1480733" y="2057325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5F8195"/>
                </a:solidFill>
                <a:latin typeface="Georgia"/>
                <a:ea typeface="Georgia"/>
                <a:cs typeface="Georgia"/>
                <a:sym typeface="Georgia"/>
              </a:rPr>
              <a:t>Patient Records</a:t>
            </a:r>
            <a:endParaRPr b="1" sz="1100">
              <a:solidFill>
                <a:srgbClr val="5F819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8" name="Google Shape;478;p39"/>
          <p:cNvSpPr/>
          <p:nvPr/>
        </p:nvSpPr>
        <p:spPr>
          <a:xfrm>
            <a:off x="5666830" y="1653423"/>
            <a:ext cx="1920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2600"/>
              <a:buFont typeface="Calibri"/>
              <a:buNone/>
            </a:pPr>
            <a:r>
              <a:rPr b="1" lang="en" sz="260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50</a:t>
            </a:r>
            <a:endParaRPr sz="2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9" name="Google Shape;479;p39"/>
          <p:cNvSpPr/>
          <p:nvPr/>
        </p:nvSpPr>
        <p:spPr>
          <a:xfrm>
            <a:off x="5582367" y="2154775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9E9E9E"/>
                </a:solidFill>
                <a:latin typeface="Georgia"/>
                <a:ea typeface="Georgia"/>
                <a:cs typeface="Georgia"/>
                <a:sym typeface="Georgia"/>
              </a:rPr>
              <a:t>Features</a:t>
            </a:r>
            <a:endParaRPr b="1" sz="1100">
              <a:solidFill>
                <a:srgbClr val="9E9E9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0" name="Google Shape;480;p39"/>
          <p:cNvSpPr/>
          <p:nvPr/>
        </p:nvSpPr>
        <p:spPr>
          <a:xfrm>
            <a:off x="1658214" y="3443423"/>
            <a:ext cx="1920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2600"/>
              <a:buFont typeface="Calibri"/>
              <a:buNone/>
            </a:pPr>
            <a:r>
              <a:rPr b="1" lang="en" sz="2600">
                <a:solidFill>
                  <a:srgbClr val="2ECC71"/>
                </a:solidFill>
                <a:latin typeface="Georgia"/>
                <a:ea typeface="Georgia"/>
                <a:cs typeface="Georgia"/>
                <a:sym typeface="Georgia"/>
              </a:rPr>
              <a:t>130</a:t>
            </a:r>
            <a:endParaRPr sz="2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1" name="Google Shape;481;p39"/>
          <p:cNvSpPr/>
          <p:nvPr/>
        </p:nvSpPr>
        <p:spPr>
          <a:xfrm>
            <a:off x="1658214" y="3973775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9E9E9E"/>
                </a:solidFill>
                <a:latin typeface="Georgia"/>
                <a:ea typeface="Georgia"/>
                <a:cs typeface="Georgia"/>
                <a:sym typeface="Georgia"/>
              </a:rPr>
              <a:t>Hospitals</a:t>
            </a:r>
            <a:endParaRPr b="1" sz="1100">
              <a:solidFill>
                <a:srgbClr val="9E9E9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2" name="Google Shape;482;p39"/>
          <p:cNvSpPr/>
          <p:nvPr/>
        </p:nvSpPr>
        <p:spPr>
          <a:xfrm>
            <a:off x="5737461" y="3443423"/>
            <a:ext cx="1920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4855"/>
              </a:buClr>
              <a:buSzPts val="2600"/>
              <a:buFont typeface="Calibri"/>
              <a:buNone/>
            </a:pPr>
            <a:r>
              <a:rPr b="1" lang="en" sz="2500">
                <a:solidFill>
                  <a:srgbClr val="E84855"/>
                </a:solidFill>
                <a:latin typeface="Georgia"/>
                <a:ea typeface="Georgia"/>
                <a:cs typeface="Georgia"/>
                <a:sym typeface="Georgia"/>
              </a:rPr>
              <a:t>1999–2008</a:t>
            </a:r>
            <a:endParaRPr sz="2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3" name="Google Shape;483;p39"/>
          <p:cNvSpPr/>
          <p:nvPr/>
        </p:nvSpPr>
        <p:spPr>
          <a:xfrm>
            <a:off x="5737461" y="3973775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9E9E9E"/>
                </a:solidFill>
                <a:latin typeface="Georgia"/>
                <a:ea typeface="Georgia"/>
                <a:cs typeface="Georgia"/>
                <a:sym typeface="Georgia"/>
              </a:rPr>
              <a:t>Time Period</a:t>
            </a:r>
            <a:endParaRPr b="1" sz="1100">
              <a:solidFill>
                <a:srgbClr val="9E9E9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4" name="Google Shape;484;p39"/>
          <p:cNvSpPr/>
          <p:nvPr/>
        </p:nvSpPr>
        <p:spPr>
          <a:xfrm>
            <a:off x="8032085" y="4759893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1B6CA8"/>
                </a:solidFill>
                <a:latin typeface="Georgia"/>
                <a:ea typeface="Georgia"/>
                <a:cs typeface="Georgia"/>
                <a:sym typeface="Georgia"/>
              </a:rPr>
              <a:t>Dataset 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0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Georgia"/>
                <a:ea typeface="Georgia"/>
                <a:cs typeface="Georgia"/>
                <a:sym typeface="Georgia"/>
              </a:rPr>
              <a:t>The Diabetes 130-US Hospitals Dataset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490" name="Google Shape;490;p40"/>
          <p:cNvGrpSpPr/>
          <p:nvPr/>
        </p:nvGrpSpPr>
        <p:grpSpPr>
          <a:xfrm>
            <a:off x="1684061" y="2740074"/>
            <a:ext cx="353453" cy="369974"/>
            <a:chOff x="-41893475" y="3584850"/>
            <a:chExt cx="318225" cy="316650"/>
          </a:xfrm>
        </p:grpSpPr>
        <p:sp>
          <p:nvSpPr>
            <p:cNvPr id="491" name="Google Shape;491;p40"/>
            <p:cNvSpPr/>
            <p:nvPr/>
          </p:nvSpPr>
          <p:spPr>
            <a:xfrm>
              <a:off x="-41827300" y="3715600"/>
              <a:ext cx="186675" cy="185900"/>
            </a:xfrm>
            <a:custGeom>
              <a:rect b="b" l="l" r="r" t="t"/>
              <a:pathLst>
                <a:path extrusionOk="0" h="7436" w="7467">
                  <a:moveTo>
                    <a:pt x="3686" y="1465"/>
                  </a:moveTo>
                  <a:cubicBezTo>
                    <a:pt x="3836" y="1465"/>
                    <a:pt x="3985" y="1544"/>
                    <a:pt x="4064" y="1702"/>
                  </a:cubicBezTo>
                  <a:lnTo>
                    <a:pt x="4537" y="2678"/>
                  </a:lnTo>
                  <a:lnTo>
                    <a:pt x="5608" y="2836"/>
                  </a:lnTo>
                  <a:cubicBezTo>
                    <a:pt x="5955" y="2867"/>
                    <a:pt x="6081" y="3308"/>
                    <a:pt x="5829" y="3561"/>
                  </a:cubicBezTo>
                  <a:lnTo>
                    <a:pt x="5041" y="4285"/>
                  </a:lnTo>
                  <a:lnTo>
                    <a:pt x="5261" y="5356"/>
                  </a:lnTo>
                  <a:cubicBezTo>
                    <a:pt x="5286" y="5630"/>
                    <a:pt x="5075" y="5845"/>
                    <a:pt x="4845" y="5845"/>
                  </a:cubicBezTo>
                  <a:cubicBezTo>
                    <a:pt x="4784" y="5845"/>
                    <a:pt x="4722" y="5830"/>
                    <a:pt x="4663" y="5797"/>
                  </a:cubicBezTo>
                  <a:lnTo>
                    <a:pt x="3686" y="5262"/>
                  </a:lnTo>
                  <a:lnTo>
                    <a:pt x="2678" y="5797"/>
                  </a:lnTo>
                  <a:cubicBezTo>
                    <a:pt x="2616" y="5828"/>
                    <a:pt x="2553" y="5842"/>
                    <a:pt x="2492" y="5842"/>
                  </a:cubicBezTo>
                  <a:cubicBezTo>
                    <a:pt x="2244" y="5842"/>
                    <a:pt x="2035" y="5609"/>
                    <a:pt x="2111" y="5356"/>
                  </a:cubicBezTo>
                  <a:lnTo>
                    <a:pt x="2300" y="4285"/>
                  </a:lnTo>
                  <a:lnTo>
                    <a:pt x="1512" y="3561"/>
                  </a:lnTo>
                  <a:cubicBezTo>
                    <a:pt x="1323" y="3308"/>
                    <a:pt x="1418" y="2867"/>
                    <a:pt x="1796" y="2836"/>
                  </a:cubicBezTo>
                  <a:lnTo>
                    <a:pt x="2836" y="2678"/>
                  </a:lnTo>
                  <a:lnTo>
                    <a:pt x="3308" y="1702"/>
                  </a:lnTo>
                  <a:cubicBezTo>
                    <a:pt x="3387" y="1544"/>
                    <a:pt x="3537" y="1465"/>
                    <a:pt x="3686" y="1465"/>
                  </a:cubicBezTo>
                  <a:close/>
                  <a:moveTo>
                    <a:pt x="3718" y="0"/>
                  </a:moveTo>
                  <a:cubicBezTo>
                    <a:pt x="1670" y="0"/>
                    <a:pt x="32" y="1670"/>
                    <a:pt x="32" y="3750"/>
                  </a:cubicBezTo>
                  <a:cubicBezTo>
                    <a:pt x="0" y="5766"/>
                    <a:pt x="1670" y="7436"/>
                    <a:pt x="3718" y="7436"/>
                  </a:cubicBezTo>
                  <a:cubicBezTo>
                    <a:pt x="5765" y="7436"/>
                    <a:pt x="7404" y="5797"/>
                    <a:pt x="7467" y="3750"/>
                  </a:cubicBezTo>
                  <a:cubicBezTo>
                    <a:pt x="7467" y="1702"/>
                    <a:pt x="5797" y="32"/>
                    <a:pt x="37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92" name="Google Shape;492;p40"/>
            <p:cNvSpPr/>
            <p:nvPr/>
          </p:nvSpPr>
          <p:spPr>
            <a:xfrm>
              <a:off x="-41726500" y="3586725"/>
              <a:ext cx="151250" cy="147800"/>
            </a:xfrm>
            <a:custGeom>
              <a:rect b="b" l="l" r="r" t="t"/>
              <a:pathLst>
                <a:path extrusionOk="0" h="5912" w="6050">
                  <a:moveTo>
                    <a:pt x="3829" y="0"/>
                  </a:moveTo>
                  <a:cubicBezTo>
                    <a:pt x="3706" y="0"/>
                    <a:pt x="3580" y="47"/>
                    <a:pt x="3498" y="146"/>
                  </a:cubicBezTo>
                  <a:lnTo>
                    <a:pt x="1" y="4336"/>
                  </a:lnTo>
                  <a:cubicBezTo>
                    <a:pt x="1229" y="4399"/>
                    <a:pt x="2332" y="4998"/>
                    <a:pt x="3088" y="5912"/>
                  </a:cubicBezTo>
                  <a:lnTo>
                    <a:pt x="5861" y="2446"/>
                  </a:lnTo>
                  <a:cubicBezTo>
                    <a:pt x="6050" y="2289"/>
                    <a:pt x="6050" y="2037"/>
                    <a:pt x="5924" y="1879"/>
                  </a:cubicBezTo>
                  <a:lnTo>
                    <a:pt x="4128" y="115"/>
                  </a:lnTo>
                  <a:cubicBezTo>
                    <a:pt x="4053" y="40"/>
                    <a:pt x="3942" y="0"/>
                    <a:pt x="3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93" name="Google Shape;493;p40"/>
            <p:cNvSpPr/>
            <p:nvPr/>
          </p:nvSpPr>
          <p:spPr>
            <a:xfrm>
              <a:off x="-41808400" y="3584850"/>
              <a:ext cx="148100" cy="89825"/>
            </a:xfrm>
            <a:custGeom>
              <a:rect b="b" l="l" r="r" t="t"/>
              <a:pathLst>
                <a:path extrusionOk="0" h="3593" w="5924">
                  <a:moveTo>
                    <a:pt x="0" y="1"/>
                  </a:moveTo>
                  <a:lnTo>
                    <a:pt x="2962" y="3592"/>
                  </a:lnTo>
                  <a:lnTo>
                    <a:pt x="59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94" name="Google Shape;494;p40"/>
            <p:cNvSpPr/>
            <p:nvPr/>
          </p:nvSpPr>
          <p:spPr>
            <a:xfrm>
              <a:off x="-41893475" y="3586725"/>
              <a:ext cx="148875" cy="147025"/>
            </a:xfrm>
            <a:custGeom>
              <a:rect b="b" l="l" r="r" t="t"/>
              <a:pathLst>
                <a:path extrusionOk="0" h="5881" w="5955">
                  <a:moveTo>
                    <a:pt x="2194" y="0"/>
                  </a:moveTo>
                  <a:cubicBezTo>
                    <a:pt x="2084" y="0"/>
                    <a:pt x="1965" y="40"/>
                    <a:pt x="1859" y="115"/>
                  </a:cubicBezTo>
                  <a:lnTo>
                    <a:pt x="95" y="1879"/>
                  </a:lnTo>
                  <a:cubicBezTo>
                    <a:pt x="1" y="2037"/>
                    <a:pt x="1" y="2289"/>
                    <a:pt x="95" y="2446"/>
                  </a:cubicBezTo>
                  <a:lnTo>
                    <a:pt x="2899" y="5880"/>
                  </a:lnTo>
                  <a:cubicBezTo>
                    <a:pt x="3655" y="4998"/>
                    <a:pt x="4758" y="4399"/>
                    <a:pt x="5955" y="4305"/>
                  </a:cubicBezTo>
                  <a:lnTo>
                    <a:pt x="2490" y="146"/>
                  </a:lnTo>
                  <a:cubicBezTo>
                    <a:pt x="2424" y="47"/>
                    <a:pt x="2315" y="0"/>
                    <a:pt x="21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495" name="Google Shape;495;p40"/>
          <p:cNvSpPr/>
          <p:nvPr/>
        </p:nvSpPr>
        <p:spPr>
          <a:xfrm>
            <a:off x="658368" y="3154680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2ECC71"/>
                </a:solidFill>
                <a:latin typeface="Georgia"/>
                <a:ea typeface="Georgia"/>
                <a:cs typeface="Georgia"/>
                <a:sym typeface="Georgia"/>
              </a:rPr>
              <a:t>NO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496" name="Google Shape;496;p40"/>
          <p:cNvGrpSpPr/>
          <p:nvPr/>
        </p:nvGrpSpPr>
        <p:grpSpPr>
          <a:xfrm>
            <a:off x="679757" y="1424450"/>
            <a:ext cx="6282035" cy="3180000"/>
            <a:chOff x="791125" y="1362000"/>
            <a:chExt cx="2362200" cy="3180000"/>
          </a:xfrm>
        </p:grpSpPr>
        <p:sp>
          <p:nvSpPr>
            <p:cNvPr id="497" name="Google Shape;497;p40"/>
            <p:cNvSpPr/>
            <p:nvPr/>
          </p:nvSpPr>
          <p:spPr>
            <a:xfrm flipH="1">
              <a:off x="791125" y="1362000"/>
              <a:ext cx="2362200" cy="3180000"/>
            </a:xfrm>
            <a:prstGeom prst="roundRect">
              <a:avLst>
                <a:gd fmla="val 4601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98" name="Google Shape;498;p40"/>
            <p:cNvSpPr/>
            <p:nvPr/>
          </p:nvSpPr>
          <p:spPr>
            <a:xfrm flipH="1">
              <a:off x="851725" y="1569200"/>
              <a:ext cx="2241000" cy="2909700"/>
            </a:xfrm>
            <a:prstGeom prst="roundRect">
              <a:avLst>
                <a:gd fmla="val 479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99" name="Google Shape;499;p40"/>
            <p:cNvSpPr/>
            <p:nvPr/>
          </p:nvSpPr>
          <p:spPr>
            <a:xfrm flipH="1">
              <a:off x="851731" y="1420634"/>
              <a:ext cx="90777" cy="90777"/>
            </a:xfrm>
            <a:custGeom>
              <a:rect b="b" l="l" r="r" t="t"/>
              <a:pathLst>
                <a:path extrusionOk="0" h="349" w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00" name="Google Shape;500;p40"/>
            <p:cNvSpPr/>
            <p:nvPr/>
          </p:nvSpPr>
          <p:spPr>
            <a:xfrm flipH="1">
              <a:off x="998951" y="1420634"/>
              <a:ext cx="90517" cy="90777"/>
            </a:xfrm>
            <a:custGeom>
              <a:rect b="b" l="l" r="r" t="t"/>
              <a:pathLst>
                <a:path extrusionOk="0" h="349" w="348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01" name="Google Shape;501;p40"/>
            <p:cNvSpPr/>
            <p:nvPr/>
          </p:nvSpPr>
          <p:spPr>
            <a:xfrm flipH="1">
              <a:off x="1149551" y="1419337"/>
              <a:ext cx="109764" cy="93378"/>
            </a:xfrm>
            <a:custGeom>
              <a:rect b="b" l="l" r="r" t="t"/>
              <a:pathLst>
                <a:path extrusionOk="0" h="359" w="422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502" name="Google Shape;502;p40"/>
          <p:cNvGrpSpPr/>
          <p:nvPr/>
        </p:nvGrpSpPr>
        <p:grpSpPr>
          <a:xfrm>
            <a:off x="2717111" y="2452037"/>
            <a:ext cx="353453" cy="369974"/>
            <a:chOff x="-41893475" y="3584850"/>
            <a:chExt cx="318225" cy="316650"/>
          </a:xfrm>
        </p:grpSpPr>
        <p:sp>
          <p:nvSpPr>
            <p:cNvPr id="503" name="Google Shape;503;p40"/>
            <p:cNvSpPr/>
            <p:nvPr/>
          </p:nvSpPr>
          <p:spPr>
            <a:xfrm>
              <a:off x="-41827300" y="3715600"/>
              <a:ext cx="186675" cy="185900"/>
            </a:xfrm>
            <a:custGeom>
              <a:rect b="b" l="l" r="r" t="t"/>
              <a:pathLst>
                <a:path extrusionOk="0" h="7436" w="7467">
                  <a:moveTo>
                    <a:pt x="3686" y="1465"/>
                  </a:moveTo>
                  <a:cubicBezTo>
                    <a:pt x="3836" y="1465"/>
                    <a:pt x="3985" y="1544"/>
                    <a:pt x="4064" y="1702"/>
                  </a:cubicBezTo>
                  <a:lnTo>
                    <a:pt x="4537" y="2678"/>
                  </a:lnTo>
                  <a:lnTo>
                    <a:pt x="5608" y="2836"/>
                  </a:lnTo>
                  <a:cubicBezTo>
                    <a:pt x="5955" y="2867"/>
                    <a:pt x="6081" y="3308"/>
                    <a:pt x="5829" y="3561"/>
                  </a:cubicBezTo>
                  <a:lnTo>
                    <a:pt x="5041" y="4285"/>
                  </a:lnTo>
                  <a:lnTo>
                    <a:pt x="5261" y="5356"/>
                  </a:lnTo>
                  <a:cubicBezTo>
                    <a:pt x="5286" y="5630"/>
                    <a:pt x="5075" y="5845"/>
                    <a:pt x="4845" y="5845"/>
                  </a:cubicBezTo>
                  <a:cubicBezTo>
                    <a:pt x="4784" y="5845"/>
                    <a:pt x="4722" y="5830"/>
                    <a:pt x="4663" y="5797"/>
                  </a:cubicBezTo>
                  <a:lnTo>
                    <a:pt x="3686" y="5262"/>
                  </a:lnTo>
                  <a:lnTo>
                    <a:pt x="2678" y="5797"/>
                  </a:lnTo>
                  <a:cubicBezTo>
                    <a:pt x="2616" y="5828"/>
                    <a:pt x="2553" y="5842"/>
                    <a:pt x="2492" y="5842"/>
                  </a:cubicBezTo>
                  <a:cubicBezTo>
                    <a:pt x="2244" y="5842"/>
                    <a:pt x="2035" y="5609"/>
                    <a:pt x="2111" y="5356"/>
                  </a:cubicBezTo>
                  <a:lnTo>
                    <a:pt x="2300" y="4285"/>
                  </a:lnTo>
                  <a:lnTo>
                    <a:pt x="1512" y="3561"/>
                  </a:lnTo>
                  <a:cubicBezTo>
                    <a:pt x="1323" y="3308"/>
                    <a:pt x="1418" y="2867"/>
                    <a:pt x="1796" y="2836"/>
                  </a:cubicBezTo>
                  <a:lnTo>
                    <a:pt x="2836" y="2678"/>
                  </a:lnTo>
                  <a:lnTo>
                    <a:pt x="3308" y="1702"/>
                  </a:lnTo>
                  <a:cubicBezTo>
                    <a:pt x="3387" y="1544"/>
                    <a:pt x="3537" y="1465"/>
                    <a:pt x="3686" y="1465"/>
                  </a:cubicBezTo>
                  <a:close/>
                  <a:moveTo>
                    <a:pt x="3718" y="0"/>
                  </a:moveTo>
                  <a:cubicBezTo>
                    <a:pt x="1670" y="0"/>
                    <a:pt x="32" y="1670"/>
                    <a:pt x="32" y="3750"/>
                  </a:cubicBezTo>
                  <a:cubicBezTo>
                    <a:pt x="0" y="5766"/>
                    <a:pt x="1670" y="7436"/>
                    <a:pt x="3718" y="7436"/>
                  </a:cubicBezTo>
                  <a:cubicBezTo>
                    <a:pt x="5765" y="7436"/>
                    <a:pt x="7404" y="5797"/>
                    <a:pt x="7467" y="3750"/>
                  </a:cubicBezTo>
                  <a:cubicBezTo>
                    <a:pt x="7467" y="1702"/>
                    <a:pt x="5797" y="32"/>
                    <a:pt x="37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04" name="Google Shape;504;p40"/>
            <p:cNvSpPr/>
            <p:nvPr/>
          </p:nvSpPr>
          <p:spPr>
            <a:xfrm>
              <a:off x="-41726500" y="3586725"/>
              <a:ext cx="151250" cy="147800"/>
            </a:xfrm>
            <a:custGeom>
              <a:rect b="b" l="l" r="r" t="t"/>
              <a:pathLst>
                <a:path extrusionOk="0" h="5912" w="6050">
                  <a:moveTo>
                    <a:pt x="3829" y="0"/>
                  </a:moveTo>
                  <a:cubicBezTo>
                    <a:pt x="3706" y="0"/>
                    <a:pt x="3580" y="47"/>
                    <a:pt x="3498" y="146"/>
                  </a:cubicBezTo>
                  <a:lnTo>
                    <a:pt x="1" y="4336"/>
                  </a:lnTo>
                  <a:cubicBezTo>
                    <a:pt x="1229" y="4399"/>
                    <a:pt x="2332" y="4998"/>
                    <a:pt x="3088" y="5912"/>
                  </a:cubicBezTo>
                  <a:lnTo>
                    <a:pt x="5861" y="2446"/>
                  </a:lnTo>
                  <a:cubicBezTo>
                    <a:pt x="6050" y="2289"/>
                    <a:pt x="6050" y="2037"/>
                    <a:pt x="5924" y="1879"/>
                  </a:cubicBezTo>
                  <a:lnTo>
                    <a:pt x="4128" y="115"/>
                  </a:lnTo>
                  <a:cubicBezTo>
                    <a:pt x="4053" y="40"/>
                    <a:pt x="3942" y="0"/>
                    <a:pt x="3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05" name="Google Shape;505;p40"/>
            <p:cNvSpPr/>
            <p:nvPr/>
          </p:nvSpPr>
          <p:spPr>
            <a:xfrm>
              <a:off x="-41808400" y="3584850"/>
              <a:ext cx="148100" cy="89825"/>
            </a:xfrm>
            <a:custGeom>
              <a:rect b="b" l="l" r="r" t="t"/>
              <a:pathLst>
                <a:path extrusionOk="0" h="3593" w="5924">
                  <a:moveTo>
                    <a:pt x="0" y="1"/>
                  </a:moveTo>
                  <a:lnTo>
                    <a:pt x="2962" y="3592"/>
                  </a:lnTo>
                  <a:lnTo>
                    <a:pt x="59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06" name="Google Shape;506;p40"/>
            <p:cNvSpPr/>
            <p:nvPr/>
          </p:nvSpPr>
          <p:spPr>
            <a:xfrm>
              <a:off x="-41893475" y="3586725"/>
              <a:ext cx="148875" cy="147025"/>
            </a:xfrm>
            <a:custGeom>
              <a:rect b="b" l="l" r="r" t="t"/>
              <a:pathLst>
                <a:path extrusionOk="0" h="5881" w="5955">
                  <a:moveTo>
                    <a:pt x="2194" y="0"/>
                  </a:moveTo>
                  <a:cubicBezTo>
                    <a:pt x="2084" y="0"/>
                    <a:pt x="1965" y="40"/>
                    <a:pt x="1859" y="115"/>
                  </a:cubicBezTo>
                  <a:lnTo>
                    <a:pt x="95" y="1879"/>
                  </a:lnTo>
                  <a:cubicBezTo>
                    <a:pt x="1" y="2037"/>
                    <a:pt x="1" y="2289"/>
                    <a:pt x="95" y="2446"/>
                  </a:cubicBezTo>
                  <a:lnTo>
                    <a:pt x="2899" y="5880"/>
                  </a:lnTo>
                  <a:cubicBezTo>
                    <a:pt x="3655" y="4998"/>
                    <a:pt x="4758" y="4399"/>
                    <a:pt x="5955" y="4305"/>
                  </a:cubicBezTo>
                  <a:lnTo>
                    <a:pt x="2490" y="146"/>
                  </a:lnTo>
                  <a:cubicBezTo>
                    <a:pt x="2424" y="47"/>
                    <a:pt x="2315" y="0"/>
                    <a:pt x="21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507" name="Google Shape;507;p40"/>
          <p:cNvSpPr/>
          <p:nvPr/>
        </p:nvSpPr>
        <p:spPr>
          <a:xfrm>
            <a:off x="1161175" y="1912437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1B6CA8"/>
                </a:solidFill>
                <a:latin typeface="Georgia"/>
                <a:ea typeface="Georgia"/>
                <a:cs typeface="Georgia"/>
                <a:sym typeface="Georgia"/>
              </a:rPr>
              <a:t>Target Variable: readmitted : </a:t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8" name="Google Shape;508;p40"/>
          <p:cNvSpPr/>
          <p:nvPr/>
        </p:nvSpPr>
        <p:spPr>
          <a:xfrm>
            <a:off x="1490250" y="2939795"/>
            <a:ext cx="146400" cy="274200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9" name="Google Shape;509;p40"/>
          <p:cNvSpPr/>
          <p:nvPr/>
        </p:nvSpPr>
        <p:spPr>
          <a:xfrm>
            <a:off x="1691418" y="2866642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2ECC71"/>
                </a:solidFill>
                <a:latin typeface="Georgia"/>
                <a:ea typeface="Georgia"/>
                <a:cs typeface="Georgia"/>
                <a:sym typeface="Georgia"/>
              </a:rPr>
              <a:t>NO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0" name="Google Shape;510;p40"/>
          <p:cNvSpPr/>
          <p:nvPr/>
        </p:nvSpPr>
        <p:spPr>
          <a:xfrm>
            <a:off x="2221770" y="2866642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100"/>
              <a:buFont typeface="Calibri"/>
              <a:buNone/>
            </a:pPr>
            <a:r>
              <a:rPr lang="en" sz="1200">
                <a:solidFill>
                  <a:srgbClr val="9E9E9E"/>
                </a:solidFill>
                <a:latin typeface="Georgia"/>
                <a:ea typeface="Georgia"/>
                <a:cs typeface="Georgia"/>
                <a:sym typeface="Georgia"/>
              </a:rPr>
              <a:t>54%  :  never readmitted</a:t>
            </a:r>
            <a:endParaRPr sz="1200">
              <a:solidFill>
                <a:srgbClr val="9E9E9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1" name="Google Shape;511;p40"/>
          <p:cNvSpPr/>
          <p:nvPr/>
        </p:nvSpPr>
        <p:spPr>
          <a:xfrm>
            <a:off x="1490250" y="3442714"/>
            <a:ext cx="146400" cy="274200"/>
          </a:xfrm>
          <a:prstGeom prst="rect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2" name="Google Shape;512;p40"/>
          <p:cNvSpPr/>
          <p:nvPr/>
        </p:nvSpPr>
        <p:spPr>
          <a:xfrm>
            <a:off x="1691418" y="3369563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&gt;30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3" name="Google Shape;513;p40"/>
          <p:cNvSpPr/>
          <p:nvPr/>
        </p:nvSpPr>
        <p:spPr>
          <a:xfrm>
            <a:off x="2221770" y="3369563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9E9E9E"/>
                </a:solidFill>
                <a:latin typeface="Georgia"/>
                <a:ea typeface="Georgia"/>
                <a:cs typeface="Georgia"/>
                <a:sym typeface="Georgia"/>
              </a:rPr>
              <a:t>35%  : readmitted after 30 days</a:t>
            </a:r>
            <a:endParaRPr sz="1100">
              <a:solidFill>
                <a:srgbClr val="9E9E9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4" name="Google Shape;514;p40"/>
          <p:cNvSpPr/>
          <p:nvPr/>
        </p:nvSpPr>
        <p:spPr>
          <a:xfrm>
            <a:off x="1490250" y="3945635"/>
            <a:ext cx="146400" cy="274200"/>
          </a:xfrm>
          <a:prstGeom prst="rect">
            <a:avLst/>
          </a:prstGeom>
          <a:solidFill>
            <a:srgbClr val="E84855"/>
          </a:solidFill>
          <a:ln cap="flat" cmpd="sng" w="12700">
            <a:solidFill>
              <a:srgbClr val="E84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5" name="Google Shape;515;p40"/>
          <p:cNvSpPr/>
          <p:nvPr/>
        </p:nvSpPr>
        <p:spPr>
          <a:xfrm>
            <a:off x="1691418" y="3872483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855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E84855"/>
                </a:solidFill>
                <a:latin typeface="Georgia"/>
                <a:ea typeface="Georgia"/>
                <a:cs typeface="Georgia"/>
                <a:sym typeface="Georgia"/>
              </a:rPr>
              <a:t>&lt;30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6" name="Google Shape;516;p40"/>
          <p:cNvSpPr/>
          <p:nvPr/>
        </p:nvSpPr>
        <p:spPr>
          <a:xfrm>
            <a:off x="2221770" y="3872483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9E9E9E"/>
                </a:solidFill>
                <a:latin typeface="Georgia"/>
                <a:ea typeface="Georgia"/>
                <a:cs typeface="Georgia"/>
                <a:sym typeface="Georgia"/>
              </a:rPr>
              <a:t>11%  :  readmitted within 30 days ★</a:t>
            </a:r>
            <a:endParaRPr sz="1100">
              <a:solidFill>
                <a:srgbClr val="9E9E9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7" name="Google Shape;517;p40"/>
          <p:cNvSpPr/>
          <p:nvPr/>
        </p:nvSpPr>
        <p:spPr>
          <a:xfrm>
            <a:off x="8032085" y="4759893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1B6CA8"/>
                </a:solidFill>
                <a:latin typeface="Georgia"/>
                <a:ea typeface="Georgia"/>
                <a:cs typeface="Georgia"/>
                <a:sym typeface="Georgia"/>
              </a:rPr>
              <a:t>Dataset 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1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Georgia"/>
                <a:ea typeface="Georgia"/>
                <a:cs typeface="Georgia"/>
                <a:sym typeface="Georgia"/>
              </a:rPr>
              <a:t>The Diabetes 130-US Hospitals Dataset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523" name="Google Shape;523;p41"/>
          <p:cNvGrpSpPr/>
          <p:nvPr/>
        </p:nvGrpSpPr>
        <p:grpSpPr>
          <a:xfrm>
            <a:off x="1684061" y="2740074"/>
            <a:ext cx="353453" cy="369974"/>
            <a:chOff x="-41893475" y="3584850"/>
            <a:chExt cx="318225" cy="316650"/>
          </a:xfrm>
        </p:grpSpPr>
        <p:sp>
          <p:nvSpPr>
            <p:cNvPr id="524" name="Google Shape;524;p41"/>
            <p:cNvSpPr/>
            <p:nvPr/>
          </p:nvSpPr>
          <p:spPr>
            <a:xfrm>
              <a:off x="-41827300" y="3715600"/>
              <a:ext cx="186675" cy="185900"/>
            </a:xfrm>
            <a:custGeom>
              <a:rect b="b" l="l" r="r" t="t"/>
              <a:pathLst>
                <a:path extrusionOk="0" h="7436" w="7467">
                  <a:moveTo>
                    <a:pt x="3686" y="1465"/>
                  </a:moveTo>
                  <a:cubicBezTo>
                    <a:pt x="3836" y="1465"/>
                    <a:pt x="3985" y="1544"/>
                    <a:pt x="4064" y="1702"/>
                  </a:cubicBezTo>
                  <a:lnTo>
                    <a:pt x="4537" y="2678"/>
                  </a:lnTo>
                  <a:lnTo>
                    <a:pt x="5608" y="2836"/>
                  </a:lnTo>
                  <a:cubicBezTo>
                    <a:pt x="5955" y="2867"/>
                    <a:pt x="6081" y="3308"/>
                    <a:pt x="5829" y="3561"/>
                  </a:cubicBezTo>
                  <a:lnTo>
                    <a:pt x="5041" y="4285"/>
                  </a:lnTo>
                  <a:lnTo>
                    <a:pt x="5261" y="5356"/>
                  </a:lnTo>
                  <a:cubicBezTo>
                    <a:pt x="5286" y="5630"/>
                    <a:pt x="5075" y="5845"/>
                    <a:pt x="4845" y="5845"/>
                  </a:cubicBezTo>
                  <a:cubicBezTo>
                    <a:pt x="4784" y="5845"/>
                    <a:pt x="4722" y="5830"/>
                    <a:pt x="4663" y="5797"/>
                  </a:cubicBezTo>
                  <a:lnTo>
                    <a:pt x="3686" y="5262"/>
                  </a:lnTo>
                  <a:lnTo>
                    <a:pt x="2678" y="5797"/>
                  </a:lnTo>
                  <a:cubicBezTo>
                    <a:pt x="2616" y="5828"/>
                    <a:pt x="2553" y="5842"/>
                    <a:pt x="2492" y="5842"/>
                  </a:cubicBezTo>
                  <a:cubicBezTo>
                    <a:pt x="2244" y="5842"/>
                    <a:pt x="2035" y="5609"/>
                    <a:pt x="2111" y="5356"/>
                  </a:cubicBezTo>
                  <a:lnTo>
                    <a:pt x="2300" y="4285"/>
                  </a:lnTo>
                  <a:lnTo>
                    <a:pt x="1512" y="3561"/>
                  </a:lnTo>
                  <a:cubicBezTo>
                    <a:pt x="1323" y="3308"/>
                    <a:pt x="1418" y="2867"/>
                    <a:pt x="1796" y="2836"/>
                  </a:cubicBezTo>
                  <a:lnTo>
                    <a:pt x="2836" y="2678"/>
                  </a:lnTo>
                  <a:lnTo>
                    <a:pt x="3308" y="1702"/>
                  </a:lnTo>
                  <a:cubicBezTo>
                    <a:pt x="3387" y="1544"/>
                    <a:pt x="3537" y="1465"/>
                    <a:pt x="3686" y="1465"/>
                  </a:cubicBezTo>
                  <a:close/>
                  <a:moveTo>
                    <a:pt x="3718" y="0"/>
                  </a:moveTo>
                  <a:cubicBezTo>
                    <a:pt x="1670" y="0"/>
                    <a:pt x="32" y="1670"/>
                    <a:pt x="32" y="3750"/>
                  </a:cubicBezTo>
                  <a:cubicBezTo>
                    <a:pt x="0" y="5766"/>
                    <a:pt x="1670" y="7436"/>
                    <a:pt x="3718" y="7436"/>
                  </a:cubicBezTo>
                  <a:cubicBezTo>
                    <a:pt x="5765" y="7436"/>
                    <a:pt x="7404" y="5797"/>
                    <a:pt x="7467" y="3750"/>
                  </a:cubicBezTo>
                  <a:cubicBezTo>
                    <a:pt x="7467" y="1702"/>
                    <a:pt x="5797" y="32"/>
                    <a:pt x="37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25" name="Google Shape;525;p41"/>
            <p:cNvSpPr/>
            <p:nvPr/>
          </p:nvSpPr>
          <p:spPr>
            <a:xfrm>
              <a:off x="-41726500" y="3586725"/>
              <a:ext cx="151250" cy="147800"/>
            </a:xfrm>
            <a:custGeom>
              <a:rect b="b" l="l" r="r" t="t"/>
              <a:pathLst>
                <a:path extrusionOk="0" h="5912" w="6050">
                  <a:moveTo>
                    <a:pt x="3829" y="0"/>
                  </a:moveTo>
                  <a:cubicBezTo>
                    <a:pt x="3706" y="0"/>
                    <a:pt x="3580" y="47"/>
                    <a:pt x="3498" y="146"/>
                  </a:cubicBezTo>
                  <a:lnTo>
                    <a:pt x="1" y="4336"/>
                  </a:lnTo>
                  <a:cubicBezTo>
                    <a:pt x="1229" y="4399"/>
                    <a:pt x="2332" y="4998"/>
                    <a:pt x="3088" y="5912"/>
                  </a:cubicBezTo>
                  <a:lnTo>
                    <a:pt x="5861" y="2446"/>
                  </a:lnTo>
                  <a:cubicBezTo>
                    <a:pt x="6050" y="2289"/>
                    <a:pt x="6050" y="2037"/>
                    <a:pt x="5924" y="1879"/>
                  </a:cubicBezTo>
                  <a:lnTo>
                    <a:pt x="4128" y="115"/>
                  </a:lnTo>
                  <a:cubicBezTo>
                    <a:pt x="4053" y="40"/>
                    <a:pt x="3942" y="0"/>
                    <a:pt x="3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26" name="Google Shape;526;p41"/>
            <p:cNvSpPr/>
            <p:nvPr/>
          </p:nvSpPr>
          <p:spPr>
            <a:xfrm>
              <a:off x="-41808400" y="3584850"/>
              <a:ext cx="148100" cy="89825"/>
            </a:xfrm>
            <a:custGeom>
              <a:rect b="b" l="l" r="r" t="t"/>
              <a:pathLst>
                <a:path extrusionOk="0" h="3593" w="5924">
                  <a:moveTo>
                    <a:pt x="0" y="1"/>
                  </a:moveTo>
                  <a:lnTo>
                    <a:pt x="2962" y="3592"/>
                  </a:lnTo>
                  <a:lnTo>
                    <a:pt x="59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27" name="Google Shape;527;p41"/>
            <p:cNvSpPr/>
            <p:nvPr/>
          </p:nvSpPr>
          <p:spPr>
            <a:xfrm>
              <a:off x="-41893475" y="3586725"/>
              <a:ext cx="148875" cy="147025"/>
            </a:xfrm>
            <a:custGeom>
              <a:rect b="b" l="l" r="r" t="t"/>
              <a:pathLst>
                <a:path extrusionOk="0" h="5881" w="5955">
                  <a:moveTo>
                    <a:pt x="2194" y="0"/>
                  </a:moveTo>
                  <a:cubicBezTo>
                    <a:pt x="2084" y="0"/>
                    <a:pt x="1965" y="40"/>
                    <a:pt x="1859" y="115"/>
                  </a:cubicBezTo>
                  <a:lnTo>
                    <a:pt x="95" y="1879"/>
                  </a:lnTo>
                  <a:cubicBezTo>
                    <a:pt x="1" y="2037"/>
                    <a:pt x="1" y="2289"/>
                    <a:pt x="95" y="2446"/>
                  </a:cubicBezTo>
                  <a:lnTo>
                    <a:pt x="2899" y="5880"/>
                  </a:lnTo>
                  <a:cubicBezTo>
                    <a:pt x="3655" y="4998"/>
                    <a:pt x="4758" y="4399"/>
                    <a:pt x="5955" y="4305"/>
                  </a:cubicBezTo>
                  <a:lnTo>
                    <a:pt x="2490" y="146"/>
                  </a:lnTo>
                  <a:cubicBezTo>
                    <a:pt x="2424" y="47"/>
                    <a:pt x="2315" y="0"/>
                    <a:pt x="21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528" name="Google Shape;528;p41"/>
          <p:cNvSpPr/>
          <p:nvPr/>
        </p:nvSpPr>
        <p:spPr>
          <a:xfrm>
            <a:off x="658368" y="3154680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2ECC71"/>
                </a:solidFill>
                <a:latin typeface="Georgia"/>
                <a:ea typeface="Georgia"/>
                <a:cs typeface="Georgia"/>
                <a:sym typeface="Georgia"/>
              </a:rPr>
              <a:t>NO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529" name="Google Shape;529;p41"/>
          <p:cNvGrpSpPr/>
          <p:nvPr/>
        </p:nvGrpSpPr>
        <p:grpSpPr>
          <a:xfrm>
            <a:off x="2717111" y="2452037"/>
            <a:ext cx="353453" cy="369974"/>
            <a:chOff x="-41893475" y="3584850"/>
            <a:chExt cx="318225" cy="316650"/>
          </a:xfrm>
        </p:grpSpPr>
        <p:sp>
          <p:nvSpPr>
            <p:cNvPr id="530" name="Google Shape;530;p41"/>
            <p:cNvSpPr/>
            <p:nvPr/>
          </p:nvSpPr>
          <p:spPr>
            <a:xfrm>
              <a:off x="-41827300" y="3715600"/>
              <a:ext cx="186675" cy="185900"/>
            </a:xfrm>
            <a:custGeom>
              <a:rect b="b" l="l" r="r" t="t"/>
              <a:pathLst>
                <a:path extrusionOk="0" h="7436" w="7467">
                  <a:moveTo>
                    <a:pt x="3686" y="1465"/>
                  </a:moveTo>
                  <a:cubicBezTo>
                    <a:pt x="3836" y="1465"/>
                    <a:pt x="3985" y="1544"/>
                    <a:pt x="4064" y="1702"/>
                  </a:cubicBezTo>
                  <a:lnTo>
                    <a:pt x="4537" y="2678"/>
                  </a:lnTo>
                  <a:lnTo>
                    <a:pt x="5608" y="2836"/>
                  </a:lnTo>
                  <a:cubicBezTo>
                    <a:pt x="5955" y="2867"/>
                    <a:pt x="6081" y="3308"/>
                    <a:pt x="5829" y="3561"/>
                  </a:cubicBezTo>
                  <a:lnTo>
                    <a:pt x="5041" y="4285"/>
                  </a:lnTo>
                  <a:lnTo>
                    <a:pt x="5261" y="5356"/>
                  </a:lnTo>
                  <a:cubicBezTo>
                    <a:pt x="5286" y="5630"/>
                    <a:pt x="5075" y="5845"/>
                    <a:pt x="4845" y="5845"/>
                  </a:cubicBezTo>
                  <a:cubicBezTo>
                    <a:pt x="4784" y="5845"/>
                    <a:pt x="4722" y="5830"/>
                    <a:pt x="4663" y="5797"/>
                  </a:cubicBezTo>
                  <a:lnTo>
                    <a:pt x="3686" y="5262"/>
                  </a:lnTo>
                  <a:lnTo>
                    <a:pt x="2678" y="5797"/>
                  </a:lnTo>
                  <a:cubicBezTo>
                    <a:pt x="2616" y="5828"/>
                    <a:pt x="2553" y="5842"/>
                    <a:pt x="2492" y="5842"/>
                  </a:cubicBezTo>
                  <a:cubicBezTo>
                    <a:pt x="2244" y="5842"/>
                    <a:pt x="2035" y="5609"/>
                    <a:pt x="2111" y="5356"/>
                  </a:cubicBezTo>
                  <a:lnTo>
                    <a:pt x="2300" y="4285"/>
                  </a:lnTo>
                  <a:lnTo>
                    <a:pt x="1512" y="3561"/>
                  </a:lnTo>
                  <a:cubicBezTo>
                    <a:pt x="1323" y="3308"/>
                    <a:pt x="1418" y="2867"/>
                    <a:pt x="1796" y="2836"/>
                  </a:cubicBezTo>
                  <a:lnTo>
                    <a:pt x="2836" y="2678"/>
                  </a:lnTo>
                  <a:lnTo>
                    <a:pt x="3308" y="1702"/>
                  </a:lnTo>
                  <a:cubicBezTo>
                    <a:pt x="3387" y="1544"/>
                    <a:pt x="3537" y="1465"/>
                    <a:pt x="3686" y="1465"/>
                  </a:cubicBezTo>
                  <a:close/>
                  <a:moveTo>
                    <a:pt x="3718" y="0"/>
                  </a:moveTo>
                  <a:cubicBezTo>
                    <a:pt x="1670" y="0"/>
                    <a:pt x="32" y="1670"/>
                    <a:pt x="32" y="3750"/>
                  </a:cubicBezTo>
                  <a:cubicBezTo>
                    <a:pt x="0" y="5766"/>
                    <a:pt x="1670" y="7436"/>
                    <a:pt x="3718" y="7436"/>
                  </a:cubicBezTo>
                  <a:cubicBezTo>
                    <a:pt x="5765" y="7436"/>
                    <a:pt x="7404" y="5797"/>
                    <a:pt x="7467" y="3750"/>
                  </a:cubicBezTo>
                  <a:cubicBezTo>
                    <a:pt x="7467" y="1702"/>
                    <a:pt x="5797" y="32"/>
                    <a:pt x="37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31" name="Google Shape;531;p41"/>
            <p:cNvSpPr/>
            <p:nvPr/>
          </p:nvSpPr>
          <p:spPr>
            <a:xfrm>
              <a:off x="-41726500" y="3586725"/>
              <a:ext cx="151250" cy="147800"/>
            </a:xfrm>
            <a:custGeom>
              <a:rect b="b" l="l" r="r" t="t"/>
              <a:pathLst>
                <a:path extrusionOk="0" h="5912" w="6050">
                  <a:moveTo>
                    <a:pt x="3829" y="0"/>
                  </a:moveTo>
                  <a:cubicBezTo>
                    <a:pt x="3706" y="0"/>
                    <a:pt x="3580" y="47"/>
                    <a:pt x="3498" y="146"/>
                  </a:cubicBezTo>
                  <a:lnTo>
                    <a:pt x="1" y="4336"/>
                  </a:lnTo>
                  <a:cubicBezTo>
                    <a:pt x="1229" y="4399"/>
                    <a:pt x="2332" y="4998"/>
                    <a:pt x="3088" y="5912"/>
                  </a:cubicBezTo>
                  <a:lnTo>
                    <a:pt x="5861" y="2446"/>
                  </a:lnTo>
                  <a:cubicBezTo>
                    <a:pt x="6050" y="2289"/>
                    <a:pt x="6050" y="2037"/>
                    <a:pt x="5924" y="1879"/>
                  </a:cubicBezTo>
                  <a:lnTo>
                    <a:pt x="4128" y="115"/>
                  </a:lnTo>
                  <a:cubicBezTo>
                    <a:pt x="4053" y="40"/>
                    <a:pt x="3942" y="0"/>
                    <a:pt x="3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32" name="Google Shape;532;p41"/>
            <p:cNvSpPr/>
            <p:nvPr/>
          </p:nvSpPr>
          <p:spPr>
            <a:xfrm>
              <a:off x="-41808400" y="3584850"/>
              <a:ext cx="148100" cy="89825"/>
            </a:xfrm>
            <a:custGeom>
              <a:rect b="b" l="l" r="r" t="t"/>
              <a:pathLst>
                <a:path extrusionOk="0" h="3593" w="5924">
                  <a:moveTo>
                    <a:pt x="0" y="1"/>
                  </a:moveTo>
                  <a:lnTo>
                    <a:pt x="2962" y="3592"/>
                  </a:lnTo>
                  <a:lnTo>
                    <a:pt x="59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33" name="Google Shape;533;p41"/>
            <p:cNvSpPr/>
            <p:nvPr/>
          </p:nvSpPr>
          <p:spPr>
            <a:xfrm>
              <a:off x="-41893475" y="3586725"/>
              <a:ext cx="148875" cy="147025"/>
            </a:xfrm>
            <a:custGeom>
              <a:rect b="b" l="l" r="r" t="t"/>
              <a:pathLst>
                <a:path extrusionOk="0" h="5881" w="5955">
                  <a:moveTo>
                    <a:pt x="2194" y="0"/>
                  </a:moveTo>
                  <a:cubicBezTo>
                    <a:pt x="2084" y="0"/>
                    <a:pt x="1965" y="40"/>
                    <a:pt x="1859" y="115"/>
                  </a:cubicBezTo>
                  <a:lnTo>
                    <a:pt x="95" y="1879"/>
                  </a:lnTo>
                  <a:cubicBezTo>
                    <a:pt x="1" y="2037"/>
                    <a:pt x="1" y="2289"/>
                    <a:pt x="95" y="2446"/>
                  </a:cubicBezTo>
                  <a:lnTo>
                    <a:pt x="2899" y="5880"/>
                  </a:lnTo>
                  <a:cubicBezTo>
                    <a:pt x="3655" y="4998"/>
                    <a:pt x="4758" y="4399"/>
                    <a:pt x="5955" y="4305"/>
                  </a:cubicBezTo>
                  <a:lnTo>
                    <a:pt x="2490" y="146"/>
                  </a:lnTo>
                  <a:cubicBezTo>
                    <a:pt x="2424" y="47"/>
                    <a:pt x="2315" y="0"/>
                    <a:pt x="21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534" name="Google Shape;534;p41"/>
          <p:cNvSpPr/>
          <p:nvPr/>
        </p:nvSpPr>
        <p:spPr>
          <a:xfrm>
            <a:off x="1490250" y="3442714"/>
            <a:ext cx="146400" cy="274200"/>
          </a:xfrm>
          <a:prstGeom prst="rect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5" name="Google Shape;535;p41"/>
          <p:cNvSpPr/>
          <p:nvPr/>
        </p:nvSpPr>
        <p:spPr>
          <a:xfrm>
            <a:off x="1691418" y="3369563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&gt;30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6" name="Google Shape;536;p41"/>
          <p:cNvSpPr/>
          <p:nvPr/>
        </p:nvSpPr>
        <p:spPr>
          <a:xfrm>
            <a:off x="1490250" y="3945635"/>
            <a:ext cx="146400" cy="274200"/>
          </a:xfrm>
          <a:prstGeom prst="rect">
            <a:avLst/>
          </a:prstGeom>
          <a:solidFill>
            <a:srgbClr val="E84855"/>
          </a:solidFill>
          <a:ln cap="flat" cmpd="sng" w="12700">
            <a:solidFill>
              <a:srgbClr val="E84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7" name="Google Shape;537;p41"/>
          <p:cNvSpPr/>
          <p:nvPr/>
        </p:nvSpPr>
        <p:spPr>
          <a:xfrm>
            <a:off x="1691418" y="3872483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855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E84855"/>
                </a:solidFill>
                <a:latin typeface="Georgia"/>
                <a:ea typeface="Georgia"/>
                <a:cs typeface="Georgia"/>
                <a:sym typeface="Georgia"/>
              </a:rPr>
              <a:t>&lt;30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538" name="Google Shape;538;p41"/>
          <p:cNvGrpSpPr/>
          <p:nvPr/>
        </p:nvGrpSpPr>
        <p:grpSpPr>
          <a:xfrm>
            <a:off x="679757" y="1424450"/>
            <a:ext cx="6282035" cy="3180000"/>
            <a:chOff x="791125" y="1362000"/>
            <a:chExt cx="2362200" cy="3180000"/>
          </a:xfrm>
        </p:grpSpPr>
        <p:sp>
          <p:nvSpPr>
            <p:cNvPr id="539" name="Google Shape;539;p41"/>
            <p:cNvSpPr/>
            <p:nvPr/>
          </p:nvSpPr>
          <p:spPr>
            <a:xfrm flipH="1">
              <a:off x="791125" y="1362000"/>
              <a:ext cx="2362200" cy="3180000"/>
            </a:xfrm>
            <a:prstGeom prst="roundRect">
              <a:avLst>
                <a:gd fmla="val 4601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40" name="Google Shape;540;p41"/>
            <p:cNvSpPr/>
            <p:nvPr/>
          </p:nvSpPr>
          <p:spPr>
            <a:xfrm flipH="1">
              <a:off x="851725" y="1569200"/>
              <a:ext cx="2241000" cy="2909700"/>
            </a:xfrm>
            <a:prstGeom prst="roundRect">
              <a:avLst>
                <a:gd fmla="val 479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41" name="Google Shape;541;p41"/>
            <p:cNvSpPr/>
            <p:nvPr/>
          </p:nvSpPr>
          <p:spPr>
            <a:xfrm flipH="1">
              <a:off x="851731" y="1420634"/>
              <a:ext cx="90777" cy="90777"/>
            </a:xfrm>
            <a:custGeom>
              <a:rect b="b" l="l" r="r" t="t"/>
              <a:pathLst>
                <a:path extrusionOk="0" h="349" w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42" name="Google Shape;542;p41"/>
            <p:cNvSpPr/>
            <p:nvPr/>
          </p:nvSpPr>
          <p:spPr>
            <a:xfrm flipH="1">
              <a:off x="998951" y="1420634"/>
              <a:ext cx="90517" cy="90777"/>
            </a:xfrm>
            <a:custGeom>
              <a:rect b="b" l="l" r="r" t="t"/>
              <a:pathLst>
                <a:path extrusionOk="0" h="349" w="348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43" name="Google Shape;543;p41"/>
            <p:cNvSpPr/>
            <p:nvPr/>
          </p:nvSpPr>
          <p:spPr>
            <a:xfrm flipH="1">
              <a:off x="1149551" y="1419337"/>
              <a:ext cx="109764" cy="93378"/>
            </a:xfrm>
            <a:custGeom>
              <a:rect b="b" l="l" r="r" t="t"/>
              <a:pathLst>
                <a:path extrusionOk="0" h="359" w="422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544" name="Google Shape;544;p41"/>
          <p:cNvSpPr/>
          <p:nvPr/>
        </p:nvSpPr>
        <p:spPr>
          <a:xfrm>
            <a:off x="1057623" y="1873663"/>
            <a:ext cx="5148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1B6CA8"/>
                </a:solidFill>
                <a:latin typeface="Georgia"/>
                <a:ea typeface="Georgia"/>
                <a:cs typeface="Georgia"/>
                <a:sym typeface="Georgia"/>
              </a:rPr>
              <a:t>Why This Dataset?</a:t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5" name="Google Shape;545;p41"/>
          <p:cNvSpPr/>
          <p:nvPr/>
        </p:nvSpPr>
        <p:spPr>
          <a:xfrm>
            <a:off x="1057623" y="2601622"/>
            <a:ext cx="5148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200"/>
              <a:buFont typeface="Georgia"/>
              <a:buChar char="●"/>
            </a:pPr>
            <a:r>
              <a:rPr b="1" lang="en" sz="1200">
                <a:solidFill>
                  <a:srgbClr val="9E9E9E"/>
                </a:solidFill>
                <a:latin typeface="Georgia"/>
                <a:ea typeface="Georgia"/>
                <a:cs typeface="Georgia"/>
                <a:sym typeface="Georgia"/>
              </a:rPr>
              <a:t>  </a:t>
            </a:r>
            <a:r>
              <a:rPr lang="en" sz="1200">
                <a:solidFill>
                  <a:srgbClr val="9E9E9E"/>
                </a:solidFill>
                <a:latin typeface="Georgia"/>
                <a:ea typeface="Georgia"/>
                <a:cs typeface="Georgia"/>
                <a:sym typeface="Georgia"/>
              </a:rPr>
              <a:t>101K+ records  = statistically meaningful</a:t>
            </a:r>
            <a:endParaRPr sz="1200">
              <a:solidFill>
                <a:srgbClr val="9E9E9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6" name="Google Shape;546;p41"/>
          <p:cNvSpPr/>
          <p:nvPr/>
        </p:nvSpPr>
        <p:spPr>
          <a:xfrm>
            <a:off x="1057623" y="3077114"/>
            <a:ext cx="5148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Font typeface="Georgia"/>
              <a:buChar char="●"/>
            </a:pPr>
            <a:r>
              <a:rPr lang="en" sz="1100">
                <a:solidFill>
                  <a:srgbClr val="9E9E9E"/>
                </a:solidFill>
                <a:latin typeface="Georgia"/>
                <a:ea typeface="Georgia"/>
                <a:cs typeface="Georgia"/>
                <a:sym typeface="Georgia"/>
              </a:rPr>
              <a:t>  Real hospital data = missing values &amp; noise</a:t>
            </a:r>
            <a:endParaRPr sz="1100">
              <a:solidFill>
                <a:srgbClr val="9E9E9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7" name="Google Shape;547;p41"/>
          <p:cNvSpPr/>
          <p:nvPr/>
        </p:nvSpPr>
        <p:spPr>
          <a:xfrm>
            <a:off x="1057623" y="3552606"/>
            <a:ext cx="5148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9E9E9E"/>
                </a:solidFill>
                <a:latin typeface="Georgia"/>
                <a:ea typeface="Georgia"/>
                <a:cs typeface="Georgia"/>
                <a:sym typeface="Georgia"/>
              </a:rPr>
              <a:t>Contains the exact readmission target variable</a:t>
            </a:r>
            <a:endParaRPr sz="1200">
              <a:solidFill>
                <a:srgbClr val="9E9E9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8" name="Google Shape;548;p41"/>
          <p:cNvSpPr/>
          <p:nvPr/>
        </p:nvSpPr>
        <p:spPr>
          <a:xfrm>
            <a:off x="1106684" y="3900072"/>
            <a:ext cx="5148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9E9E9E"/>
                </a:solidFill>
                <a:latin typeface="Georgia"/>
                <a:ea typeface="Georgia"/>
                <a:cs typeface="Georgia"/>
                <a:sym typeface="Georgia"/>
              </a:rPr>
              <a:t>Freely available = fully reproducible</a:t>
            </a:r>
            <a:endParaRPr sz="1200">
              <a:solidFill>
                <a:srgbClr val="9E9E9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9" name="Google Shape;549;p41"/>
          <p:cNvSpPr/>
          <p:nvPr/>
        </p:nvSpPr>
        <p:spPr>
          <a:xfrm>
            <a:off x="8032085" y="4759893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1B6CA8"/>
                </a:solidFill>
                <a:latin typeface="Georgia"/>
                <a:ea typeface="Georgia"/>
                <a:cs typeface="Georgia"/>
                <a:sym typeface="Georgia"/>
              </a:rPr>
              <a:t>Dataset 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" sz="26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Key Findings from EDA</a:t>
            </a:r>
            <a:endParaRPr sz="2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6" name="Google Shape;556;p42"/>
          <p:cNvSpPr/>
          <p:nvPr/>
        </p:nvSpPr>
        <p:spPr>
          <a:xfrm>
            <a:off x="320040" y="1216152"/>
            <a:ext cx="54864" cy="54864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7" name="Google Shape;557;p42"/>
          <p:cNvSpPr/>
          <p:nvPr/>
        </p:nvSpPr>
        <p:spPr>
          <a:xfrm>
            <a:off x="502920" y="1143000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Class Imbalance</a:t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8" name="Google Shape;558;p42"/>
          <p:cNvSpPr/>
          <p:nvPr/>
        </p:nvSpPr>
        <p:spPr>
          <a:xfrm>
            <a:off x="502920" y="1453896"/>
            <a:ext cx="4114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444444"/>
                </a:solidFill>
                <a:latin typeface="Georgia"/>
                <a:ea typeface="Georgia"/>
                <a:cs typeface="Georgia"/>
                <a:sym typeface="Georgia"/>
              </a:rPr>
              <a:t>89% negative vs 11% positive. A naive model achieves 89% accuracy by always predicting 0 — completely useless clinically.</a:t>
            </a:r>
            <a:endParaRPr sz="10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9" name="Google Shape;559;p42"/>
          <p:cNvSpPr/>
          <p:nvPr/>
        </p:nvSpPr>
        <p:spPr>
          <a:xfrm>
            <a:off x="320040" y="2130552"/>
            <a:ext cx="54864" cy="548640"/>
          </a:xfrm>
          <a:prstGeom prst="rect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0" name="Google Shape;560;p42"/>
          <p:cNvSpPr/>
          <p:nvPr/>
        </p:nvSpPr>
        <p:spPr>
          <a:xfrm>
            <a:off x="502920" y="2057400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Missing Values</a:t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1" name="Google Shape;561;p42"/>
          <p:cNvSpPr/>
          <p:nvPr/>
        </p:nvSpPr>
        <p:spPr>
          <a:xfrm>
            <a:off x="502920" y="2368296"/>
            <a:ext cx="4114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444444"/>
                </a:solidFill>
                <a:latin typeface="Georgia"/>
                <a:ea typeface="Georgia"/>
                <a:cs typeface="Georgia"/>
                <a:sym typeface="Georgia"/>
              </a:rPr>
              <a:t>weight (97%), medical_specialty (53%), payer_code (52%) dropped. race (2%) filled with 'Unknown'.</a:t>
            </a:r>
            <a:endParaRPr sz="10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2" name="Google Shape;562;p42"/>
          <p:cNvSpPr/>
          <p:nvPr/>
        </p:nvSpPr>
        <p:spPr>
          <a:xfrm>
            <a:off x="320040" y="3044952"/>
            <a:ext cx="54864" cy="548640"/>
          </a:xfrm>
          <a:prstGeom prst="rect">
            <a:avLst/>
          </a:prstGeom>
          <a:solidFill>
            <a:srgbClr val="FCA287"/>
          </a:solidFill>
          <a:ln cap="flat" cmpd="sng" w="12700">
            <a:solidFill>
              <a:srgbClr val="FCA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3" name="Google Shape;563;p42"/>
          <p:cNvSpPr/>
          <p:nvPr/>
        </p:nvSpPr>
        <p:spPr>
          <a:xfrm>
            <a:off x="502920" y="2971800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Outliers Detected</a:t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4" name="Google Shape;564;p42"/>
          <p:cNvSpPr/>
          <p:nvPr/>
        </p:nvSpPr>
        <p:spPr>
          <a:xfrm>
            <a:off x="502920" y="3282696"/>
            <a:ext cx="4114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444444"/>
                </a:solidFill>
                <a:latin typeface="Georgia"/>
                <a:ea typeface="Georgia"/>
                <a:cs typeface="Georgia"/>
                <a:sym typeface="Georgia"/>
              </a:rPr>
              <a:t>number_outpatient and number_emergency show heavy right skew — many patients with 0 visits but rare extreme values.</a:t>
            </a:r>
            <a:endParaRPr sz="10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5" name="Google Shape;565;p42"/>
          <p:cNvSpPr/>
          <p:nvPr/>
        </p:nvSpPr>
        <p:spPr>
          <a:xfrm>
            <a:off x="320040" y="3959352"/>
            <a:ext cx="54864" cy="548640"/>
          </a:xfrm>
          <a:prstGeom prst="rect">
            <a:avLst/>
          </a:prstGeom>
          <a:solidFill>
            <a:srgbClr val="5F8195"/>
          </a:solidFill>
          <a:ln cap="flat" cmpd="sng" w="12700">
            <a:solidFill>
              <a:srgbClr val="5F81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6" name="Google Shape;566;p42"/>
          <p:cNvSpPr/>
          <p:nvPr/>
        </p:nvSpPr>
        <p:spPr>
          <a:xfrm>
            <a:off x="502920" y="3886200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Top Correlated Features</a:t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7" name="Google Shape;567;p42"/>
          <p:cNvSpPr/>
          <p:nvPr/>
        </p:nvSpPr>
        <p:spPr>
          <a:xfrm>
            <a:off x="502920" y="4197096"/>
            <a:ext cx="4114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444444"/>
                </a:solidFill>
                <a:latin typeface="Georgia"/>
                <a:ea typeface="Georgia"/>
                <a:cs typeface="Georgia"/>
                <a:sym typeface="Georgia"/>
              </a:rPr>
              <a:t>number_inpatient, time_in_hospital and num_medications show the strongest linear correlation with readmission.</a:t>
            </a:r>
            <a:endParaRPr sz="10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8" name="Google Shape;568;p42"/>
          <p:cNvSpPr/>
          <p:nvPr/>
        </p:nvSpPr>
        <p:spPr>
          <a:xfrm>
            <a:off x="4663440" y="1097280"/>
            <a:ext cx="4114800" cy="3657600"/>
          </a:xfrm>
          <a:prstGeom prst="roundRect">
            <a:avLst>
              <a:gd fmla="val 1750" name="adj"/>
            </a:avLst>
          </a:prstGeom>
          <a:solidFill>
            <a:srgbClr val="FFFFFF"/>
          </a:solidFill>
          <a:ln cap="flat" cmpd="sng" w="12700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9" name="Google Shape;569;p42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Preprocessing Decisions</a:t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0" name="Google Shape;570;p42"/>
          <p:cNvSpPr/>
          <p:nvPr/>
        </p:nvSpPr>
        <p:spPr>
          <a:xfrm>
            <a:off x="4846320" y="166420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Missing values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1" name="Google Shape;571;p42"/>
          <p:cNvSpPr/>
          <p:nvPr/>
        </p:nvSpPr>
        <p:spPr>
          <a:xfrm>
            <a:off x="6675120" y="166420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Drop 3 cols, impute race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2" name="Google Shape;572;p42"/>
          <p:cNvSpPr/>
          <p:nvPr/>
        </p:nvSpPr>
        <p:spPr>
          <a:xfrm>
            <a:off x="4846320" y="212140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Class imbalance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3" name="Google Shape;573;p42"/>
          <p:cNvSpPr/>
          <p:nvPr/>
        </p:nvSpPr>
        <p:spPr>
          <a:xfrm>
            <a:off x="6675120" y="212140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SMOTE on train only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4" name="Google Shape;574;p42"/>
          <p:cNvSpPr/>
          <p:nvPr/>
        </p:nvSpPr>
        <p:spPr>
          <a:xfrm>
            <a:off x="4846320" y="257860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Categorical vars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5" name="Google Shape;575;p42"/>
          <p:cNvSpPr/>
          <p:nvPr/>
        </p:nvSpPr>
        <p:spPr>
          <a:xfrm>
            <a:off x="6675120" y="257860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Ordinal + One-Hot encoding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6" name="Google Shape;576;p42"/>
          <p:cNvSpPr/>
          <p:nvPr/>
        </p:nvSpPr>
        <p:spPr>
          <a:xfrm>
            <a:off x="4846320" y="303580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Normalization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7" name="Google Shape;577;p42"/>
          <p:cNvSpPr/>
          <p:nvPr/>
        </p:nvSpPr>
        <p:spPr>
          <a:xfrm>
            <a:off x="6675120" y="303580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StandardScaler for LR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8" name="Google Shape;578;p42"/>
          <p:cNvSpPr/>
          <p:nvPr/>
        </p:nvSpPr>
        <p:spPr>
          <a:xfrm>
            <a:off x="4846320" y="349300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Feature Eng.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9" name="Google Shape;579;p42"/>
          <p:cNvSpPr/>
          <p:nvPr/>
        </p:nvSpPr>
        <p:spPr>
          <a:xfrm>
            <a:off x="6675120" y="349300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5 new clinical features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0" name="Google Shape;580;p42"/>
          <p:cNvSpPr/>
          <p:nvPr/>
        </p:nvSpPr>
        <p:spPr>
          <a:xfrm>
            <a:off x="4846320" y="395020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Feature Selection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1" name="Google Shape;581;p42"/>
          <p:cNvSpPr/>
          <p:nvPr/>
        </p:nvSpPr>
        <p:spPr>
          <a:xfrm>
            <a:off x="6675120" y="395020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RF importance threshold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2" name="Google Shape;582;p42"/>
          <p:cNvSpPr/>
          <p:nvPr/>
        </p:nvSpPr>
        <p:spPr>
          <a:xfrm>
            <a:off x="4846320" y="440740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Metrics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3" name="Google Shape;583;p42"/>
          <p:cNvSpPr/>
          <p:nvPr/>
        </p:nvSpPr>
        <p:spPr>
          <a:xfrm>
            <a:off x="6675120" y="440740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F1 + ROC-AUC (not accuracy)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4" name="Google Shape;584;p42"/>
          <p:cNvSpPr/>
          <p:nvPr/>
        </p:nvSpPr>
        <p:spPr>
          <a:xfrm>
            <a:off x="6205385" y="4864593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1B6CA8"/>
                </a:solidFill>
                <a:latin typeface="Georgia"/>
                <a:ea typeface="Georgia"/>
                <a:cs typeface="Georgia"/>
                <a:sym typeface="Georgia"/>
              </a:rPr>
              <a:t>EXPLORATORY DATA ANALYSIS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3"/>
          <p:cNvSpPr/>
          <p:nvPr/>
        </p:nvSpPr>
        <p:spPr>
          <a:xfrm>
            <a:off x="365760" y="2011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1B6CA8"/>
                </a:solidFill>
                <a:latin typeface="Georgia"/>
                <a:ea typeface="Georgia"/>
                <a:cs typeface="Georgia"/>
                <a:sym typeface="Georgia"/>
              </a:rPr>
              <a:t>FEATURE ENGINEERING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1" name="Google Shape;591;p4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5 New Clinical Features Created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2" name="Google Shape;592;p43"/>
          <p:cNvSpPr/>
          <p:nvPr/>
        </p:nvSpPr>
        <p:spPr>
          <a:xfrm>
            <a:off x="274320" y="1143000"/>
            <a:ext cx="8595360" cy="667512"/>
          </a:xfrm>
          <a:prstGeom prst="roundRect">
            <a:avLst>
              <a:gd fmla="val 8219" name="adj"/>
            </a:avLst>
          </a:prstGeom>
          <a:solidFill>
            <a:schemeClr val="accent5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3" name="Google Shape;593;p43"/>
          <p:cNvSpPr/>
          <p:nvPr/>
        </p:nvSpPr>
        <p:spPr>
          <a:xfrm>
            <a:off x="274320" y="1143000"/>
            <a:ext cx="502920" cy="667512"/>
          </a:xfrm>
          <a:prstGeom prst="roundRect">
            <a:avLst>
              <a:gd fmla="val 10909" name="adj"/>
            </a:avLst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4" name="Google Shape;594;p43"/>
          <p:cNvSpPr/>
          <p:nvPr/>
        </p:nvSpPr>
        <p:spPr>
          <a:xfrm>
            <a:off x="274320" y="1289304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5" name="Google Shape;595;p43"/>
          <p:cNvSpPr/>
          <p:nvPr/>
        </p:nvSpPr>
        <p:spPr>
          <a:xfrm>
            <a:off x="960120" y="118872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B6CA8"/>
                </a:solidFill>
                <a:latin typeface="Georgia"/>
                <a:ea typeface="Georgia"/>
                <a:cs typeface="Georgia"/>
                <a:sym typeface="Georgia"/>
              </a:rPr>
              <a:t>ICD-9 Grouping (diag_1/2/3)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6" name="Google Shape;596;p43"/>
          <p:cNvSpPr/>
          <p:nvPr/>
        </p:nvSpPr>
        <p:spPr>
          <a:xfrm>
            <a:off x="960120" y="1453896"/>
            <a:ext cx="7680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ECF0F1"/>
                </a:solidFill>
                <a:latin typeface="Georgia"/>
                <a:ea typeface="Georgia"/>
                <a:cs typeface="Georgia"/>
                <a:sym typeface="Georgia"/>
              </a:rPr>
              <a:t>800+ raw diagnosis codes → 8 clinical categories. Prevents sparse one-hot columns, captures medical knowledge.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7" name="Google Shape;597;p43"/>
          <p:cNvSpPr/>
          <p:nvPr/>
        </p:nvSpPr>
        <p:spPr>
          <a:xfrm>
            <a:off x="274320" y="1901952"/>
            <a:ext cx="8595360" cy="667512"/>
          </a:xfrm>
          <a:prstGeom prst="roundRect">
            <a:avLst>
              <a:gd fmla="val 8219" name="adj"/>
            </a:avLst>
          </a:prstGeom>
          <a:solidFill>
            <a:schemeClr val="accent5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8" name="Google Shape;598;p43"/>
          <p:cNvSpPr/>
          <p:nvPr/>
        </p:nvSpPr>
        <p:spPr>
          <a:xfrm>
            <a:off x="274320" y="1901952"/>
            <a:ext cx="502920" cy="667512"/>
          </a:xfrm>
          <a:prstGeom prst="roundRect">
            <a:avLst>
              <a:gd fmla="val 10909" name="adj"/>
            </a:avLst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9" name="Google Shape;599;p43"/>
          <p:cNvSpPr/>
          <p:nvPr/>
        </p:nvSpPr>
        <p:spPr>
          <a:xfrm>
            <a:off x="274320" y="2048256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0" name="Google Shape;600;p43"/>
          <p:cNvSpPr/>
          <p:nvPr/>
        </p:nvSpPr>
        <p:spPr>
          <a:xfrm>
            <a:off x="960120" y="194767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Age Midpoint (</a:t>
            </a:r>
            <a:r>
              <a:rPr b="1" lang="en" sz="120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age_mid ) 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1" name="Google Shape;601;p43"/>
          <p:cNvSpPr/>
          <p:nvPr/>
        </p:nvSpPr>
        <p:spPr>
          <a:xfrm>
            <a:off x="960120" y="2212848"/>
            <a:ext cx="7680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ECF0F1"/>
                </a:solidFill>
                <a:latin typeface="Georgia"/>
                <a:ea typeface="Georgia"/>
                <a:cs typeface="Georgia"/>
                <a:sym typeface="Georgia"/>
              </a:rPr>
              <a:t>Age brackets like '[60-70)' converted to numeric midpoint (65). Enables linear models to use age as a continuous predictor.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2" name="Google Shape;602;p43"/>
          <p:cNvSpPr/>
          <p:nvPr/>
        </p:nvSpPr>
        <p:spPr>
          <a:xfrm>
            <a:off x="274320" y="2660904"/>
            <a:ext cx="8595360" cy="667512"/>
          </a:xfrm>
          <a:prstGeom prst="roundRect">
            <a:avLst>
              <a:gd fmla="val 8219" name="adj"/>
            </a:avLst>
          </a:prstGeom>
          <a:solidFill>
            <a:schemeClr val="accent5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3" name="Google Shape;603;p43"/>
          <p:cNvSpPr/>
          <p:nvPr/>
        </p:nvSpPr>
        <p:spPr>
          <a:xfrm>
            <a:off x="274320" y="2660904"/>
            <a:ext cx="502920" cy="667512"/>
          </a:xfrm>
          <a:prstGeom prst="roundRect">
            <a:avLst>
              <a:gd fmla="val 10909" name="adj"/>
            </a:avLst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4" name="Google Shape;604;p43"/>
          <p:cNvSpPr/>
          <p:nvPr/>
        </p:nvSpPr>
        <p:spPr>
          <a:xfrm>
            <a:off x="274320" y="2807208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5" name="Google Shape;605;p43"/>
          <p:cNvSpPr/>
          <p:nvPr/>
        </p:nvSpPr>
        <p:spPr>
          <a:xfrm>
            <a:off x="960126" y="2706625"/>
            <a:ext cx="3554100" cy="2925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2ECC71"/>
                </a:solidFill>
                <a:latin typeface="Georgia"/>
                <a:ea typeface="Georgia"/>
                <a:cs typeface="Georgia"/>
                <a:sym typeface="Georgia"/>
              </a:rPr>
              <a:t>Medication Instability (n_med_changes ) 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6" name="Google Shape;606;p43"/>
          <p:cNvSpPr/>
          <p:nvPr/>
        </p:nvSpPr>
        <p:spPr>
          <a:xfrm>
            <a:off x="960120" y="2971800"/>
            <a:ext cx="7680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ECF0F1"/>
                </a:solidFill>
                <a:latin typeface="Georgia"/>
                <a:ea typeface="Georgia"/>
                <a:cs typeface="Georgia"/>
                <a:sym typeface="Georgia"/>
              </a:rPr>
              <a:t>Tracks medications with dose changes (Up/Down), acting as a direct signal of unstable glycemic control.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7" name="Google Shape;607;p43"/>
          <p:cNvSpPr/>
          <p:nvPr/>
        </p:nvSpPr>
        <p:spPr>
          <a:xfrm>
            <a:off x="274320" y="3419856"/>
            <a:ext cx="8595360" cy="667512"/>
          </a:xfrm>
          <a:prstGeom prst="roundRect">
            <a:avLst>
              <a:gd fmla="val 8219" name="adj"/>
            </a:avLst>
          </a:prstGeom>
          <a:solidFill>
            <a:schemeClr val="accent5"/>
          </a:solidFill>
          <a:ln cap="flat" cmpd="sng" w="12700">
            <a:solidFill>
              <a:srgbClr val="24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8" name="Google Shape;608;p43"/>
          <p:cNvSpPr/>
          <p:nvPr/>
        </p:nvSpPr>
        <p:spPr>
          <a:xfrm>
            <a:off x="274320" y="3419856"/>
            <a:ext cx="502920" cy="667512"/>
          </a:xfrm>
          <a:prstGeom prst="roundRect">
            <a:avLst>
              <a:gd fmla="val 10909" name="adj"/>
            </a:avLst>
          </a:prstGeom>
          <a:solidFill>
            <a:srgbClr val="E84855"/>
          </a:solidFill>
          <a:ln cap="flat" cmpd="sng" w="12700">
            <a:solidFill>
              <a:srgbClr val="E84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9" name="Google Shape;609;p43"/>
          <p:cNvSpPr/>
          <p:nvPr/>
        </p:nvSpPr>
        <p:spPr>
          <a:xfrm>
            <a:off x="274320" y="356616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0" name="Google Shape;610;p43"/>
          <p:cNvSpPr/>
          <p:nvPr/>
        </p:nvSpPr>
        <p:spPr>
          <a:xfrm>
            <a:off x="960120" y="3465576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855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E84855"/>
                </a:solidFill>
                <a:latin typeface="Georgia"/>
                <a:ea typeface="Georgia"/>
                <a:cs typeface="Georgia"/>
                <a:sym typeface="Georgia"/>
              </a:rPr>
              <a:t>Prior Utilization (prior_visiti)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1" name="Google Shape;611;p43"/>
          <p:cNvSpPr/>
          <p:nvPr/>
        </p:nvSpPr>
        <p:spPr>
          <a:xfrm>
            <a:off x="960120" y="3730752"/>
            <a:ext cx="7680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ECF0F1"/>
                </a:solidFill>
                <a:latin typeface="Georgia"/>
                <a:ea typeface="Georgia"/>
                <a:cs typeface="Georgia"/>
                <a:sym typeface="Georgia"/>
              </a:rPr>
              <a:t>Sum of outpatient, emergency, and inpatient visits. Captures the "High Utilizer" profile, strongly predicting future system use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2" name="Google Shape;612;p43"/>
          <p:cNvSpPr/>
          <p:nvPr/>
        </p:nvSpPr>
        <p:spPr>
          <a:xfrm>
            <a:off x="274320" y="4178808"/>
            <a:ext cx="8595360" cy="667512"/>
          </a:xfrm>
          <a:prstGeom prst="roundRect">
            <a:avLst>
              <a:gd fmla="val 8219" name="adj"/>
            </a:avLst>
          </a:prstGeom>
          <a:solidFill>
            <a:schemeClr val="accent5"/>
          </a:solidFill>
          <a:ln cap="flat" cmpd="sng" w="12700">
            <a:solidFill>
              <a:srgbClr val="24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3" name="Google Shape;613;p43"/>
          <p:cNvSpPr/>
          <p:nvPr/>
        </p:nvSpPr>
        <p:spPr>
          <a:xfrm>
            <a:off x="274320" y="4178808"/>
            <a:ext cx="502920" cy="667512"/>
          </a:xfrm>
          <a:prstGeom prst="roundRect">
            <a:avLst>
              <a:gd fmla="val 10909" name="adj"/>
            </a:avLst>
          </a:prstGeom>
          <a:solidFill>
            <a:srgbClr val="A29BFE"/>
          </a:solidFill>
          <a:ln cap="flat" cmpd="sng" w="12700">
            <a:solidFill>
              <a:srgbClr val="A29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4" name="Google Shape;614;p43"/>
          <p:cNvSpPr/>
          <p:nvPr/>
        </p:nvSpPr>
        <p:spPr>
          <a:xfrm>
            <a:off x="274320" y="4325112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5" name="Google Shape;615;p43"/>
          <p:cNvSpPr/>
          <p:nvPr/>
        </p:nvSpPr>
        <p:spPr>
          <a:xfrm>
            <a:off x="960127" y="4224525"/>
            <a:ext cx="361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A29BFE"/>
                </a:solidFill>
                <a:latin typeface="Georgia"/>
                <a:ea typeface="Georgia"/>
                <a:cs typeface="Georgia"/>
                <a:sym typeface="Georgia"/>
              </a:rPr>
              <a:t>Treatment Complexity (n_active_meds)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6" name="Google Shape;616;p43"/>
          <p:cNvSpPr/>
          <p:nvPr/>
        </p:nvSpPr>
        <p:spPr>
          <a:xfrm>
            <a:off x="960120" y="4489704"/>
            <a:ext cx="7680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ECF0F1"/>
                </a:solidFill>
                <a:latin typeface="Georgia"/>
                <a:ea typeface="Georgia"/>
                <a:cs typeface="Georgia"/>
                <a:sym typeface="Georgia"/>
              </a:rPr>
              <a:t> Number of active medications prescribed. A direct proxy for overall treatment complexity and patient management difficulty.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44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" sz="26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Complete ML Pipeline</a:t>
            </a:r>
            <a:endParaRPr sz="2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3" name="Google Shape;623;p44"/>
          <p:cNvSpPr/>
          <p:nvPr/>
        </p:nvSpPr>
        <p:spPr>
          <a:xfrm>
            <a:off x="228600" y="1188720"/>
            <a:ext cx="914400" cy="914400"/>
          </a:xfrm>
          <a:prstGeom prst="roundRect">
            <a:avLst>
              <a:gd fmla="val 12000" name="adj"/>
            </a:avLst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4" name="Google Shape;624;p44"/>
          <p:cNvSpPr/>
          <p:nvPr/>
        </p:nvSpPr>
        <p:spPr>
          <a:xfrm>
            <a:off x="228600" y="137160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5" name="Google Shape;625;p44"/>
          <p:cNvSpPr/>
          <p:nvPr/>
        </p:nvSpPr>
        <p:spPr>
          <a:xfrm>
            <a:off x="182880" y="2212848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Load &amp;</a:t>
            </a:r>
            <a:endParaRPr sz="9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Clean</a:t>
            </a:r>
            <a:endParaRPr sz="9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6" name="Google Shape;626;p44"/>
          <p:cNvSpPr/>
          <p:nvPr/>
        </p:nvSpPr>
        <p:spPr>
          <a:xfrm>
            <a:off x="182880" y="2688336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Remove dupes,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drop 5 cols,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impute NaN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7" name="Google Shape;627;p44"/>
          <p:cNvSpPr/>
          <p:nvPr/>
        </p:nvSpPr>
        <p:spPr>
          <a:xfrm>
            <a:off x="1143000" y="1600200"/>
            <a:ext cx="182880" cy="91440"/>
          </a:xfrm>
          <a:prstGeom prst="rect">
            <a:avLst/>
          </a:prstGeom>
          <a:solidFill>
            <a:srgbClr val="AABBCC"/>
          </a:solidFill>
          <a:ln cap="flat" cmpd="sng" w="12700">
            <a:solidFill>
              <a:srgbClr val="AABB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8" name="Google Shape;628;p44"/>
          <p:cNvSpPr/>
          <p:nvPr/>
        </p:nvSpPr>
        <p:spPr>
          <a:xfrm>
            <a:off x="1325880" y="1188720"/>
            <a:ext cx="914400" cy="914400"/>
          </a:xfrm>
          <a:prstGeom prst="roundRect">
            <a:avLst>
              <a:gd fmla="val 12000" name="adj"/>
            </a:avLst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9" name="Google Shape;629;p44"/>
          <p:cNvSpPr/>
          <p:nvPr/>
        </p:nvSpPr>
        <p:spPr>
          <a:xfrm>
            <a:off x="1325880" y="137160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0" name="Google Shape;630;p44"/>
          <p:cNvSpPr/>
          <p:nvPr/>
        </p:nvSpPr>
        <p:spPr>
          <a:xfrm>
            <a:off x="1280160" y="2212848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Feature</a:t>
            </a:r>
            <a:endParaRPr sz="9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Engineering</a:t>
            </a:r>
            <a:endParaRPr sz="9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1" name="Google Shape;631;p44"/>
          <p:cNvSpPr/>
          <p:nvPr/>
        </p:nvSpPr>
        <p:spPr>
          <a:xfrm>
            <a:off x="1280160" y="2688336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5 new clinical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variables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+ ICD-9 groups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2" name="Google Shape;632;p44"/>
          <p:cNvSpPr/>
          <p:nvPr/>
        </p:nvSpPr>
        <p:spPr>
          <a:xfrm>
            <a:off x="2240280" y="1600200"/>
            <a:ext cx="182880" cy="91440"/>
          </a:xfrm>
          <a:prstGeom prst="rect">
            <a:avLst/>
          </a:prstGeom>
          <a:solidFill>
            <a:srgbClr val="AABBCC"/>
          </a:solidFill>
          <a:ln cap="flat" cmpd="sng" w="12700">
            <a:solidFill>
              <a:srgbClr val="AABB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3" name="Google Shape;633;p44"/>
          <p:cNvSpPr/>
          <p:nvPr/>
        </p:nvSpPr>
        <p:spPr>
          <a:xfrm>
            <a:off x="2423160" y="1188720"/>
            <a:ext cx="914400" cy="914400"/>
          </a:xfrm>
          <a:prstGeom prst="roundRect">
            <a:avLst>
              <a:gd fmla="val 12000" name="adj"/>
            </a:avLst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4" name="Google Shape;634;p44"/>
          <p:cNvSpPr/>
          <p:nvPr/>
        </p:nvSpPr>
        <p:spPr>
          <a:xfrm>
            <a:off x="2423160" y="137160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5" name="Google Shape;635;p44"/>
          <p:cNvSpPr/>
          <p:nvPr/>
        </p:nvSpPr>
        <p:spPr>
          <a:xfrm>
            <a:off x="2377440" y="2212848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Encode &amp;</a:t>
            </a:r>
            <a:endParaRPr sz="9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Split</a:t>
            </a:r>
            <a:endParaRPr sz="9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6" name="Google Shape;636;p44"/>
          <p:cNvSpPr/>
          <p:nvPr/>
        </p:nvSpPr>
        <p:spPr>
          <a:xfrm>
            <a:off x="2377440" y="2688336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Ordinal/OHE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80% train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20% test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7" name="Google Shape;637;p44"/>
          <p:cNvSpPr/>
          <p:nvPr/>
        </p:nvSpPr>
        <p:spPr>
          <a:xfrm>
            <a:off x="3337560" y="1600200"/>
            <a:ext cx="182880" cy="91440"/>
          </a:xfrm>
          <a:prstGeom prst="rect">
            <a:avLst/>
          </a:prstGeom>
          <a:solidFill>
            <a:srgbClr val="AABBCC"/>
          </a:solidFill>
          <a:ln cap="flat" cmpd="sng" w="12700">
            <a:solidFill>
              <a:srgbClr val="AABB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8" name="Google Shape;638;p44"/>
          <p:cNvSpPr/>
          <p:nvPr/>
        </p:nvSpPr>
        <p:spPr>
          <a:xfrm>
            <a:off x="3520440" y="1188720"/>
            <a:ext cx="914400" cy="914400"/>
          </a:xfrm>
          <a:prstGeom prst="roundRect">
            <a:avLst>
              <a:gd fmla="val 12000" name="adj"/>
            </a:avLst>
          </a:prstGeom>
          <a:solidFill>
            <a:srgbClr val="A29BFE"/>
          </a:solidFill>
          <a:ln cap="flat" cmpd="sng" w="12700">
            <a:solidFill>
              <a:srgbClr val="A29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9" name="Google Shape;639;p44"/>
          <p:cNvSpPr/>
          <p:nvPr/>
        </p:nvSpPr>
        <p:spPr>
          <a:xfrm>
            <a:off x="3520440" y="137160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0" name="Google Shape;640;p44"/>
          <p:cNvSpPr/>
          <p:nvPr/>
        </p:nvSpPr>
        <p:spPr>
          <a:xfrm>
            <a:off x="3474720" y="2212848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Scale</a:t>
            </a:r>
            <a:endParaRPr sz="9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1" name="Google Shape;641;p44"/>
          <p:cNvSpPr/>
          <p:nvPr/>
        </p:nvSpPr>
        <p:spPr>
          <a:xfrm>
            <a:off x="3474720" y="2688336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StandardScaler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for LR only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(train fit only)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2" name="Google Shape;642;p44"/>
          <p:cNvSpPr/>
          <p:nvPr/>
        </p:nvSpPr>
        <p:spPr>
          <a:xfrm>
            <a:off x="4434840" y="1600200"/>
            <a:ext cx="182880" cy="91440"/>
          </a:xfrm>
          <a:prstGeom prst="rect">
            <a:avLst/>
          </a:prstGeom>
          <a:solidFill>
            <a:srgbClr val="AABBCC"/>
          </a:solidFill>
          <a:ln cap="flat" cmpd="sng" w="12700">
            <a:solidFill>
              <a:srgbClr val="AABB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3" name="Google Shape;643;p44"/>
          <p:cNvSpPr/>
          <p:nvPr/>
        </p:nvSpPr>
        <p:spPr>
          <a:xfrm>
            <a:off x="4617720" y="1188720"/>
            <a:ext cx="914400" cy="914400"/>
          </a:xfrm>
          <a:prstGeom prst="roundRect">
            <a:avLst>
              <a:gd fmla="val 12000" name="adj"/>
            </a:avLst>
          </a:prstGeom>
          <a:solidFill>
            <a:srgbClr val="E84855"/>
          </a:solidFill>
          <a:ln cap="flat" cmpd="sng" w="12700">
            <a:solidFill>
              <a:srgbClr val="E84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4" name="Google Shape;644;p44"/>
          <p:cNvSpPr/>
          <p:nvPr/>
        </p:nvSpPr>
        <p:spPr>
          <a:xfrm>
            <a:off x="4617720" y="137160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5" name="Google Shape;645;p44"/>
          <p:cNvSpPr/>
          <p:nvPr/>
        </p:nvSpPr>
        <p:spPr>
          <a:xfrm>
            <a:off x="4572000" y="2212848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Feature</a:t>
            </a:r>
            <a:endParaRPr sz="9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Selection</a:t>
            </a:r>
            <a:endParaRPr sz="9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6" name="Google Shape;646;p44"/>
          <p:cNvSpPr/>
          <p:nvPr/>
        </p:nvSpPr>
        <p:spPr>
          <a:xfrm>
            <a:off x="4572000" y="2688336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RF importance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&gt; mean threshold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(26 features)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7" name="Google Shape;647;p44"/>
          <p:cNvSpPr/>
          <p:nvPr/>
        </p:nvSpPr>
        <p:spPr>
          <a:xfrm>
            <a:off x="5532120" y="1600200"/>
            <a:ext cx="182880" cy="91440"/>
          </a:xfrm>
          <a:prstGeom prst="rect">
            <a:avLst/>
          </a:prstGeom>
          <a:solidFill>
            <a:srgbClr val="AABBCC"/>
          </a:solidFill>
          <a:ln cap="flat" cmpd="sng" w="12700">
            <a:solidFill>
              <a:srgbClr val="AABB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8" name="Google Shape;648;p44"/>
          <p:cNvSpPr/>
          <p:nvPr/>
        </p:nvSpPr>
        <p:spPr>
          <a:xfrm>
            <a:off x="5715000" y="1188720"/>
            <a:ext cx="914400" cy="914400"/>
          </a:xfrm>
          <a:prstGeom prst="roundRect">
            <a:avLst>
              <a:gd fmla="val 12000" name="adj"/>
            </a:avLst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9" name="Google Shape;649;p44"/>
          <p:cNvSpPr/>
          <p:nvPr/>
        </p:nvSpPr>
        <p:spPr>
          <a:xfrm>
            <a:off x="5715000" y="137160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0" name="Google Shape;650;p44"/>
          <p:cNvSpPr/>
          <p:nvPr/>
        </p:nvSpPr>
        <p:spPr>
          <a:xfrm>
            <a:off x="5669280" y="2212848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SMOTE</a:t>
            </a:r>
            <a:endParaRPr sz="9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1" name="Google Shape;651;p44"/>
          <p:cNvSpPr/>
          <p:nvPr/>
        </p:nvSpPr>
        <p:spPr>
          <a:xfrm>
            <a:off x="5669280" y="2688336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Balance classes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on train only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50/50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2" name="Google Shape;652;p44"/>
          <p:cNvSpPr/>
          <p:nvPr/>
        </p:nvSpPr>
        <p:spPr>
          <a:xfrm>
            <a:off x="6629400" y="1600200"/>
            <a:ext cx="182880" cy="91440"/>
          </a:xfrm>
          <a:prstGeom prst="rect">
            <a:avLst/>
          </a:prstGeom>
          <a:solidFill>
            <a:srgbClr val="AABBCC"/>
          </a:solidFill>
          <a:ln cap="flat" cmpd="sng" w="12700">
            <a:solidFill>
              <a:srgbClr val="AABB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3" name="Google Shape;653;p44"/>
          <p:cNvSpPr/>
          <p:nvPr/>
        </p:nvSpPr>
        <p:spPr>
          <a:xfrm>
            <a:off x="6812280" y="1188720"/>
            <a:ext cx="914400" cy="914400"/>
          </a:xfrm>
          <a:prstGeom prst="roundRect">
            <a:avLst>
              <a:gd fmla="val 12000" name="adj"/>
            </a:avLst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4" name="Google Shape;654;p44"/>
          <p:cNvSpPr/>
          <p:nvPr/>
        </p:nvSpPr>
        <p:spPr>
          <a:xfrm>
            <a:off x="6812280" y="137160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5" name="Google Shape;655;p44"/>
          <p:cNvSpPr/>
          <p:nvPr/>
        </p:nvSpPr>
        <p:spPr>
          <a:xfrm>
            <a:off x="6766560" y="2212848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Train 4</a:t>
            </a:r>
            <a:endParaRPr sz="9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Models</a:t>
            </a:r>
            <a:endParaRPr sz="9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6" name="Google Shape;656;p44"/>
          <p:cNvSpPr/>
          <p:nvPr/>
        </p:nvSpPr>
        <p:spPr>
          <a:xfrm>
            <a:off x="6766560" y="2688336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LR · DT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RF · GBM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+ cross-val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7" name="Google Shape;657;p44"/>
          <p:cNvSpPr/>
          <p:nvPr/>
        </p:nvSpPr>
        <p:spPr>
          <a:xfrm>
            <a:off x="7726680" y="1600200"/>
            <a:ext cx="182880" cy="91440"/>
          </a:xfrm>
          <a:prstGeom prst="rect">
            <a:avLst/>
          </a:prstGeom>
          <a:solidFill>
            <a:srgbClr val="AABBCC"/>
          </a:solidFill>
          <a:ln cap="flat" cmpd="sng" w="12700">
            <a:solidFill>
              <a:srgbClr val="AABB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8" name="Google Shape;658;p44"/>
          <p:cNvSpPr/>
          <p:nvPr/>
        </p:nvSpPr>
        <p:spPr>
          <a:xfrm>
            <a:off x="7909560" y="1188720"/>
            <a:ext cx="914400" cy="914400"/>
          </a:xfrm>
          <a:prstGeom prst="roundRect">
            <a:avLst>
              <a:gd fmla="val 12000" name="adj"/>
            </a:avLst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9" name="Google Shape;659;p44"/>
          <p:cNvSpPr/>
          <p:nvPr/>
        </p:nvSpPr>
        <p:spPr>
          <a:xfrm>
            <a:off x="7909560" y="137160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8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0" name="Google Shape;660;p44"/>
          <p:cNvSpPr/>
          <p:nvPr/>
        </p:nvSpPr>
        <p:spPr>
          <a:xfrm>
            <a:off x="7863840" y="2212848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Optimize</a:t>
            </a:r>
            <a:endParaRPr sz="9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&amp; Evaluate</a:t>
            </a:r>
            <a:endParaRPr sz="9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1" name="Google Shape;661;p44"/>
          <p:cNvSpPr/>
          <p:nvPr/>
        </p:nvSpPr>
        <p:spPr>
          <a:xfrm>
            <a:off x="7863840" y="2688336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RandomSearch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Threshold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analysis</a:t>
            </a:r>
            <a:endParaRPr sz="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2" name="Google Shape;662;p44"/>
          <p:cNvSpPr/>
          <p:nvPr/>
        </p:nvSpPr>
        <p:spPr>
          <a:xfrm>
            <a:off x="274320" y="3474720"/>
            <a:ext cx="8595300" cy="1326000"/>
          </a:xfrm>
          <a:prstGeom prst="roundRect">
            <a:avLst>
              <a:gd fmla="val 4138" name="adj"/>
            </a:avLst>
          </a:prstGeom>
          <a:solidFill>
            <a:srgbClr val="EEF4FF"/>
          </a:solidFill>
          <a:ln cap="flat" cmpd="sng" w="12700">
            <a:solidFill>
              <a:srgbClr val="C5D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3" name="Google Shape;663;p44"/>
          <p:cNvSpPr/>
          <p:nvPr/>
        </p:nvSpPr>
        <p:spPr>
          <a:xfrm>
            <a:off x="502920" y="356616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 Rules to Prevent Data Leakage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4" name="Google Shape;664;p44"/>
          <p:cNvSpPr/>
          <p:nvPr/>
        </p:nvSpPr>
        <p:spPr>
          <a:xfrm>
            <a:off x="502920" y="39136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050"/>
              <a:buFont typeface="Calibri"/>
              <a:buNone/>
            </a:pPr>
            <a:r>
              <a:rPr b="1" lang="en" sz="105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! </a:t>
            </a:r>
            <a:r>
              <a:rPr b="1" lang="en" sz="105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105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Scaler fitted on train ONLY = &gt;  transforms applied to test separately</a:t>
            </a:r>
            <a:endParaRPr sz="10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5" name="Google Shape;665;p44"/>
          <p:cNvSpPr/>
          <p:nvPr/>
        </p:nvSpPr>
        <p:spPr>
          <a:xfrm>
            <a:off x="502920" y="42062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050"/>
              <a:buFont typeface="Calibri"/>
              <a:buNone/>
            </a:pPr>
            <a:r>
              <a:rPr b="1" lang="en" sz="105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! </a:t>
            </a:r>
            <a:r>
              <a:rPr b="1" lang="en" sz="105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105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SMOTE applied on train ONLY =&gt; test set reflects real-world distribution</a:t>
            </a:r>
            <a:endParaRPr sz="10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6" name="Google Shape;666;p44"/>
          <p:cNvSpPr/>
          <p:nvPr/>
        </p:nvSpPr>
        <p:spPr>
          <a:xfrm>
            <a:off x="502920" y="4498848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050"/>
              <a:buFont typeface="Calibri"/>
              <a:buNone/>
            </a:pPr>
            <a:r>
              <a:rPr b="1" lang="en" sz="105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! </a:t>
            </a:r>
            <a:r>
              <a:rPr b="1" lang="en" sz="105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  </a:t>
            </a:r>
            <a:r>
              <a:rPr lang="en" sz="105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Feature selection fitted on train ONLY =&gt; same features applied to test</a:t>
            </a:r>
            <a:endParaRPr sz="10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7" name="Google Shape;667;p44"/>
          <p:cNvSpPr/>
          <p:nvPr/>
        </p:nvSpPr>
        <p:spPr>
          <a:xfrm>
            <a:off x="7726685" y="4887593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1B6CA8"/>
                </a:solidFill>
                <a:latin typeface="Georgia"/>
                <a:ea typeface="Georgia"/>
                <a:cs typeface="Georgia"/>
                <a:sym typeface="Georgia"/>
              </a:rPr>
              <a:t>ML PIPELINE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5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" sz="24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4 Algorithms :  Justified Choices</a:t>
            </a:r>
            <a:endParaRPr sz="2400">
              <a:solidFill>
                <a:srgbClr val="333333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4" name="Google Shape;674;p45"/>
          <p:cNvSpPr/>
          <p:nvPr/>
        </p:nvSpPr>
        <p:spPr>
          <a:xfrm>
            <a:off x="274320" y="1115568"/>
            <a:ext cx="8595360" cy="841248"/>
          </a:xfrm>
          <a:prstGeom prst="roundRect">
            <a:avLst>
              <a:gd fmla="val 6522" name="adj"/>
            </a:avLst>
          </a:prstGeom>
          <a:solidFill>
            <a:srgbClr val="1A2744"/>
          </a:solidFill>
          <a:ln cap="flat" cmpd="sng" w="12700">
            <a:solidFill>
              <a:srgbClr val="24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5" name="Google Shape;675;p45"/>
          <p:cNvSpPr/>
          <p:nvPr/>
        </p:nvSpPr>
        <p:spPr>
          <a:xfrm>
            <a:off x="274320" y="1115568"/>
            <a:ext cx="73152" cy="841248"/>
          </a:xfrm>
          <a:prstGeom prst="roundRect">
            <a:avLst>
              <a:gd fmla="val 75000" name="adj"/>
            </a:avLst>
          </a:prstGeom>
          <a:solidFill>
            <a:srgbClr val="1A2744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6" name="Google Shape;676;p45"/>
          <p:cNvSpPr/>
          <p:nvPr/>
        </p:nvSpPr>
        <p:spPr>
          <a:xfrm>
            <a:off x="502920" y="1179576"/>
            <a:ext cx="2926080" cy="29260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300"/>
              <a:buFont typeface="Calibri"/>
              <a:buNone/>
            </a:pPr>
            <a:r>
              <a:rPr b="1" lang="en">
                <a:solidFill>
                  <a:srgbClr val="1B6CA8"/>
                </a:solidFill>
                <a:latin typeface="Georgia"/>
                <a:ea typeface="Georgia"/>
                <a:cs typeface="Georgia"/>
                <a:sym typeface="Georgia"/>
              </a:rPr>
              <a:t>Logistic Regression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7" name="Google Shape;677;p45"/>
          <p:cNvSpPr/>
          <p:nvPr/>
        </p:nvSpPr>
        <p:spPr>
          <a:xfrm>
            <a:off x="502920" y="1463040"/>
            <a:ext cx="2926080" cy="25603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000"/>
              <a:buFont typeface="Calibri"/>
              <a:buNone/>
            </a:pPr>
            <a:r>
              <a:rPr i="1" lang="en" sz="1100">
                <a:solidFill>
                  <a:srgbClr val="7F8C8D"/>
                </a:solidFill>
                <a:latin typeface="Georgia"/>
                <a:ea typeface="Georgia"/>
                <a:cs typeface="Georgia"/>
                <a:sym typeface="Georgia"/>
              </a:rPr>
              <a:t>Linear Model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8" name="Google Shape;678;p45"/>
          <p:cNvSpPr/>
          <p:nvPr/>
        </p:nvSpPr>
        <p:spPr>
          <a:xfrm>
            <a:off x="3474720" y="1179576"/>
            <a:ext cx="3657600" cy="5029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lang="en" sz="1100">
                <a:solidFill>
                  <a:srgbClr val="ECF0F1"/>
                </a:solidFill>
                <a:latin typeface="Georgia"/>
                <a:ea typeface="Georgia"/>
                <a:cs typeface="Georgia"/>
                <a:sym typeface="Georgia"/>
              </a:rPr>
              <a:t>Interpretable baseline. Coefficients show direct feature impact. Fast training. Requires StandardScaler.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9" name="Google Shape;679;p45"/>
          <p:cNvSpPr/>
          <p:nvPr/>
        </p:nvSpPr>
        <p:spPr>
          <a:xfrm>
            <a:off x="502920" y="1682496"/>
            <a:ext cx="6858000" cy="237744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900"/>
              <a:buFont typeface="Calibri"/>
              <a:buNone/>
            </a:pPr>
            <a:r>
              <a:rPr b="1" lang="en" sz="1000">
                <a:solidFill>
                  <a:srgbClr val="1B6CA8"/>
                </a:solidFill>
                <a:latin typeface="Georgia"/>
                <a:ea typeface="Georgia"/>
                <a:cs typeface="Georgia"/>
                <a:sym typeface="Georgia"/>
              </a:rPr>
              <a:t>Params: </a:t>
            </a:r>
            <a:r>
              <a:rPr lang="en" sz="1000">
                <a:solidFill>
                  <a:srgbClr val="7F8C8D"/>
                </a:solidFill>
                <a:latin typeface="Georgia"/>
                <a:ea typeface="Georgia"/>
                <a:cs typeface="Georgia"/>
                <a:sym typeface="Georgia"/>
              </a:rPr>
              <a:t>C=1.0, max_iter=1000, class_weight='balanced'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0" name="Google Shape;680;p45"/>
          <p:cNvSpPr/>
          <p:nvPr/>
        </p:nvSpPr>
        <p:spPr>
          <a:xfrm>
            <a:off x="7406640" y="1389888"/>
            <a:ext cx="1371600" cy="292608"/>
          </a:xfrm>
          <a:prstGeom prst="rect">
            <a:avLst/>
          </a:prstGeom>
          <a:solidFill>
            <a:srgbClr val="2433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900"/>
              <a:buFont typeface="Calibri"/>
              <a:buNone/>
            </a:pPr>
            <a:r>
              <a:rPr lang="en" sz="100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Needs scaling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1" name="Google Shape;681;p45"/>
          <p:cNvSpPr/>
          <p:nvPr/>
        </p:nvSpPr>
        <p:spPr>
          <a:xfrm>
            <a:off x="274320" y="2075688"/>
            <a:ext cx="8595360" cy="841248"/>
          </a:xfrm>
          <a:prstGeom prst="roundRect">
            <a:avLst>
              <a:gd fmla="val 6522" name="adj"/>
            </a:avLst>
          </a:prstGeom>
          <a:solidFill>
            <a:srgbClr val="1A2744"/>
          </a:solidFill>
          <a:ln cap="flat" cmpd="sng" w="12700">
            <a:solidFill>
              <a:srgbClr val="24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2" name="Google Shape;682;p45"/>
          <p:cNvSpPr/>
          <p:nvPr/>
        </p:nvSpPr>
        <p:spPr>
          <a:xfrm>
            <a:off x="274320" y="2075688"/>
            <a:ext cx="73152" cy="841248"/>
          </a:xfrm>
          <a:prstGeom prst="roundRect">
            <a:avLst>
              <a:gd fmla="val 75000" name="adj"/>
            </a:avLst>
          </a:prstGeom>
          <a:solidFill>
            <a:srgbClr val="1A2744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3" name="Google Shape;683;p45"/>
          <p:cNvSpPr/>
          <p:nvPr/>
        </p:nvSpPr>
        <p:spPr>
          <a:xfrm>
            <a:off x="502920" y="2139696"/>
            <a:ext cx="2926080" cy="29260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300"/>
              <a:buFont typeface="Calibri"/>
              <a:buNone/>
            </a:pPr>
            <a:r>
              <a:rPr b="1" lang="en">
                <a:solidFill>
                  <a:srgbClr val="2ECC71"/>
                </a:solidFill>
                <a:latin typeface="Georgia"/>
                <a:ea typeface="Georgia"/>
                <a:cs typeface="Georgia"/>
                <a:sym typeface="Georgia"/>
              </a:rPr>
              <a:t>Decision Tree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4" name="Google Shape;684;p45"/>
          <p:cNvSpPr/>
          <p:nvPr/>
        </p:nvSpPr>
        <p:spPr>
          <a:xfrm>
            <a:off x="502920" y="2423160"/>
            <a:ext cx="2926080" cy="25603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000"/>
              <a:buFont typeface="Calibri"/>
              <a:buNone/>
            </a:pPr>
            <a:r>
              <a:rPr i="1" lang="en" sz="1100">
                <a:solidFill>
                  <a:srgbClr val="7F8C8D"/>
                </a:solidFill>
                <a:latin typeface="Georgia"/>
                <a:ea typeface="Georgia"/>
                <a:cs typeface="Georgia"/>
                <a:sym typeface="Georgia"/>
              </a:rPr>
              <a:t>Tree Model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5" name="Google Shape;685;p45"/>
          <p:cNvSpPr/>
          <p:nvPr/>
        </p:nvSpPr>
        <p:spPr>
          <a:xfrm>
            <a:off x="3474720" y="2139696"/>
            <a:ext cx="3657600" cy="5029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lang="en" sz="1100">
                <a:solidFill>
                  <a:srgbClr val="ECF0F1"/>
                </a:solidFill>
                <a:latin typeface="Georgia"/>
                <a:ea typeface="Georgia"/>
                <a:cs typeface="Georgia"/>
                <a:sym typeface="Georgia"/>
              </a:rPr>
              <a:t>Interpretable if/then rules. Handles mixed data without scaling. Useful to understand decision boundaries.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6" name="Google Shape;686;p45"/>
          <p:cNvSpPr/>
          <p:nvPr/>
        </p:nvSpPr>
        <p:spPr>
          <a:xfrm>
            <a:off x="502920" y="2642616"/>
            <a:ext cx="6858000" cy="237744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900"/>
              <a:buFont typeface="Calibri"/>
              <a:buNone/>
            </a:pPr>
            <a:r>
              <a:rPr b="1" lang="en" sz="1000">
                <a:solidFill>
                  <a:srgbClr val="1B6CA8"/>
                </a:solidFill>
                <a:latin typeface="Georgia"/>
                <a:ea typeface="Georgia"/>
                <a:cs typeface="Georgia"/>
                <a:sym typeface="Georgia"/>
              </a:rPr>
              <a:t>Params: </a:t>
            </a:r>
            <a:r>
              <a:rPr lang="en" sz="1000">
                <a:solidFill>
                  <a:srgbClr val="7F8C8D"/>
                </a:solidFill>
                <a:latin typeface="Georgia"/>
                <a:ea typeface="Georgia"/>
                <a:cs typeface="Georgia"/>
                <a:sym typeface="Georgia"/>
              </a:rPr>
              <a:t>max_depth=8, min_samples_leaf=50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7" name="Google Shape;687;p45"/>
          <p:cNvSpPr/>
          <p:nvPr/>
        </p:nvSpPr>
        <p:spPr>
          <a:xfrm>
            <a:off x="7406640" y="2350008"/>
            <a:ext cx="1371600" cy="29260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900"/>
              <a:buFont typeface="Calibri"/>
              <a:buNone/>
            </a:pPr>
            <a:r>
              <a:rPr lang="en" sz="1000">
                <a:solidFill>
                  <a:srgbClr val="2ECC71"/>
                </a:solidFill>
                <a:latin typeface="Georgia"/>
                <a:ea typeface="Georgia"/>
                <a:cs typeface="Georgia"/>
                <a:sym typeface="Georgia"/>
              </a:rPr>
              <a:t>Scale-invariant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8" name="Google Shape;688;p45"/>
          <p:cNvSpPr/>
          <p:nvPr/>
        </p:nvSpPr>
        <p:spPr>
          <a:xfrm>
            <a:off x="274320" y="3035808"/>
            <a:ext cx="8595360" cy="841248"/>
          </a:xfrm>
          <a:prstGeom prst="roundRect">
            <a:avLst>
              <a:gd fmla="val 6522" name="adj"/>
            </a:avLst>
          </a:prstGeom>
          <a:solidFill>
            <a:srgbClr val="112244"/>
          </a:solidFill>
          <a:ln cap="flat" cmpd="sng" w="12700">
            <a:solidFill>
              <a:srgbClr val="24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9" name="Google Shape;689;p45"/>
          <p:cNvSpPr/>
          <p:nvPr/>
        </p:nvSpPr>
        <p:spPr>
          <a:xfrm>
            <a:off x="274320" y="3035808"/>
            <a:ext cx="73152" cy="841248"/>
          </a:xfrm>
          <a:prstGeom prst="roundRect">
            <a:avLst>
              <a:gd fmla="val 75000" name="adj"/>
            </a:avLst>
          </a:prstGeom>
          <a:solidFill>
            <a:srgbClr val="112244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0" name="Google Shape;690;p45"/>
          <p:cNvSpPr/>
          <p:nvPr/>
        </p:nvSpPr>
        <p:spPr>
          <a:xfrm>
            <a:off x="502920" y="3099816"/>
            <a:ext cx="2926080" cy="292608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300"/>
              <a:buFont typeface="Calibri"/>
              <a:buNone/>
            </a:pPr>
            <a:r>
              <a:rPr b="1" lang="en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Random Forest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1" name="Google Shape;691;p45"/>
          <p:cNvSpPr/>
          <p:nvPr/>
        </p:nvSpPr>
        <p:spPr>
          <a:xfrm>
            <a:off x="502920" y="3383280"/>
            <a:ext cx="2926080" cy="256032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000"/>
              <a:buFont typeface="Calibri"/>
              <a:buNone/>
            </a:pPr>
            <a:r>
              <a:rPr i="1" lang="en" sz="1100">
                <a:solidFill>
                  <a:srgbClr val="7F8C8D"/>
                </a:solidFill>
                <a:latin typeface="Georgia"/>
                <a:ea typeface="Georgia"/>
                <a:cs typeface="Georgia"/>
                <a:sym typeface="Georgia"/>
              </a:rPr>
              <a:t>Ensemble =  Bagging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2" name="Google Shape;692;p45"/>
          <p:cNvSpPr/>
          <p:nvPr/>
        </p:nvSpPr>
        <p:spPr>
          <a:xfrm>
            <a:off x="3474720" y="3099816"/>
            <a:ext cx="3657600" cy="50292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lang="en" sz="1100">
                <a:solidFill>
                  <a:srgbClr val="ECF0F1"/>
                </a:solidFill>
                <a:latin typeface="Georgia"/>
                <a:ea typeface="Georgia"/>
                <a:cs typeface="Georgia"/>
                <a:sym typeface="Georgia"/>
              </a:rPr>
              <a:t>Reduces variance vs single tree. Robust to noise. Provides feature importance rankings.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3" name="Google Shape;693;p45"/>
          <p:cNvSpPr/>
          <p:nvPr/>
        </p:nvSpPr>
        <p:spPr>
          <a:xfrm>
            <a:off x="502920" y="3602736"/>
            <a:ext cx="6858000" cy="237744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900"/>
              <a:buFont typeface="Calibri"/>
              <a:buNone/>
            </a:pPr>
            <a:r>
              <a:rPr b="1" lang="en" sz="1000">
                <a:solidFill>
                  <a:srgbClr val="1B6CA8"/>
                </a:solidFill>
                <a:latin typeface="Georgia"/>
                <a:ea typeface="Georgia"/>
                <a:cs typeface="Georgia"/>
                <a:sym typeface="Georgia"/>
              </a:rPr>
              <a:t>Params: </a:t>
            </a:r>
            <a:r>
              <a:rPr lang="en" sz="1000">
                <a:solidFill>
                  <a:srgbClr val="7F8C8D"/>
                </a:solidFill>
                <a:latin typeface="Georgia"/>
                <a:ea typeface="Georgia"/>
                <a:cs typeface="Georgia"/>
                <a:sym typeface="Georgia"/>
              </a:rPr>
              <a:t>n_estimators=200, max_depth=10, class_weight='balanced'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4" name="Google Shape;694;p45"/>
          <p:cNvSpPr/>
          <p:nvPr/>
        </p:nvSpPr>
        <p:spPr>
          <a:xfrm>
            <a:off x="7406640" y="3310128"/>
            <a:ext cx="1371600" cy="292608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900"/>
              <a:buFont typeface="Calibri"/>
              <a:buNone/>
            </a:pPr>
            <a:r>
              <a:rPr lang="en" sz="1000">
                <a:solidFill>
                  <a:srgbClr val="2ECC71"/>
                </a:solidFill>
                <a:latin typeface="Georgia"/>
                <a:ea typeface="Georgia"/>
                <a:cs typeface="Georgia"/>
                <a:sym typeface="Georgia"/>
              </a:rPr>
              <a:t>Scale-invariant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5" name="Google Shape;695;p45"/>
          <p:cNvSpPr/>
          <p:nvPr/>
        </p:nvSpPr>
        <p:spPr>
          <a:xfrm>
            <a:off x="274320" y="3995928"/>
            <a:ext cx="8595360" cy="841248"/>
          </a:xfrm>
          <a:prstGeom prst="roundRect">
            <a:avLst>
              <a:gd fmla="val 6522" name="adj"/>
            </a:avLst>
          </a:prstGeom>
          <a:solidFill>
            <a:srgbClr val="112244"/>
          </a:solidFill>
          <a:ln cap="flat" cmpd="sng" w="12700">
            <a:solidFill>
              <a:srgbClr val="24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6" name="Google Shape;696;p45"/>
          <p:cNvSpPr/>
          <p:nvPr/>
        </p:nvSpPr>
        <p:spPr>
          <a:xfrm>
            <a:off x="274320" y="3995928"/>
            <a:ext cx="73152" cy="841248"/>
          </a:xfrm>
          <a:prstGeom prst="roundRect">
            <a:avLst>
              <a:gd fmla="val 75000" name="adj"/>
            </a:avLst>
          </a:prstGeom>
          <a:solidFill>
            <a:srgbClr val="112244"/>
          </a:solidFill>
          <a:ln cap="flat" cmpd="sng" w="12700">
            <a:solidFill>
              <a:srgbClr val="E84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7" name="Google Shape;697;p45"/>
          <p:cNvSpPr/>
          <p:nvPr/>
        </p:nvSpPr>
        <p:spPr>
          <a:xfrm>
            <a:off x="502920" y="4059936"/>
            <a:ext cx="2926080" cy="292608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855"/>
              </a:buClr>
              <a:buSzPts val="1300"/>
              <a:buFont typeface="Calibri"/>
              <a:buNone/>
            </a:pPr>
            <a:r>
              <a:rPr b="1" lang="en">
                <a:solidFill>
                  <a:srgbClr val="E84855"/>
                </a:solidFill>
                <a:latin typeface="Georgia"/>
                <a:ea typeface="Georgia"/>
                <a:cs typeface="Georgia"/>
                <a:sym typeface="Georgia"/>
              </a:rPr>
              <a:t>Gradient Boosting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8" name="Google Shape;698;p45"/>
          <p:cNvSpPr/>
          <p:nvPr/>
        </p:nvSpPr>
        <p:spPr>
          <a:xfrm>
            <a:off x="502920" y="4343400"/>
            <a:ext cx="2926080" cy="256032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000"/>
              <a:buFont typeface="Calibri"/>
              <a:buNone/>
            </a:pPr>
            <a:r>
              <a:rPr i="1" lang="en" sz="1100">
                <a:solidFill>
                  <a:srgbClr val="7F8C8D"/>
                </a:solidFill>
                <a:latin typeface="Georgia"/>
                <a:ea typeface="Georgia"/>
                <a:cs typeface="Georgia"/>
                <a:sym typeface="Georgia"/>
              </a:rPr>
              <a:t>Ensemble = Boosting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9" name="Google Shape;699;p45"/>
          <p:cNvSpPr/>
          <p:nvPr/>
        </p:nvSpPr>
        <p:spPr>
          <a:xfrm>
            <a:off x="3474720" y="4059936"/>
            <a:ext cx="3657600" cy="50292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lang="en" sz="1100">
                <a:solidFill>
                  <a:srgbClr val="ECF0F1"/>
                </a:solidFill>
                <a:latin typeface="Georgia"/>
                <a:ea typeface="Georgia"/>
                <a:cs typeface="Georgia"/>
                <a:sym typeface="Georgia"/>
              </a:rPr>
              <a:t>State-of-the-art on tabular data. Builds trees sequentially to correct errors. Handles imbalance well.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00" name="Google Shape;700;p45"/>
          <p:cNvSpPr/>
          <p:nvPr/>
        </p:nvSpPr>
        <p:spPr>
          <a:xfrm>
            <a:off x="502920" y="4562856"/>
            <a:ext cx="6858000" cy="237744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900"/>
              <a:buFont typeface="Calibri"/>
              <a:buNone/>
            </a:pPr>
            <a:r>
              <a:rPr b="1" lang="en" sz="1000">
                <a:solidFill>
                  <a:srgbClr val="1B6CA8"/>
                </a:solidFill>
                <a:latin typeface="Georgia"/>
                <a:ea typeface="Georgia"/>
                <a:cs typeface="Georgia"/>
                <a:sym typeface="Georgia"/>
              </a:rPr>
              <a:t>Params: </a:t>
            </a:r>
            <a:r>
              <a:rPr lang="en" sz="1000">
                <a:solidFill>
                  <a:srgbClr val="7F8C8D"/>
                </a:solidFill>
                <a:latin typeface="Georgia"/>
                <a:ea typeface="Georgia"/>
                <a:cs typeface="Georgia"/>
                <a:sym typeface="Georgia"/>
              </a:rPr>
              <a:t>n_estimators=150, max_depth=4, learning_rate=0.1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01" name="Google Shape;701;p45"/>
          <p:cNvSpPr/>
          <p:nvPr/>
        </p:nvSpPr>
        <p:spPr>
          <a:xfrm>
            <a:off x="7406640" y="4270248"/>
            <a:ext cx="1371600" cy="292608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900"/>
              <a:buFont typeface="Calibri"/>
              <a:buNone/>
            </a:pPr>
            <a:r>
              <a:rPr lang="en" sz="1000">
                <a:solidFill>
                  <a:srgbClr val="2ECC71"/>
                </a:solidFill>
                <a:latin typeface="Georgia"/>
                <a:ea typeface="Georgia"/>
                <a:cs typeface="Georgia"/>
                <a:sym typeface="Georgia"/>
              </a:rPr>
              <a:t>Scale-invariant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6"/>
          <p:cNvSpPr/>
          <p:nvPr/>
        </p:nvSpPr>
        <p:spPr>
          <a:xfrm>
            <a:off x="365760" y="2011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1B6CA8"/>
                </a:solidFill>
                <a:latin typeface="Georgia"/>
                <a:ea typeface="Georgia"/>
                <a:cs typeface="Georgia"/>
                <a:sym typeface="Georgia"/>
              </a:rPr>
              <a:t>RESULTS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08" name="Google Shape;708;p46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" sz="26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Model Performance Comparison</a:t>
            </a:r>
            <a:endParaRPr sz="2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09" name="Google Shape;709;p46"/>
          <p:cNvSpPr/>
          <p:nvPr/>
        </p:nvSpPr>
        <p:spPr>
          <a:xfrm>
            <a:off x="320040" y="1188720"/>
            <a:ext cx="8229600" cy="3657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0" name="Google Shape;710;p46"/>
          <p:cNvSpPr/>
          <p:nvPr/>
        </p:nvSpPr>
        <p:spPr>
          <a:xfrm>
            <a:off x="320040" y="1207008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Model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1" name="Google Shape;711;p46"/>
          <p:cNvSpPr/>
          <p:nvPr/>
        </p:nvSpPr>
        <p:spPr>
          <a:xfrm>
            <a:off x="3108960" y="1207008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Accuracy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2" name="Google Shape;712;p46"/>
          <p:cNvSpPr/>
          <p:nvPr/>
        </p:nvSpPr>
        <p:spPr>
          <a:xfrm>
            <a:off x="4434840" y="1207008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F1 (wtd)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3" name="Google Shape;713;p46"/>
          <p:cNvSpPr/>
          <p:nvPr/>
        </p:nvSpPr>
        <p:spPr>
          <a:xfrm>
            <a:off x="5760720" y="1207008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Recall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4" name="Google Shape;714;p46"/>
          <p:cNvSpPr/>
          <p:nvPr/>
        </p:nvSpPr>
        <p:spPr>
          <a:xfrm>
            <a:off x="7086600" y="1207008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AUC-ROC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5" name="Google Shape;715;p46"/>
          <p:cNvSpPr/>
          <p:nvPr/>
        </p:nvSpPr>
        <p:spPr>
          <a:xfrm>
            <a:off x="320040" y="1572768"/>
            <a:ext cx="8229600" cy="393192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6" name="Google Shape;716;p46"/>
          <p:cNvSpPr/>
          <p:nvPr/>
        </p:nvSpPr>
        <p:spPr>
          <a:xfrm>
            <a:off x="320040" y="160934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Logistic Regression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7" name="Google Shape;717;p46"/>
          <p:cNvSpPr/>
          <p:nvPr/>
        </p:nvSpPr>
        <p:spPr>
          <a:xfrm>
            <a:off x="3108960" y="1609344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" sz="1050">
                <a:solidFill>
                  <a:srgbClr val="171717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0.8441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8" name="Google Shape;718;p46"/>
          <p:cNvSpPr/>
          <p:nvPr/>
        </p:nvSpPr>
        <p:spPr>
          <a:xfrm>
            <a:off x="4434840" y="1609344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" sz="1050">
                <a:solidFill>
                  <a:srgbClr val="171717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0.8015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9" name="Google Shape;719;p46"/>
          <p:cNvSpPr/>
          <p:nvPr/>
        </p:nvSpPr>
        <p:spPr>
          <a:xfrm>
            <a:off x="5760720" y="1609344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" sz="1050">
                <a:solidFill>
                  <a:srgbClr val="171717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0.1054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0" name="Google Shape;720;p46"/>
          <p:cNvSpPr/>
          <p:nvPr/>
        </p:nvSpPr>
        <p:spPr>
          <a:xfrm>
            <a:off x="7086600" y="1609344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" sz="1050">
                <a:solidFill>
                  <a:srgbClr val="171717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0.6301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1" name="Google Shape;721;p46"/>
          <p:cNvSpPr/>
          <p:nvPr/>
        </p:nvSpPr>
        <p:spPr>
          <a:xfrm>
            <a:off x="320040" y="1984248"/>
            <a:ext cx="8229600" cy="3931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2" name="Google Shape;722;p46"/>
          <p:cNvSpPr/>
          <p:nvPr/>
        </p:nvSpPr>
        <p:spPr>
          <a:xfrm>
            <a:off x="320040" y="20208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Decision Tree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3" name="Google Shape;723;p46"/>
          <p:cNvSpPr/>
          <p:nvPr/>
        </p:nvSpPr>
        <p:spPr>
          <a:xfrm>
            <a:off x="3108960" y="2020824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" sz="1050">
                <a:solidFill>
                  <a:srgbClr val="171717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0.8345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4" name="Google Shape;724;p46"/>
          <p:cNvSpPr/>
          <p:nvPr/>
        </p:nvSpPr>
        <p:spPr>
          <a:xfrm>
            <a:off x="4434840" y="2020824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" sz="1050">
                <a:solidFill>
                  <a:srgbClr val="171717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0.7861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5" name="Google Shape;725;p46"/>
          <p:cNvSpPr/>
          <p:nvPr/>
        </p:nvSpPr>
        <p:spPr>
          <a:xfrm>
            <a:off x="5760720" y="2020824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" sz="1050">
                <a:solidFill>
                  <a:srgbClr val="171717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0.1524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6" name="Google Shape;726;p46"/>
          <p:cNvSpPr/>
          <p:nvPr/>
        </p:nvSpPr>
        <p:spPr>
          <a:xfrm>
            <a:off x="7086600" y="2020824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" sz="1050">
                <a:solidFill>
                  <a:srgbClr val="171717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0.5822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7" name="Google Shape;727;p46"/>
          <p:cNvSpPr/>
          <p:nvPr/>
        </p:nvSpPr>
        <p:spPr>
          <a:xfrm>
            <a:off x="320040" y="2395728"/>
            <a:ext cx="8229600" cy="393192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8" name="Google Shape;728;p46"/>
          <p:cNvSpPr/>
          <p:nvPr/>
        </p:nvSpPr>
        <p:spPr>
          <a:xfrm>
            <a:off x="320040" y="243230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Random Forest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9" name="Google Shape;729;p46"/>
          <p:cNvSpPr/>
          <p:nvPr/>
        </p:nvSpPr>
        <p:spPr>
          <a:xfrm>
            <a:off x="3108960" y="2432304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" sz="1050">
                <a:solidFill>
                  <a:srgbClr val="171717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0.8611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0" name="Google Shape;730;p46"/>
          <p:cNvSpPr/>
          <p:nvPr/>
        </p:nvSpPr>
        <p:spPr>
          <a:xfrm>
            <a:off x="4434840" y="2432304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" sz="1050">
                <a:solidFill>
                  <a:srgbClr val="171717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0.8210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1" name="Google Shape;731;p46"/>
          <p:cNvSpPr/>
          <p:nvPr/>
        </p:nvSpPr>
        <p:spPr>
          <a:xfrm>
            <a:off x="5760720" y="2432304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" sz="1050">
                <a:solidFill>
                  <a:srgbClr val="171717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0.2519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2" name="Google Shape;732;p46"/>
          <p:cNvSpPr/>
          <p:nvPr/>
        </p:nvSpPr>
        <p:spPr>
          <a:xfrm>
            <a:off x="7086600" y="2432304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" sz="1050">
                <a:solidFill>
                  <a:srgbClr val="171717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0.6304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3" name="Google Shape;733;p46"/>
          <p:cNvSpPr/>
          <p:nvPr/>
        </p:nvSpPr>
        <p:spPr>
          <a:xfrm>
            <a:off x="320040" y="2807208"/>
            <a:ext cx="8229600" cy="3931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4" name="Google Shape;734;p46"/>
          <p:cNvSpPr/>
          <p:nvPr/>
        </p:nvSpPr>
        <p:spPr>
          <a:xfrm>
            <a:off x="320040" y="284378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Gradient Boosting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5" name="Google Shape;735;p46"/>
          <p:cNvSpPr/>
          <p:nvPr/>
        </p:nvSpPr>
        <p:spPr>
          <a:xfrm>
            <a:off x="3108960" y="2843784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" sz="1050">
                <a:solidFill>
                  <a:srgbClr val="171717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0.8864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6" name="Google Shape;736;p46"/>
          <p:cNvSpPr/>
          <p:nvPr/>
        </p:nvSpPr>
        <p:spPr>
          <a:xfrm>
            <a:off x="4434840" y="2843784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" sz="1050">
                <a:solidFill>
                  <a:srgbClr val="171717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0.8344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7" name="Google Shape;737;p46"/>
          <p:cNvSpPr/>
          <p:nvPr/>
        </p:nvSpPr>
        <p:spPr>
          <a:xfrm>
            <a:off x="5760720" y="2843784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" sz="1050">
                <a:solidFill>
                  <a:srgbClr val="171717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0.0243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8" name="Google Shape;738;p46"/>
          <p:cNvSpPr/>
          <p:nvPr/>
        </p:nvSpPr>
        <p:spPr>
          <a:xfrm>
            <a:off x="7086600" y="2843784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" sz="1050">
                <a:solidFill>
                  <a:srgbClr val="171717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0.6652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9" name="Google Shape;739;p46"/>
          <p:cNvSpPr/>
          <p:nvPr/>
        </p:nvSpPr>
        <p:spPr>
          <a:xfrm>
            <a:off x="320040" y="3218688"/>
            <a:ext cx="8229600" cy="393192"/>
          </a:xfrm>
          <a:prstGeom prst="rect">
            <a:avLst/>
          </a:prstGeom>
          <a:solidFill>
            <a:srgbClr val="EEF9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40" name="Google Shape;740;p46"/>
          <p:cNvSpPr/>
          <p:nvPr/>
        </p:nvSpPr>
        <p:spPr>
          <a:xfrm>
            <a:off x="320040" y="325526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6CA8"/>
                </a:solidFill>
                <a:latin typeface="Georgia"/>
                <a:ea typeface="Georgia"/>
                <a:cs typeface="Georgia"/>
                <a:sym typeface="Georgia"/>
              </a:rPr>
              <a:t>Best (Optimized) ★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41" name="Google Shape;741;p46"/>
          <p:cNvSpPr/>
          <p:nvPr/>
        </p:nvSpPr>
        <p:spPr>
          <a:xfrm>
            <a:off x="3108960" y="3255264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lang="en" sz="1050">
                <a:solidFill>
                  <a:schemeClr val="dk1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0.8869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42" name="Google Shape;742;p46"/>
          <p:cNvSpPr/>
          <p:nvPr/>
        </p:nvSpPr>
        <p:spPr>
          <a:xfrm>
            <a:off x="4434840" y="3255264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lang="en" sz="1050">
                <a:solidFill>
                  <a:schemeClr val="dk1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0.8381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43" name="Google Shape;743;p46"/>
          <p:cNvSpPr/>
          <p:nvPr/>
        </p:nvSpPr>
        <p:spPr>
          <a:xfrm>
            <a:off x="5760720" y="3255264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lang="en" sz="1050">
                <a:solidFill>
                  <a:schemeClr val="dk1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0.4825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44" name="Google Shape;744;p46"/>
          <p:cNvSpPr/>
          <p:nvPr/>
        </p:nvSpPr>
        <p:spPr>
          <a:xfrm>
            <a:off x="7086600" y="3255264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lang="en" sz="1050">
                <a:solidFill>
                  <a:schemeClr val="dk1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0.6679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0" name="Google Shape;750;p47" title="Capture d’écran 2026-04-17 17202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8238" y="1514850"/>
            <a:ext cx="9240474" cy="230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48"/>
          <p:cNvSpPr/>
          <p:nvPr/>
        </p:nvSpPr>
        <p:spPr>
          <a:xfrm>
            <a:off x="7114035" y="4862918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1B6CA8"/>
                </a:solidFill>
                <a:latin typeface="Georgia"/>
                <a:ea typeface="Georgia"/>
                <a:cs typeface="Georgia"/>
                <a:sym typeface="Georgia"/>
              </a:rPr>
              <a:t>MODEL INTERPRETATION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57" name="Google Shape;757;p48"/>
          <p:cNvSpPr/>
          <p:nvPr/>
        </p:nvSpPr>
        <p:spPr>
          <a:xfrm>
            <a:off x="365760" y="50292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" sz="26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Top Readmission Risk Factors</a:t>
            </a:r>
            <a:endParaRPr sz="2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58" name="Google Shape;758;p48"/>
          <p:cNvSpPr/>
          <p:nvPr/>
        </p:nvSpPr>
        <p:spPr>
          <a:xfrm>
            <a:off x="320040" y="1197864"/>
            <a:ext cx="347472" cy="347472"/>
          </a:xfrm>
          <a:prstGeom prst="ellipse">
            <a:avLst/>
          </a:prstGeom>
          <a:solidFill>
            <a:srgbClr val="E84855"/>
          </a:solidFill>
          <a:ln cap="flat" cmpd="sng" w="12700">
            <a:solidFill>
              <a:srgbClr val="E84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59" name="Google Shape;759;p48"/>
          <p:cNvSpPr/>
          <p:nvPr/>
        </p:nvSpPr>
        <p:spPr>
          <a:xfrm>
            <a:off x="320040" y="1225296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60" name="Google Shape;760;p48"/>
          <p:cNvSpPr/>
          <p:nvPr/>
        </p:nvSpPr>
        <p:spPr>
          <a:xfrm>
            <a:off x="777240" y="114300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change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61" name="Google Shape;761;p48"/>
          <p:cNvSpPr/>
          <p:nvPr/>
        </p:nvSpPr>
        <p:spPr>
          <a:xfrm>
            <a:off x="320040" y="1746504"/>
            <a:ext cx="347472" cy="347472"/>
          </a:xfrm>
          <a:prstGeom prst="ellipse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62" name="Google Shape;762;p48"/>
          <p:cNvSpPr/>
          <p:nvPr/>
        </p:nvSpPr>
        <p:spPr>
          <a:xfrm>
            <a:off x="320040" y="1773936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63" name="Google Shape;763;p48"/>
          <p:cNvSpPr/>
          <p:nvPr/>
        </p:nvSpPr>
        <p:spPr>
          <a:xfrm>
            <a:off x="777240" y="169164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number_inpatient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64" name="Google Shape;764;p48"/>
          <p:cNvSpPr/>
          <p:nvPr/>
        </p:nvSpPr>
        <p:spPr>
          <a:xfrm>
            <a:off x="320040" y="2295144"/>
            <a:ext cx="347472" cy="347472"/>
          </a:xfrm>
          <a:prstGeom prst="ellipse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65" name="Google Shape;765;p48"/>
          <p:cNvSpPr/>
          <p:nvPr/>
        </p:nvSpPr>
        <p:spPr>
          <a:xfrm>
            <a:off x="320040" y="2322576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66" name="Google Shape;766;p48"/>
          <p:cNvSpPr/>
          <p:nvPr/>
        </p:nvSpPr>
        <p:spPr>
          <a:xfrm>
            <a:off x="777240" y="224028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prior_visits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67" name="Google Shape;767;p48"/>
          <p:cNvSpPr/>
          <p:nvPr/>
        </p:nvSpPr>
        <p:spPr>
          <a:xfrm>
            <a:off x="320040" y="2843784"/>
            <a:ext cx="347472" cy="347472"/>
          </a:xfrm>
          <a:prstGeom prst="ellipse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68" name="Google Shape;768;p48"/>
          <p:cNvSpPr/>
          <p:nvPr/>
        </p:nvSpPr>
        <p:spPr>
          <a:xfrm>
            <a:off x="320040" y="2871216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69" name="Google Shape;769;p48"/>
          <p:cNvSpPr/>
          <p:nvPr/>
        </p:nvSpPr>
        <p:spPr>
          <a:xfrm>
            <a:off x="777240" y="278892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n_med_changes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70" name="Google Shape;770;p48"/>
          <p:cNvSpPr/>
          <p:nvPr/>
        </p:nvSpPr>
        <p:spPr>
          <a:xfrm>
            <a:off x="320040" y="3392424"/>
            <a:ext cx="347472" cy="347472"/>
          </a:xfrm>
          <a:prstGeom prst="ellipse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71" name="Google Shape;771;p48"/>
          <p:cNvSpPr/>
          <p:nvPr/>
        </p:nvSpPr>
        <p:spPr>
          <a:xfrm>
            <a:off x="320040" y="3419856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72" name="Google Shape;772;p48"/>
          <p:cNvSpPr/>
          <p:nvPr/>
        </p:nvSpPr>
        <p:spPr>
          <a:xfrm>
            <a:off x="777240" y="333756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diag_1_Diabetes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73" name="Google Shape;773;p48"/>
          <p:cNvSpPr/>
          <p:nvPr/>
        </p:nvSpPr>
        <p:spPr>
          <a:xfrm>
            <a:off x="320040" y="3941064"/>
            <a:ext cx="347472" cy="347472"/>
          </a:xfrm>
          <a:prstGeom prst="ellipse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74" name="Google Shape;774;p48"/>
          <p:cNvSpPr/>
          <p:nvPr/>
        </p:nvSpPr>
        <p:spPr>
          <a:xfrm>
            <a:off x="320040" y="3968496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75" name="Google Shape;775;p48"/>
          <p:cNvSpPr/>
          <p:nvPr/>
        </p:nvSpPr>
        <p:spPr>
          <a:xfrm>
            <a:off x="777240" y="3886200"/>
            <a:ext cx="2286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0D1B2A"/>
                </a:solidFill>
                <a:latin typeface="Georgia"/>
                <a:ea typeface="Georgia"/>
                <a:cs typeface="Georgia"/>
                <a:sym typeface="Georgia"/>
              </a:rPr>
              <a:t>n_active_meds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76" name="Google Shape;776;p48"/>
          <p:cNvSpPr txBox="1"/>
          <p:nvPr/>
        </p:nvSpPr>
        <p:spPr>
          <a:xfrm>
            <a:off x="2944300" y="1197875"/>
            <a:ext cx="5413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0D0D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Medication changed during stay = ultimate signal of glycemic instability.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77" name="Google Shape;777;p48"/>
          <p:cNvSpPr txBox="1"/>
          <p:nvPr/>
        </p:nvSpPr>
        <p:spPr>
          <a:xfrm>
            <a:off x="3063250" y="1664275"/>
            <a:ext cx="5413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0D0D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Prior severe hospitalizations strongly predict future returns.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t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78" name="Google Shape;778;p48"/>
          <p:cNvSpPr txBox="1"/>
          <p:nvPr/>
        </p:nvSpPr>
        <p:spPr>
          <a:xfrm>
            <a:off x="3119200" y="2130675"/>
            <a:ext cx="5413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0D0D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Combined utilization score proved highly effective.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D0D0D"/>
              </a:solidFill>
              <a:highlight>
                <a:srgbClr val="F8F8F8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79" name="Google Shape;779;p48"/>
          <p:cNvSpPr txBox="1"/>
          <p:nvPr/>
        </p:nvSpPr>
        <p:spPr>
          <a:xfrm>
            <a:off x="3173050" y="2670225"/>
            <a:ext cx="5413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Engineered Feature:</a:t>
            </a:r>
            <a:r>
              <a:rPr lang="en" sz="1200">
                <a:solidFill>
                  <a:srgbClr val="0D0D0D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 Number of dosage changes signals instability.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D0D0D"/>
              </a:solidFill>
              <a:highlight>
                <a:srgbClr val="F8F8F8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80" name="Google Shape;780;p48"/>
          <p:cNvSpPr txBox="1"/>
          <p:nvPr/>
        </p:nvSpPr>
        <p:spPr>
          <a:xfrm>
            <a:off x="3289300" y="3263600"/>
            <a:ext cx="5413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0D0D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Validates our ICD-9 grouping approach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D0D0D"/>
              </a:solidFill>
              <a:highlight>
                <a:srgbClr val="F8F8F8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81" name="Google Shape;781;p48"/>
          <p:cNvSpPr txBox="1"/>
          <p:nvPr/>
        </p:nvSpPr>
        <p:spPr>
          <a:xfrm>
            <a:off x="3289300" y="3856975"/>
            <a:ext cx="5413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Engineered Feature:</a:t>
            </a:r>
            <a:r>
              <a:rPr lang="en" sz="1200">
                <a:solidFill>
                  <a:srgbClr val="0D0D0D"/>
                </a:solidFill>
                <a:highlight>
                  <a:srgbClr val="F8F8F8"/>
                </a:highlight>
                <a:latin typeface="Georgia"/>
                <a:ea typeface="Georgia"/>
                <a:cs typeface="Georgia"/>
                <a:sym typeface="Georgia"/>
              </a:rPr>
              <a:t> Treatment complexity adds cumulative risk.</a:t>
            </a: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D0D0D"/>
              </a:solidFill>
              <a:highlight>
                <a:srgbClr val="F8F8F8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88" name="Google Shape;788;p4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89" name="Google Shape;789;p49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" sz="2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Conclusions &amp; Recommendations</a:t>
            </a:r>
            <a:endParaRPr sz="2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0" name="Google Shape;790;p49"/>
          <p:cNvSpPr/>
          <p:nvPr/>
        </p:nvSpPr>
        <p:spPr>
          <a:xfrm>
            <a:off x="274320" y="960120"/>
            <a:ext cx="4023360" cy="3840480"/>
          </a:xfrm>
          <a:prstGeom prst="roundRect">
            <a:avLst>
              <a:gd fmla="val 1667" name="adj"/>
            </a:avLst>
          </a:prstGeom>
          <a:solidFill>
            <a:srgbClr val="1A2744"/>
          </a:solidFill>
          <a:ln cap="flat" cmpd="sng" w="12700">
            <a:solidFill>
              <a:srgbClr val="24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1" name="Google Shape;791;p49"/>
          <p:cNvSpPr/>
          <p:nvPr/>
        </p:nvSpPr>
        <p:spPr>
          <a:xfrm>
            <a:off x="457200" y="105156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1B6CA8"/>
                </a:solidFill>
                <a:latin typeface="Georgia"/>
                <a:ea typeface="Georgia"/>
                <a:cs typeface="Georgia"/>
                <a:sym typeface="Georgia"/>
              </a:rPr>
              <a:t>What We Achieved</a:t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2" name="Google Shape;792;p49"/>
          <p:cNvSpPr/>
          <p:nvPr/>
        </p:nvSpPr>
        <p:spPr>
          <a:xfrm>
            <a:off x="457200" y="15087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2ECC71"/>
                </a:solidFill>
                <a:latin typeface="Georgia"/>
                <a:ea typeface="Georgia"/>
                <a:cs typeface="Georgia"/>
                <a:sym typeface="Georgia"/>
              </a:rPr>
              <a:t>✓  </a:t>
            </a:r>
            <a:r>
              <a:rPr lang="en" sz="1100">
                <a:solidFill>
                  <a:srgbClr val="ECF0F1"/>
                </a:solidFill>
                <a:latin typeface="Georgia"/>
                <a:ea typeface="Georgia"/>
                <a:cs typeface="Georgia"/>
                <a:sym typeface="Georgia"/>
              </a:rPr>
              <a:t>Binary classification pipeline on 101K patient records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3" name="Google Shape;793;p49"/>
          <p:cNvSpPr/>
          <p:nvPr/>
        </p:nvSpPr>
        <p:spPr>
          <a:xfrm>
            <a:off x="457200" y="19842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2ECC71"/>
                </a:solidFill>
                <a:latin typeface="Georgia"/>
                <a:ea typeface="Georgia"/>
                <a:cs typeface="Georgia"/>
                <a:sym typeface="Georgia"/>
              </a:rPr>
              <a:t>✓  </a:t>
            </a:r>
            <a:r>
              <a:rPr lang="en" sz="1100">
                <a:solidFill>
                  <a:srgbClr val="ECF0F1"/>
                </a:solidFill>
                <a:latin typeface="Georgia"/>
                <a:ea typeface="Georgia"/>
                <a:cs typeface="Georgia"/>
                <a:sym typeface="Georgia"/>
              </a:rPr>
              <a:t>5 new clinical features engineered from domain knowledge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4" name="Google Shape;794;p49"/>
          <p:cNvSpPr/>
          <p:nvPr/>
        </p:nvSpPr>
        <p:spPr>
          <a:xfrm>
            <a:off x="457200" y="2459736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2ECC71"/>
                </a:solidFill>
                <a:latin typeface="Georgia"/>
                <a:ea typeface="Georgia"/>
                <a:cs typeface="Georgia"/>
                <a:sym typeface="Georgia"/>
              </a:rPr>
              <a:t>✓  </a:t>
            </a:r>
            <a:r>
              <a:rPr lang="en" sz="1100">
                <a:solidFill>
                  <a:srgbClr val="ECF0F1"/>
                </a:solidFill>
                <a:latin typeface="Georgia"/>
                <a:ea typeface="Georgia"/>
                <a:cs typeface="Georgia"/>
                <a:sym typeface="Georgia"/>
              </a:rPr>
              <a:t>SMOTE handling of severe class imbalance (89%/11%)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5" name="Google Shape;795;p49"/>
          <p:cNvSpPr/>
          <p:nvPr/>
        </p:nvSpPr>
        <p:spPr>
          <a:xfrm>
            <a:off x="457200" y="2935224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2ECC71"/>
                </a:solidFill>
                <a:latin typeface="Georgia"/>
                <a:ea typeface="Georgia"/>
                <a:cs typeface="Georgia"/>
                <a:sym typeface="Georgia"/>
              </a:rPr>
              <a:t>✓  </a:t>
            </a:r>
            <a:r>
              <a:rPr lang="en" sz="1100">
                <a:solidFill>
                  <a:srgbClr val="ECF0F1"/>
                </a:solidFill>
                <a:latin typeface="Georgia"/>
                <a:ea typeface="Georgia"/>
                <a:cs typeface="Georgia"/>
                <a:sym typeface="Georgia"/>
              </a:rPr>
              <a:t>4 algorithms trained, compared and optimized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6" name="Google Shape;796;p49"/>
          <p:cNvSpPr/>
          <p:nvPr/>
        </p:nvSpPr>
        <p:spPr>
          <a:xfrm>
            <a:off x="457200" y="3410712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2ECC71"/>
                </a:solidFill>
                <a:latin typeface="Georgia"/>
                <a:ea typeface="Georgia"/>
                <a:cs typeface="Georgia"/>
                <a:sym typeface="Georgia"/>
              </a:rPr>
              <a:t>✓  </a:t>
            </a:r>
            <a:r>
              <a:rPr lang="en" sz="1100">
                <a:solidFill>
                  <a:srgbClr val="ECF0F1"/>
                </a:solidFill>
                <a:latin typeface="Georgia"/>
                <a:ea typeface="Georgia"/>
                <a:cs typeface="Georgia"/>
                <a:sym typeface="Georgia"/>
              </a:rPr>
              <a:t>Threshold analysis for clinical deployment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7" name="Google Shape;797;p49"/>
          <p:cNvSpPr/>
          <p:nvPr/>
        </p:nvSpPr>
        <p:spPr>
          <a:xfrm>
            <a:off x="457200" y="388620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2ECC71"/>
                </a:solidFill>
                <a:latin typeface="Georgia"/>
                <a:ea typeface="Georgia"/>
                <a:cs typeface="Georgia"/>
                <a:sym typeface="Georgia"/>
              </a:rPr>
              <a:t>✓  </a:t>
            </a:r>
            <a:r>
              <a:rPr lang="en" sz="1100">
                <a:solidFill>
                  <a:srgbClr val="ECF0F1"/>
                </a:solidFill>
                <a:latin typeface="Georgia"/>
                <a:ea typeface="Georgia"/>
                <a:cs typeface="Georgia"/>
                <a:sym typeface="Georgia"/>
              </a:rPr>
              <a:t>Full reproducible pipeline saved to /models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8" name="Google Shape;798;p49"/>
          <p:cNvSpPr/>
          <p:nvPr/>
        </p:nvSpPr>
        <p:spPr>
          <a:xfrm>
            <a:off x="4480560" y="960120"/>
            <a:ext cx="4389120" cy="3840480"/>
          </a:xfrm>
          <a:prstGeom prst="roundRect">
            <a:avLst>
              <a:gd fmla="val 1667" name="adj"/>
            </a:avLst>
          </a:prstGeom>
          <a:solidFill>
            <a:srgbClr val="1A2744"/>
          </a:solidFill>
          <a:ln cap="flat" cmpd="sng" w="12700">
            <a:solidFill>
              <a:srgbClr val="24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9" name="Google Shape;799;p49"/>
          <p:cNvSpPr/>
          <p:nvPr/>
        </p:nvSpPr>
        <p:spPr>
          <a:xfrm>
            <a:off x="4663440" y="105156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Clinical Recommendations</a:t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0" name="Google Shape;800;p49"/>
          <p:cNvSpPr/>
          <p:nvPr/>
        </p:nvSpPr>
        <p:spPr>
          <a:xfrm>
            <a:off x="4663440" y="1563624"/>
            <a:ext cx="54864" cy="512064"/>
          </a:xfrm>
          <a:prstGeom prst="rect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1" name="Google Shape;801;p49"/>
          <p:cNvSpPr/>
          <p:nvPr/>
        </p:nvSpPr>
        <p:spPr>
          <a:xfrm>
            <a:off x="4828032" y="15087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Early Warning System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2" name="Google Shape;802;p49"/>
          <p:cNvSpPr/>
          <p:nvPr/>
        </p:nvSpPr>
        <p:spPr>
          <a:xfrm>
            <a:off x="4828032" y="1810512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ECF0F1"/>
                </a:solidFill>
                <a:latin typeface="Georgia"/>
                <a:ea typeface="Georgia"/>
                <a:cs typeface="Georgia"/>
                <a:sym typeface="Georgia"/>
              </a:rPr>
              <a:t>Flag patients with &gt;2 prior inpatient visits AND &gt;10 medications at discharge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3" name="Google Shape;803;p49"/>
          <p:cNvSpPr/>
          <p:nvPr/>
        </p:nvSpPr>
        <p:spPr>
          <a:xfrm>
            <a:off x="4663440" y="2404872"/>
            <a:ext cx="54864" cy="512064"/>
          </a:xfrm>
          <a:prstGeom prst="rect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4" name="Google Shape;804;p49"/>
          <p:cNvSpPr/>
          <p:nvPr/>
        </p:nvSpPr>
        <p:spPr>
          <a:xfrm>
            <a:off x="4828032" y="235000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Insulin Protocol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5" name="Google Shape;805;p49"/>
          <p:cNvSpPr/>
          <p:nvPr/>
        </p:nvSpPr>
        <p:spPr>
          <a:xfrm>
            <a:off x="4828032" y="2651760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ECF0F1"/>
                </a:solidFill>
                <a:latin typeface="Georgia"/>
                <a:ea typeface="Georgia"/>
                <a:cs typeface="Georgia"/>
                <a:sym typeface="Georgia"/>
              </a:rPr>
              <a:t>Patients whose insulin changed during visit → follow-up call within 72h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6" name="Google Shape;806;p49"/>
          <p:cNvSpPr/>
          <p:nvPr/>
        </p:nvSpPr>
        <p:spPr>
          <a:xfrm>
            <a:off x="4663440" y="3246120"/>
            <a:ext cx="54864" cy="512064"/>
          </a:xfrm>
          <a:prstGeom prst="rect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7" name="Google Shape;807;p49"/>
          <p:cNvSpPr/>
          <p:nvPr/>
        </p:nvSpPr>
        <p:spPr>
          <a:xfrm>
            <a:off x="4828032" y="3191256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Complex Case Plan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8" name="Google Shape;808;p49"/>
          <p:cNvSpPr/>
          <p:nvPr/>
        </p:nvSpPr>
        <p:spPr>
          <a:xfrm>
            <a:off x="4828032" y="3493008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ECF0F1"/>
                </a:solidFill>
                <a:latin typeface="Georgia"/>
                <a:ea typeface="Georgia"/>
                <a:cs typeface="Georgia"/>
                <a:sym typeface="Georgia"/>
              </a:rPr>
              <a:t>Patients with &gt;7 diagnoses → automatic post-discharge care coordination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9" name="Google Shape;809;p49"/>
          <p:cNvSpPr/>
          <p:nvPr/>
        </p:nvSpPr>
        <p:spPr>
          <a:xfrm>
            <a:off x="4663440" y="4087368"/>
            <a:ext cx="54864" cy="512064"/>
          </a:xfrm>
          <a:prstGeom prst="rect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10" name="Google Shape;810;p49"/>
          <p:cNvSpPr/>
          <p:nvPr/>
        </p:nvSpPr>
        <p:spPr>
          <a:xfrm>
            <a:off x="4828032" y="4032504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Lower Threshold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11" name="Google Shape;811;p49"/>
          <p:cNvSpPr/>
          <p:nvPr/>
        </p:nvSpPr>
        <p:spPr>
          <a:xfrm>
            <a:off x="4828025" y="4334250"/>
            <a:ext cx="402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ECF0F1"/>
                </a:solidFill>
                <a:latin typeface="Georgia"/>
                <a:ea typeface="Georgia"/>
                <a:cs typeface="Georgia"/>
                <a:sym typeface="Georgia"/>
              </a:rPr>
              <a:t>Optimizing on SMOTE data squished probabilities, causing the default 0.50 threshold to miss 98% of sick patients. Threshold analysis shifted the boundary to 0.16, recovering Recall from 0.02 to 0.48.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